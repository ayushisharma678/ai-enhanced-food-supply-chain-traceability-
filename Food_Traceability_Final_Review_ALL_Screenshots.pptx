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45"/>
  </p:normalViewPr>
  <p:slideViewPr>
    <p:cSldViewPr snapToGrid="0" snapToObjects="1">
      <p:cViewPr varScale="1">
        <p:scale>
          <a:sx n="113" d="100"/>
          <a:sy n="113" d="100"/>
        </p:scale>
        <p:origin x="5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822960"/>
            <a:ext cx="1005840" cy="1005840"/>
          </a:xfrm>
          <a:prstGeom prst="ellipse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95560" y="1508760"/>
            <a:ext cx="658368" cy="658368"/>
          </a:xfrm>
          <a:prstGeom prst="ellipse">
            <a:avLst/>
          </a:prstGeom>
          <a:solidFill>
            <a:srgbClr val="BAE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32520" y="1920240"/>
            <a:ext cx="566928" cy="566928"/>
          </a:xfrm>
          <a:prstGeom prst="ellipse">
            <a:avLst/>
          </a:prstGeom>
          <a:solidFill>
            <a:srgbClr val="368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921240" y="2788920"/>
            <a:ext cx="914400" cy="914400"/>
          </a:xfrm>
          <a:prstGeom prst="ellipse">
            <a:avLst/>
          </a:prstGeom>
          <a:solidFill>
            <a:srgbClr val="368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823960" y="3474720"/>
            <a:ext cx="594360" cy="594360"/>
          </a:xfrm>
          <a:prstGeom prst="ellipse">
            <a:avLst/>
          </a:prstGeom>
          <a:solidFill>
            <a:srgbClr val="BAE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469880" y="4069080"/>
            <a:ext cx="475488" cy="475488"/>
          </a:xfrm>
          <a:prstGeom prst="ellipse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502920"/>
            <a:ext cx="6949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AE079"/>
                </a:solidFill>
                <a:latin typeface="Aptos"/>
              </a:rPr>
              <a:t>DATABASE SYSTEMS PROJECT  •  FINAL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143000"/>
            <a:ext cx="6903720" cy="1508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6F8F4"/>
                </a:solidFill>
                <a:latin typeface="Aptos"/>
              </a:rPr>
              <a:t>AI-Enhanced Food
Supply Chain Traceability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907792"/>
            <a:ext cx="649224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C6C1"/>
                </a:solidFill>
                <a:latin typeface="Aptos"/>
              </a:rPr>
              <a:t>Batch-level traceability, QR-based access, and AI-assisted contamination-risk estimation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4041648"/>
            <a:ext cx="5029200" cy="68580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4343400"/>
            <a:ext cx="65836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8F4"/>
                </a:solidFill>
                <a:latin typeface="Aptos"/>
              </a:rPr>
              <a:t>Fall Semester 2026–2027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846320"/>
            <a:ext cx="672084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 dirty="0">
                <a:solidFill>
                  <a:srgbClr val="B7C6C1"/>
                </a:solidFill>
                <a:latin typeface="Aptos"/>
              </a:rPr>
              <a:t>Team members: </a:t>
            </a:r>
            <a:r>
              <a:rPr lang="en-US" sz="1300" b="0" i="0" dirty="0">
                <a:solidFill>
                  <a:srgbClr val="B7C6C1"/>
                </a:solidFill>
                <a:latin typeface="Aptos"/>
              </a:rPr>
              <a:t>SHORYA SHEKHAR , AYUSHI KUMARI</a:t>
            </a:r>
            <a:r>
              <a:rPr sz="1300" b="0" i="0" dirty="0">
                <a:solidFill>
                  <a:srgbClr val="B7C6C1"/>
                </a:solidFill>
                <a:latin typeface="Aptos"/>
              </a:rPr>
              <a:t>
Faculty : </a:t>
            </a:r>
            <a:r>
              <a:rPr lang="en-US" sz="1300" dirty="0">
                <a:solidFill>
                  <a:srgbClr val="B7C6C1"/>
                </a:solidFill>
                <a:latin typeface="Aptos"/>
              </a:rPr>
              <a:t>K SUDHAKAR</a:t>
            </a:r>
            <a:r>
              <a:rPr sz="1300" b="0" i="0" dirty="0">
                <a:solidFill>
                  <a:srgbClr val="B7C6C1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Presentation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182880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9436" cy="1828800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563624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F8F4"/>
                </a:solidFill>
                <a:latin typeface="Aptos"/>
              </a:rPr>
              <a:t>01  Project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947672"/>
            <a:ext cx="3227832" cy="120700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B7C6C1"/>
                </a:solidFill>
                <a:latin typeface="Aptos"/>
              </a:defRPr>
            </a:pPr>
            <a:r>
              <a:t>•  Problem and objectives</a:t>
            </a:r>
          </a:p>
          <a:p>
            <a:pPr>
              <a:spcAft>
                <a:spcPts val="500"/>
              </a:spcAft>
              <a:defRPr sz="1300">
                <a:solidFill>
                  <a:srgbClr val="B7C6C1"/>
                </a:solidFill>
                <a:latin typeface="Aptos"/>
              </a:defRPr>
            </a:pPr>
            <a:r>
              <a:t>•  Scope and contribution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520440" cy="182880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59436" cy="1828800"/>
          </a:xfrm>
          <a:prstGeom prst="rect">
            <a:avLst/>
          </a:prstGeom>
          <a:solidFill>
            <a:srgbClr val="60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563624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F8F4"/>
                </a:solidFill>
                <a:latin typeface="Aptos"/>
              </a:rPr>
              <a:t>02  System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947672"/>
            <a:ext cx="3227832" cy="120700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B7C6C1"/>
                </a:solidFill>
                <a:latin typeface="Aptos"/>
              </a:defRPr>
            </a:pPr>
            <a:r>
              <a:t>•  Architecture and workflow</a:t>
            </a:r>
          </a:p>
          <a:p>
            <a:pPr>
              <a:spcAft>
                <a:spcPts val="500"/>
              </a:spcAft>
              <a:defRPr sz="1300">
                <a:solidFill>
                  <a:srgbClr val="B7C6C1"/>
                </a:solidFill>
                <a:latin typeface="Aptos"/>
              </a:defRPr>
            </a:pPr>
            <a:r>
              <a:t>•  Database design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520440" cy="182880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59436" cy="1828800"/>
          </a:xfrm>
          <a:prstGeom prst="rect">
            <a:avLst/>
          </a:prstGeom>
          <a:solidFill>
            <a:srgbClr val="F4B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563624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F8F4"/>
                </a:solidFill>
                <a:latin typeface="Aptos"/>
              </a:rPr>
              <a:t>03  AI and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947672"/>
            <a:ext cx="3227832" cy="120700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B7C6C1"/>
                </a:solidFill>
                <a:latin typeface="Aptos"/>
              </a:defRPr>
            </a:pPr>
            <a:r>
              <a:t>•  Model pipeline and metrics</a:t>
            </a:r>
          </a:p>
          <a:p>
            <a:pPr>
              <a:spcAft>
                <a:spcPts val="500"/>
              </a:spcAft>
              <a:defRPr sz="1300">
                <a:solidFill>
                  <a:srgbClr val="B7C6C1"/>
                </a:solidFill>
                <a:latin typeface="Aptos"/>
              </a:defRPr>
            </a:pPr>
            <a:r>
              <a:t>•  Testing and limitations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03320"/>
            <a:ext cx="10927080" cy="132588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977639"/>
            <a:ext cx="103327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BAE079"/>
                </a:solidFill>
                <a:latin typeface="Aptos"/>
              </a:rPr>
              <a:t>04  Full screenshot appendix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07408"/>
            <a:ext cx="102870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6F8F4"/>
                </a:solidFill>
                <a:latin typeface="Aptos"/>
              </a:rPr>
              <a:t>Every supplied image is included on its own evidence slide for readability, including app pages, QR screens, model outputs, code/terminal views, and supporting documentation.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PROJECT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Problem statement and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329184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9436" cy="3291840"/>
          </a:xfrm>
          <a:prstGeom prst="rect">
            <a:avLst/>
          </a:prstGeom>
          <a:solidFill>
            <a:srgbClr val="E66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563624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F8F4"/>
                </a:solidFill>
                <a:latin typeface="Aptos"/>
              </a:rPr>
              <a:t>Fragmented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947672"/>
            <a:ext cx="3227832" cy="267004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B7C6C1"/>
                </a:solidFill>
                <a:latin typeface="Aptos"/>
              </a:defRPr>
            </a:pPr>
            <a:r>
              <a:t>•  Different supply-chain stages can store separate information.</a:t>
            </a:r>
          </a:p>
          <a:p>
            <a:pPr>
              <a:spcAft>
                <a:spcPts val="500"/>
              </a:spcAft>
              <a:defRPr sz="1400">
                <a:solidFill>
                  <a:srgbClr val="B7C6C1"/>
                </a:solidFill>
                <a:latin typeface="Aptos"/>
              </a:defRPr>
            </a:pPr>
            <a:r>
              <a:t>•  A batch identifier can link the journey end-to-end.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520440" cy="329184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59436" cy="3291840"/>
          </a:xfrm>
          <a:prstGeom prst="rect">
            <a:avLst/>
          </a:prstGeom>
          <a:solidFill>
            <a:srgbClr val="F4B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563624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F8F4"/>
                </a:solidFill>
                <a:latin typeface="Aptos"/>
              </a:rPr>
              <a:t>Slow trace-back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947672"/>
            <a:ext cx="3227832" cy="267004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B7C6C1"/>
                </a:solidFill>
                <a:latin typeface="Aptos"/>
              </a:defRPr>
            </a:pPr>
            <a:r>
              <a:t>•  Manual searching across records takes time.</a:t>
            </a:r>
          </a:p>
          <a:p>
            <a:pPr>
              <a:spcAft>
                <a:spcPts val="500"/>
              </a:spcAft>
              <a:defRPr sz="1400">
                <a:solidFill>
                  <a:srgbClr val="B7C6C1"/>
                </a:solidFill>
                <a:latin typeface="Aptos"/>
              </a:defRPr>
            </a:pPr>
            <a:r>
              <a:t>•  Missing stage entries make the journey harder to reconstruct.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520440" cy="329184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59436" cy="3291840"/>
          </a:xfrm>
          <a:prstGeom prst="rect">
            <a:avLst/>
          </a:prstGeom>
          <a:solidFill>
            <a:srgbClr val="60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563624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F8F4"/>
                </a:solidFill>
                <a:latin typeface="Aptos"/>
              </a:rPr>
              <a:t>Risk awareness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947672"/>
            <a:ext cx="3227832" cy="267004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B7C6C1"/>
                </a:solidFill>
                <a:latin typeface="Aptos"/>
              </a:defRPr>
            </a:pPr>
            <a:r>
              <a:t>•  Historical traceability explains what was recorded.</a:t>
            </a:r>
          </a:p>
          <a:p>
            <a:pPr>
              <a:spcAft>
                <a:spcPts val="500"/>
              </a:spcAft>
              <a:defRPr sz="1400">
                <a:solidFill>
                  <a:srgbClr val="B7C6C1"/>
                </a:solidFill>
                <a:latin typeface="Aptos"/>
              </a:defRPr>
            </a:pPr>
            <a:r>
              <a:t>•  A model can add a risk estimate as decision support when validated.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66360"/>
            <a:ext cx="105156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BAE079"/>
                </a:solidFill>
                <a:latin typeface="Aptos"/>
              </a:rPr>
              <a:t>Project question: Can one application connect batch records, provide QR entry, and demonstrate an AI-generated risk estimate?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PROJECT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Objectives and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349240" cy="452628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9436" cy="4526280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563624"/>
            <a:ext cx="5029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8F4"/>
                </a:solidFill>
                <a:latin typeface="Aptos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947672"/>
            <a:ext cx="5056631" cy="390448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B7C6C1"/>
                </a:solidFill>
                <a:latin typeface="Aptos"/>
              </a:defRPr>
            </a:pPr>
            <a:r>
              <a:t>•  Connect supply-chain stage records using a batch identifier.</a:t>
            </a:r>
          </a:p>
          <a:p>
            <a:pPr>
              <a:spcAft>
                <a:spcPts val="500"/>
              </a:spcAft>
              <a:defRPr sz="1300">
                <a:solidFill>
                  <a:srgbClr val="B7C6C1"/>
                </a:solidFill>
                <a:latin typeface="Aptos"/>
              </a:defRPr>
            </a:pPr>
            <a:r>
              <a:t>•  Show recorded origin-to-retail information in one view.</a:t>
            </a:r>
          </a:p>
          <a:p>
            <a:pPr>
              <a:spcAft>
                <a:spcPts val="500"/>
              </a:spcAft>
              <a:defRPr sz="1300">
                <a:solidFill>
                  <a:srgbClr val="B7C6C1"/>
                </a:solidFill>
                <a:latin typeface="Aptos"/>
              </a:defRPr>
            </a:pPr>
            <a:r>
              <a:t>•  Generate a batch-specific QR code and downloadable image.</a:t>
            </a:r>
          </a:p>
          <a:p>
            <a:pPr>
              <a:spcAft>
                <a:spcPts val="500"/>
              </a:spcAft>
              <a:defRPr sz="1300">
                <a:solidFill>
                  <a:srgbClr val="B7C6C1"/>
                </a:solidFill>
                <a:latin typeface="Aptos"/>
              </a:defRPr>
            </a:pPr>
            <a:r>
              <a:t>•  Estimate risk from selected supply-chain conditions.</a:t>
            </a:r>
          </a:p>
          <a:p>
            <a:pPr>
              <a:spcAft>
                <a:spcPts val="500"/>
              </a:spcAft>
              <a:defRPr sz="1300">
                <a:solidFill>
                  <a:srgbClr val="B7C6C1"/>
                </a:solidFill>
                <a:latin typeface="Aptos"/>
              </a:defRPr>
            </a:pPr>
            <a:r>
              <a:t>•  Save existing-batch predictions and show their history.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349240" cy="452628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59436" cy="4526280"/>
          </a:xfrm>
          <a:prstGeom prst="rect">
            <a:avLst/>
          </a:prstGeom>
          <a:solidFill>
            <a:srgbClr val="60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563624"/>
            <a:ext cx="5029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8F4"/>
                </a:solidFill>
                <a:latin typeface="Aptos"/>
              </a:rPr>
              <a:t>Scope boundaries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947672"/>
            <a:ext cx="5056631" cy="390448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B7C6C1"/>
                </a:solidFill>
                <a:latin typeface="Aptos"/>
              </a:defRPr>
            </a:pPr>
            <a:r>
              <a:t>•  Python, Streamlit, SQLite and scikit-learn prototype.</a:t>
            </a:r>
          </a:p>
          <a:p>
            <a:pPr>
              <a:spcAft>
                <a:spcPts val="500"/>
              </a:spcAft>
              <a:defRPr sz="1300">
                <a:solidFill>
                  <a:srgbClr val="B7C6C1"/>
                </a:solidFill>
                <a:latin typeface="Aptos"/>
              </a:defRPr>
            </a:pPr>
            <a:r>
              <a:t>•  Demo batch: BATCH-2026-000123; Tomato; 1,000 kg.</a:t>
            </a:r>
          </a:p>
          <a:p>
            <a:pPr>
              <a:spcAft>
                <a:spcPts val="500"/>
              </a:spcAft>
              <a:defRPr sz="1300">
                <a:solidFill>
                  <a:srgbClr val="B7C6C1"/>
                </a:solidFill>
                <a:latin typeface="Aptos"/>
              </a:defRPr>
            </a:pPr>
            <a:r>
              <a:t>•  Model trained/evaluated using synthetic data.</a:t>
            </a:r>
          </a:p>
          <a:p>
            <a:pPr>
              <a:spcAft>
                <a:spcPts val="500"/>
              </a:spcAft>
              <a:defRPr sz="1300">
                <a:solidFill>
                  <a:srgbClr val="B7C6C1"/>
                </a:solidFill>
                <a:latin typeface="Aptos"/>
              </a:defRPr>
            </a:pPr>
            <a:r>
              <a:t>•  QR access depends on the URL being reachable.</a:t>
            </a:r>
          </a:p>
          <a:p>
            <a:pPr>
              <a:spcAft>
                <a:spcPts val="500"/>
              </a:spcAft>
              <a:defRPr sz="1300">
                <a:solidFill>
                  <a:srgbClr val="B7C6C1"/>
                </a:solidFill>
                <a:latin typeface="Aptos"/>
              </a:defRPr>
            </a:pPr>
            <a:r>
              <a:t>•  Not a certified food-safety or contamination-detection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Proposed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331720" cy="105156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19" y="1993392"/>
            <a:ext cx="214883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5BB869"/>
                </a:solidFill>
                <a:latin typeface="Aptos"/>
              </a:rPr>
              <a:t>User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359152"/>
            <a:ext cx="2148839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7C6C1"/>
                </a:solidFill>
                <a:latin typeface="Aptos"/>
              </a:rPr>
              <a:t>Streamlit pages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828800"/>
            <a:ext cx="2331720" cy="105156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29000" y="1993392"/>
            <a:ext cx="214883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60AEDC"/>
                </a:solidFill>
                <a:latin typeface="Aptos"/>
              </a:rPr>
              <a:t>Application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359152"/>
            <a:ext cx="2148839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7C6C1"/>
                </a:solidFill>
                <a:latin typeface="Aptos"/>
              </a:rPr>
              <a:t>Python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828800"/>
            <a:ext cx="2331720" cy="105156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79" y="1993392"/>
            <a:ext cx="214883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4BE53"/>
                </a:solidFill>
                <a:latin typeface="Aptos"/>
              </a:rPr>
              <a:t>Relational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79" y="2359152"/>
            <a:ext cx="2148839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7C6C1"/>
                </a:solidFill>
                <a:latin typeface="Aptos"/>
              </a:rPr>
              <a:t>SQLite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1828800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23960" y="1993392"/>
            <a:ext cx="2423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E6685E"/>
                </a:solidFill>
                <a:latin typeface="Aptos"/>
              </a:rPr>
              <a:t>ML 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359152"/>
            <a:ext cx="24231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7C6C1"/>
                </a:solidFill>
                <a:latin typeface="Aptos"/>
              </a:rPr>
              <a:t>Random Forest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71800" y="2359152"/>
            <a:ext cx="365760" cy="0"/>
          </a:xfrm>
          <a:prstGeom prst="line">
            <a:avLst/>
          </a:prstGeom>
          <a:ln w="25400">
            <a:solidFill>
              <a:srgbClr val="5BB8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669280" y="2359152"/>
            <a:ext cx="365760" cy="0"/>
          </a:xfrm>
          <a:prstGeom prst="line">
            <a:avLst/>
          </a:prstGeom>
          <a:ln w="25400">
            <a:solidFill>
              <a:srgbClr val="5BB8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366760" y="2359152"/>
            <a:ext cx="365760" cy="0"/>
          </a:xfrm>
          <a:prstGeom prst="line">
            <a:avLst/>
          </a:prstGeom>
          <a:ln w="25400">
            <a:solidFill>
              <a:srgbClr val="5BB8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68680" y="3703320"/>
            <a:ext cx="10469880" cy="1051560"/>
          </a:xfrm>
          <a:prstGeom prst="roundRect">
            <a:avLst>
              <a:gd name="adj" fmla="val 10000"/>
            </a:avLst>
          </a:prstGeom>
          <a:solidFill>
            <a:srgbClr val="1F3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3913632"/>
            <a:ext cx="10012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BAE079"/>
                </a:solidFill>
                <a:latin typeface="Aptos"/>
              </a:rPr>
              <a:t>Application outputs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279392"/>
            <a:ext cx="10012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F6F8F4"/>
                </a:solidFill>
                <a:latin typeface="Aptos"/>
              </a:rPr>
              <a:t>Traceability view  •  QR image  •  Risk probability/class  •  Saved score history  •  Model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7C6C1"/>
                </a:solidFill>
                <a:latin typeface="Aptos"/>
              </a:rPr>
              <a:t>Data flow: batch/stage data → feature preparation → trained model → estimated probability → optional persistence.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Supply-chain traceability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828800"/>
            <a:ext cx="1444752" cy="141732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23544" y="1993392"/>
            <a:ext cx="548640" cy="548640"/>
          </a:xfrm>
          <a:prstGeom prst="ellipse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157984"/>
            <a:ext cx="5486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70F1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24912"/>
            <a:ext cx="129844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6F8F4"/>
                </a:solidFill>
                <a:latin typeface="Aptos"/>
              </a:rPr>
              <a:t>Farm origin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2852928"/>
            <a:ext cx="219456" cy="0"/>
          </a:xfrm>
          <a:prstGeom prst="line">
            <a:avLst/>
          </a:prstGeom>
          <a:ln w="19050">
            <a:solidFill>
              <a:srgbClr val="BAE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139696" y="1828800"/>
            <a:ext cx="1444752" cy="141732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587752" y="1993392"/>
            <a:ext cx="548640" cy="548640"/>
          </a:xfrm>
          <a:prstGeom prst="ellipse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87752" y="2157984"/>
            <a:ext cx="5486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70F13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2848" y="2724912"/>
            <a:ext cx="129844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6F8F4"/>
                </a:solidFill>
                <a:latin typeface="Aptos"/>
              </a:rPr>
              <a:t>Collection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84448" y="2852928"/>
            <a:ext cx="219456" cy="0"/>
          </a:xfrm>
          <a:prstGeom prst="line">
            <a:avLst/>
          </a:prstGeom>
          <a:ln w="19050">
            <a:solidFill>
              <a:srgbClr val="BAE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803904" y="1828800"/>
            <a:ext cx="1444752" cy="141732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251960" y="1993392"/>
            <a:ext cx="548640" cy="548640"/>
          </a:xfrm>
          <a:prstGeom prst="ellipse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51960" y="2157984"/>
            <a:ext cx="5486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70F13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7056" y="2724912"/>
            <a:ext cx="129844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6F8F4"/>
                </a:solidFill>
                <a:latin typeface="Aptos"/>
              </a:rPr>
              <a:t>Processing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248656" y="2852928"/>
            <a:ext cx="219456" cy="0"/>
          </a:xfrm>
          <a:prstGeom prst="line">
            <a:avLst/>
          </a:prstGeom>
          <a:ln w="19050">
            <a:solidFill>
              <a:srgbClr val="BAE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468112" y="1828800"/>
            <a:ext cx="1444752" cy="141732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16168" y="1993392"/>
            <a:ext cx="548640" cy="548640"/>
          </a:xfrm>
          <a:prstGeom prst="ellipse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16168" y="2157984"/>
            <a:ext cx="5486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70F13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41264" y="2724912"/>
            <a:ext cx="129844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6F8F4"/>
                </a:solidFill>
                <a:latin typeface="Aptos"/>
              </a:rPr>
              <a:t>Storage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12864" y="2852928"/>
            <a:ext cx="219456" cy="0"/>
          </a:xfrm>
          <a:prstGeom prst="line">
            <a:avLst/>
          </a:prstGeom>
          <a:ln w="19050">
            <a:solidFill>
              <a:srgbClr val="BAE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32320" y="1828800"/>
            <a:ext cx="1444752" cy="141732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80376" y="1993392"/>
            <a:ext cx="548640" cy="548640"/>
          </a:xfrm>
          <a:prstGeom prst="ellipse">
            <a:avLst/>
          </a:prstGeom>
          <a:solidFill>
            <a:srgbClr val="60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80376" y="2157984"/>
            <a:ext cx="5486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70F13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5472" y="2724912"/>
            <a:ext cx="129844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6F8F4"/>
                </a:solidFill>
                <a:latin typeface="Aptos"/>
              </a:rPr>
              <a:t>Transport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77072" y="2852928"/>
            <a:ext cx="219456" cy="0"/>
          </a:xfrm>
          <a:prstGeom prst="line">
            <a:avLst/>
          </a:prstGeom>
          <a:ln w="19050">
            <a:solidFill>
              <a:srgbClr val="BAE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796528" y="1828800"/>
            <a:ext cx="1444752" cy="141732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244584" y="1993392"/>
            <a:ext cx="548640" cy="548640"/>
          </a:xfrm>
          <a:prstGeom prst="ellipse">
            <a:avLst/>
          </a:prstGeom>
          <a:solidFill>
            <a:srgbClr val="60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44584" y="2157984"/>
            <a:ext cx="5486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70F13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2724912"/>
            <a:ext cx="129844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6F8F4"/>
                </a:solidFill>
                <a:latin typeface="Aptos"/>
              </a:rPr>
              <a:t>Retail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241280" y="2852928"/>
            <a:ext cx="219456" cy="0"/>
          </a:xfrm>
          <a:prstGeom prst="line">
            <a:avLst/>
          </a:prstGeom>
          <a:ln w="19050">
            <a:solidFill>
              <a:srgbClr val="BAE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460736" y="1828800"/>
            <a:ext cx="1444752" cy="141732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908792" y="1993392"/>
            <a:ext cx="548640" cy="548640"/>
          </a:xfrm>
          <a:prstGeom prst="ellipse">
            <a:avLst/>
          </a:prstGeom>
          <a:solidFill>
            <a:srgbClr val="60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908792" y="2157984"/>
            <a:ext cx="5486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70F13"/>
                </a:solidFill>
                <a:latin typeface="Aptos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33888" y="2724912"/>
            <a:ext cx="129844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6F8F4"/>
                </a:solidFill>
                <a:latin typeface="Aptos"/>
              </a:rPr>
              <a:t>Inspection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" y="3886200"/>
            <a:ext cx="4663440" cy="105156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14400" y="3886200"/>
            <a:ext cx="59436" cy="1051560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97280" y="4032504"/>
            <a:ext cx="4343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8F4"/>
                </a:solidFill>
                <a:latin typeface="Aptos"/>
              </a:rPr>
              <a:t>QR entry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" y="4453128"/>
            <a:ext cx="4297679" cy="41147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7C6C1"/>
                </a:solidFill>
                <a:latin typeface="Aptos"/>
              </a:rPr>
              <a:t>QR encodes a URL linked to the selected batch.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46520" y="3886200"/>
            <a:ext cx="4663440" cy="105156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46520" y="3886200"/>
            <a:ext cx="59436" cy="1051560"/>
          </a:xfrm>
          <a:prstGeom prst="rect">
            <a:avLst/>
          </a:prstGeom>
          <a:solidFill>
            <a:srgbClr val="60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29400" y="4032504"/>
            <a:ext cx="4343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8F4"/>
                </a:solidFill>
                <a:latin typeface="Aptos"/>
              </a:rPr>
              <a:t>AI risk history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47688" y="4453128"/>
            <a:ext cx="4297679" cy="41147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7C6C1"/>
                </a:solidFill>
                <a:latin typeface="Aptos"/>
              </a:rPr>
              <a:t>Saved estimates can appear with timestamps.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5394960"/>
            <a:ext cx="106984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7C6C1"/>
                </a:solidFill>
                <a:latin typeface="Aptos"/>
              </a:rPr>
              <a:t>Important: the system shows recorded events; absent data should be treated as unrecorded, not proof that an event never occurred.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DATABASE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Database design: conceptual ER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57400"/>
            <a:ext cx="2743200" cy="841248"/>
          </a:xfrm>
          <a:prstGeom prst="roundRect">
            <a:avLst>
              <a:gd name="adj" fmla="val 10000"/>
            </a:avLst>
          </a:prstGeom>
          <a:solidFill>
            <a:srgbClr val="255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2240280"/>
            <a:ext cx="23774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6F8F4"/>
                </a:solidFill>
                <a:latin typeface="Aptos"/>
              </a:rPr>
              <a:t>BATCH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542032"/>
            <a:ext cx="23774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BAE079"/>
                </a:solidFill>
                <a:latin typeface="Aptos"/>
              </a:rPr>
              <a:t>batch_id (PK)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554480"/>
            <a:ext cx="2423160" cy="749808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664207"/>
            <a:ext cx="2276856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BB869"/>
                </a:solidFill>
                <a:latin typeface="Aptos"/>
              </a:rPr>
              <a:t>FARM / ORIGIN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956816"/>
            <a:ext cx="2276856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B7C6C1"/>
                </a:solidFill>
                <a:latin typeface="Aptos"/>
              </a:rPr>
              <a:t>farmer, location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880360"/>
            <a:ext cx="2423160" cy="749808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2990088"/>
            <a:ext cx="2276856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BB869"/>
                </a:solidFill>
                <a:latin typeface="Aptos"/>
              </a:rPr>
              <a:t>COLLECTION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3282696"/>
            <a:ext cx="2276856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B7C6C1"/>
                </a:solidFill>
                <a:latin typeface="Aptos"/>
              </a:rPr>
              <a:t>date, grade, centre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206240"/>
            <a:ext cx="2423160" cy="749808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" y="4315968"/>
            <a:ext cx="2276856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BB869"/>
                </a:solidFill>
                <a:latin typeface="Aptos"/>
              </a:rPr>
              <a:t>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4608576"/>
            <a:ext cx="2276856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B7C6C1"/>
                </a:solidFill>
                <a:latin typeface="Aptos"/>
              </a:rPr>
              <a:t>plant, process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554480"/>
            <a:ext cx="2423160" cy="749808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17152" y="1664207"/>
            <a:ext cx="2276856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BB869"/>
                </a:solidFill>
                <a:latin typeface="Aptos"/>
              </a:rPr>
              <a:t>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1956816"/>
            <a:ext cx="2276856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B7C6C1"/>
                </a:solidFill>
                <a:latin typeface="Aptos"/>
              </a:rPr>
              <a:t>temperature, humidity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2880360"/>
            <a:ext cx="2423160" cy="749808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7152" y="2990088"/>
            <a:ext cx="2276856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BB869"/>
                </a:solidFill>
                <a:latin typeface="Aptos"/>
              </a:rPr>
              <a:t>TRANSPORT / RETAIL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3282696"/>
            <a:ext cx="2276856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B7C6C1"/>
                </a:solidFill>
                <a:latin typeface="Aptos"/>
              </a:rPr>
              <a:t>route, store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4206240"/>
            <a:ext cx="2423160" cy="749808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17152" y="4315968"/>
            <a:ext cx="2276856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BB869"/>
                </a:solidFill>
                <a:latin typeface="Aptos"/>
              </a:rPr>
              <a:t>INSPECTION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2" y="4608576"/>
            <a:ext cx="2276856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B7C6C1"/>
                </a:solidFill>
                <a:latin typeface="Aptos"/>
              </a:rPr>
              <a:t>result, notes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4251960"/>
            <a:ext cx="2743200" cy="749808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53712" y="4361688"/>
            <a:ext cx="2596896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4BE53"/>
                </a:solidFill>
                <a:latin typeface="Aptos"/>
              </a:rPr>
              <a:t>RISK_SCORE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4654296"/>
            <a:ext cx="2596896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B7C6C1"/>
                </a:solidFill>
                <a:latin typeface="Aptos"/>
              </a:rPr>
              <a:t>probability, level, time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17520" y="1920240"/>
            <a:ext cx="1463040" cy="365760"/>
          </a:xfrm>
          <a:prstGeom prst="line">
            <a:avLst/>
          </a:prstGeom>
          <a:ln w="15875">
            <a:solidFill>
              <a:srgbClr val="5BB8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017520" y="2468880"/>
            <a:ext cx="1463040" cy="777240"/>
          </a:xfrm>
          <a:prstGeom prst="line">
            <a:avLst/>
          </a:prstGeom>
          <a:ln w="15875">
            <a:solidFill>
              <a:srgbClr val="5BB8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017520" y="2697480"/>
            <a:ext cx="1463040" cy="1874520"/>
          </a:xfrm>
          <a:prstGeom prst="line">
            <a:avLst/>
          </a:prstGeom>
          <a:ln w="15875">
            <a:solidFill>
              <a:srgbClr val="5BB8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223760" y="1920240"/>
            <a:ext cx="1920240" cy="365760"/>
          </a:xfrm>
          <a:prstGeom prst="line">
            <a:avLst/>
          </a:prstGeom>
          <a:ln w="15875">
            <a:solidFill>
              <a:srgbClr val="5BB8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223760" y="2468880"/>
            <a:ext cx="1920240" cy="777240"/>
          </a:xfrm>
          <a:prstGeom prst="line">
            <a:avLst/>
          </a:prstGeom>
          <a:ln w="15875">
            <a:solidFill>
              <a:srgbClr val="5BB8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223760" y="2697480"/>
            <a:ext cx="1920240" cy="1874520"/>
          </a:xfrm>
          <a:prstGeom prst="line">
            <a:avLst/>
          </a:prstGeom>
          <a:ln w="15875">
            <a:solidFill>
              <a:srgbClr val="5BB8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852160" y="2898648"/>
            <a:ext cx="0" cy="1353312"/>
          </a:xfrm>
          <a:prstGeom prst="line">
            <a:avLst/>
          </a:prstGeom>
          <a:ln w="15875">
            <a:solidFill>
              <a:srgbClr val="5BB8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31520" y="5486400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7C6C1"/>
                </a:solidFill>
                <a:latin typeface="Aptos"/>
              </a:rPr>
              <a:t>Conceptual model: a batch connects the stage records; Risk_Score can hold multiple predictions for the same batch.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DATABASE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Relational design: keys and normalization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520440" cy="342900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59436" cy="3429000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609344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F8F4"/>
                </a:solidFill>
                <a:latin typeface="Aptos"/>
              </a:rPr>
              <a:t>Primary keys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993392"/>
            <a:ext cx="3227832" cy="28072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B7C6C1"/>
                </a:solidFill>
                <a:latin typeface="Aptos"/>
              </a:defRPr>
            </a:pPr>
            <a:r>
              <a:t>•  A primary key uniquely identifies a row.</a:t>
            </a:r>
          </a:p>
          <a:p>
            <a:pPr>
              <a:spcAft>
                <a:spcPts val="500"/>
              </a:spcAft>
              <a:defRPr sz="1400">
                <a:solidFill>
                  <a:srgbClr val="B7C6C1"/>
                </a:solidFill>
                <a:latin typeface="Aptos"/>
              </a:defRPr>
            </a:pPr>
            <a:r>
              <a:t>•  batch_id identifies the batch.</a:t>
            </a:r>
          </a:p>
          <a:p>
            <a:pPr>
              <a:spcAft>
                <a:spcPts val="500"/>
              </a:spcAft>
              <a:defRPr sz="1400">
                <a:solidFill>
                  <a:srgbClr val="B7C6C1"/>
                </a:solidFill>
                <a:latin typeface="Aptos"/>
              </a:defRPr>
            </a:pPr>
            <a:r>
              <a:t>•  score_id distinguishes prediction-history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520440" cy="342900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59436" cy="3429000"/>
          </a:xfrm>
          <a:prstGeom prst="rect">
            <a:avLst/>
          </a:prstGeom>
          <a:solidFill>
            <a:srgbClr val="60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609344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F8F4"/>
                </a:solidFill>
                <a:latin typeface="Aptos"/>
              </a:rPr>
              <a:t>Foreign keys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993392"/>
            <a:ext cx="3227832" cy="28072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B7C6C1"/>
                </a:solidFill>
                <a:latin typeface="Aptos"/>
              </a:defRPr>
            </a:pPr>
            <a:r>
              <a:t>•  Stage records link to the batch they describe.</a:t>
            </a:r>
          </a:p>
          <a:p>
            <a:pPr>
              <a:spcAft>
                <a:spcPts val="500"/>
              </a:spcAft>
              <a:defRPr sz="1400">
                <a:solidFill>
                  <a:srgbClr val="B7C6C1"/>
                </a:solidFill>
                <a:latin typeface="Aptos"/>
              </a:defRPr>
            </a:pPr>
            <a:r>
              <a:t>•  Relationships make cross-stage queries possible.</a:t>
            </a:r>
          </a:p>
          <a:p>
            <a:pPr>
              <a:spcAft>
                <a:spcPts val="500"/>
              </a:spcAft>
              <a:defRPr sz="1400">
                <a:solidFill>
                  <a:srgbClr val="B7C6C1"/>
                </a:solidFill>
                <a:latin typeface="Aptos"/>
              </a:defRPr>
            </a:pPr>
            <a:r>
              <a:t>•  Constraints should be enabled and validated.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520440" cy="342900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463040"/>
            <a:ext cx="59436" cy="3429000"/>
          </a:xfrm>
          <a:prstGeom prst="rect">
            <a:avLst/>
          </a:prstGeom>
          <a:solidFill>
            <a:srgbClr val="F4B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609344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F8F4"/>
                </a:solidFill>
                <a:latin typeface="Aptos"/>
              </a:rPr>
              <a:t>Normalization and joins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993392"/>
            <a:ext cx="3227832" cy="28072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B7C6C1"/>
                </a:solidFill>
                <a:latin typeface="Aptos"/>
              </a:defRPr>
            </a:pPr>
            <a:r>
              <a:t>•  Keep each kind of fact in an appropriate table.</a:t>
            </a:r>
          </a:p>
          <a:p>
            <a:pPr>
              <a:spcAft>
                <a:spcPts val="500"/>
              </a:spcAft>
              <a:defRPr sz="1400">
                <a:solidFill>
                  <a:srgbClr val="B7C6C1"/>
                </a:solidFill>
                <a:latin typeface="Aptos"/>
              </a:defRPr>
            </a:pPr>
            <a:r>
              <a:t>•  Join stage data when reconstructing a journey.</a:t>
            </a:r>
          </a:p>
          <a:p>
            <a:pPr>
              <a:spcAft>
                <a:spcPts val="500"/>
              </a:spcAft>
              <a:defRPr sz="1400">
                <a:solidFill>
                  <a:srgbClr val="B7C6C1"/>
                </a:solidFill>
                <a:latin typeface="Aptos"/>
              </a:defRPr>
            </a:pPr>
            <a:r>
              <a:t>•  Missing rows should remain visible as data gaps.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03520"/>
            <a:ext cx="10698480" cy="566928"/>
          </a:xfrm>
          <a:prstGeom prst="roundRect">
            <a:avLst>
              <a:gd name="adj" fmla="val 10000"/>
            </a:avLst>
          </a:prstGeom>
          <a:solidFill>
            <a:srgbClr val="1F3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468112"/>
            <a:ext cx="10241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BAE079"/>
                </a:solidFill>
                <a:latin typeface="Aptos"/>
              </a:rPr>
              <a:t>PK = Primary Key  •  FK = Foreign Key  •  Database shown is a prototype schema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DATABASE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Core database tables and fields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89888"/>
            <a:ext cx="2057400" cy="365760"/>
          </a:xfrm>
          <a:prstGeom prst="roundRect">
            <a:avLst>
              <a:gd name="adj" fmla="val 10000"/>
            </a:avLst>
          </a:prstGeom>
          <a:solidFill>
            <a:srgbClr val="264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19" y="1481328"/>
            <a:ext cx="1874519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389888"/>
            <a:ext cx="2606040" cy="365760"/>
          </a:xfrm>
          <a:prstGeom prst="roundRect">
            <a:avLst>
              <a:gd name="adj" fmla="val 10000"/>
            </a:avLst>
          </a:prstGeom>
          <a:solidFill>
            <a:srgbClr val="264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80360" y="1481328"/>
            <a:ext cx="24231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KEY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1389888"/>
            <a:ext cx="5669280" cy="365760"/>
          </a:xfrm>
          <a:prstGeom prst="roundRect">
            <a:avLst>
              <a:gd name="adj" fmla="val 10000"/>
            </a:avLst>
          </a:prstGeom>
          <a:solidFill>
            <a:srgbClr val="264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23559" y="1481328"/>
            <a:ext cx="5486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EXAMPLE FIELDS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810512"/>
            <a:ext cx="2057400" cy="393192"/>
          </a:xfrm>
          <a:prstGeom prst="rect">
            <a:avLst/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19" y="1883664"/>
            <a:ext cx="1874519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6F8F4"/>
                </a:solidFill>
                <a:latin typeface="Aptos"/>
              </a:rPr>
              <a:t>Batch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1810512"/>
            <a:ext cx="2606040" cy="393192"/>
          </a:xfrm>
          <a:prstGeom prst="rect">
            <a:avLst/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80360" y="1883664"/>
            <a:ext cx="24231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7C6C1"/>
                </a:solidFill>
                <a:latin typeface="Aptos"/>
              </a:rPr>
              <a:t>batch_id (PK)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32120" y="1810512"/>
            <a:ext cx="5669280" cy="393192"/>
          </a:xfrm>
          <a:prstGeom prst="rect">
            <a:avLst/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23559" y="1883664"/>
            <a:ext cx="54864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7C6C1"/>
                </a:solidFill>
                <a:latin typeface="Aptos"/>
              </a:rPr>
              <a:t>crop type, harvest date, quantity, 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249424"/>
            <a:ext cx="2057400" cy="393192"/>
          </a:xfrm>
          <a:prstGeom prst="rect">
            <a:avLst/>
          </a:prstGeom>
          <a:solidFill>
            <a:srgbClr val="13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19" y="2322576"/>
            <a:ext cx="1874519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6F8F4"/>
                </a:solidFill>
                <a:latin typeface="Aptos"/>
              </a:rPr>
              <a:t>Origin / Farmer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88920" y="2249424"/>
            <a:ext cx="2606040" cy="393192"/>
          </a:xfrm>
          <a:prstGeom prst="rect">
            <a:avLst/>
          </a:prstGeom>
          <a:solidFill>
            <a:srgbClr val="13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80360" y="2322576"/>
            <a:ext cx="24231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7C6C1"/>
                </a:solidFill>
                <a:latin typeface="Aptos"/>
              </a:rPr>
              <a:t>farmer identifier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32120" y="2249424"/>
            <a:ext cx="5669280" cy="393192"/>
          </a:xfrm>
          <a:prstGeom prst="rect">
            <a:avLst/>
          </a:prstGeom>
          <a:solidFill>
            <a:srgbClr val="13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23559" y="2322576"/>
            <a:ext cx="54864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7C6C1"/>
                </a:solidFill>
                <a:latin typeface="Aptos"/>
              </a:rPr>
              <a:t>farmer name, farm location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688336"/>
            <a:ext cx="2057400" cy="393192"/>
          </a:xfrm>
          <a:prstGeom prst="rect">
            <a:avLst/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19" y="2761488"/>
            <a:ext cx="1874519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6F8F4"/>
                </a:solidFill>
                <a:latin typeface="Aptos"/>
              </a:rPr>
              <a:t>Collection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88920" y="2688336"/>
            <a:ext cx="2606040" cy="393192"/>
          </a:xfrm>
          <a:prstGeom prst="rect">
            <a:avLst/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880360" y="2761488"/>
            <a:ext cx="24231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7C6C1"/>
                </a:solidFill>
                <a:latin typeface="Aptos"/>
              </a:rPr>
              <a:t>record_id, batch_id (FK)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32120" y="2688336"/>
            <a:ext cx="5669280" cy="393192"/>
          </a:xfrm>
          <a:prstGeom prst="rect">
            <a:avLst/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23559" y="2761488"/>
            <a:ext cx="54864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7C6C1"/>
                </a:solidFill>
                <a:latin typeface="Aptos"/>
              </a:rPr>
              <a:t>date, grade, collection centre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127248"/>
            <a:ext cx="2057400" cy="393192"/>
          </a:xfrm>
          <a:prstGeom prst="rect">
            <a:avLst/>
          </a:prstGeom>
          <a:solidFill>
            <a:srgbClr val="13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19" y="3200400"/>
            <a:ext cx="1874519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6F8F4"/>
                </a:solidFill>
                <a:latin typeface="Aptos"/>
              </a:rPr>
              <a:t>Processing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88920" y="3127248"/>
            <a:ext cx="2606040" cy="393192"/>
          </a:xfrm>
          <a:prstGeom prst="rect">
            <a:avLst/>
          </a:prstGeom>
          <a:solidFill>
            <a:srgbClr val="13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80360" y="3200400"/>
            <a:ext cx="24231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7C6C1"/>
                </a:solidFill>
                <a:latin typeface="Aptos"/>
              </a:rPr>
              <a:t>record_id, batch_id (FK)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32120" y="3127248"/>
            <a:ext cx="5669280" cy="393192"/>
          </a:xfrm>
          <a:prstGeom prst="rect">
            <a:avLst/>
          </a:prstGeom>
          <a:solidFill>
            <a:srgbClr val="13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23559" y="3200400"/>
            <a:ext cx="54864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7C6C1"/>
                </a:solidFill>
                <a:latin typeface="Aptos"/>
              </a:rPr>
              <a:t>process type, plant, output quantity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3566160"/>
            <a:ext cx="2057400" cy="393192"/>
          </a:xfrm>
          <a:prstGeom prst="rect">
            <a:avLst/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19" y="3639312"/>
            <a:ext cx="1874519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6F8F4"/>
                </a:solidFill>
                <a:latin typeface="Aptos"/>
              </a:rPr>
              <a:t>Storage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88920" y="3566160"/>
            <a:ext cx="2606040" cy="393192"/>
          </a:xfrm>
          <a:prstGeom prst="rect">
            <a:avLst/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80360" y="3639312"/>
            <a:ext cx="24231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7C6C1"/>
                </a:solidFill>
                <a:latin typeface="Aptos"/>
              </a:rPr>
              <a:t>storage_id, batch_id (FK)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32120" y="3566160"/>
            <a:ext cx="5669280" cy="393192"/>
          </a:xfrm>
          <a:prstGeom prst="rect">
            <a:avLst/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623559" y="3639312"/>
            <a:ext cx="54864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7C6C1"/>
                </a:solidFill>
                <a:latin typeface="Aptos"/>
              </a:rPr>
              <a:t>temperature, humidity, dates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4005072"/>
            <a:ext cx="2057400" cy="393192"/>
          </a:xfrm>
          <a:prstGeom prst="rect">
            <a:avLst/>
          </a:prstGeom>
          <a:solidFill>
            <a:srgbClr val="13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1519" y="4078224"/>
            <a:ext cx="1874519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6F8F4"/>
                </a:solidFill>
                <a:latin typeface="Aptos"/>
              </a:rPr>
              <a:t>Transport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88920" y="4005072"/>
            <a:ext cx="2606040" cy="393192"/>
          </a:xfrm>
          <a:prstGeom prst="rect">
            <a:avLst/>
          </a:prstGeom>
          <a:solidFill>
            <a:srgbClr val="13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880360" y="4078224"/>
            <a:ext cx="24231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7C6C1"/>
                </a:solidFill>
                <a:latin typeface="Aptos"/>
              </a:rPr>
              <a:t>transport_id, batch_id (FK)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32120" y="4005072"/>
            <a:ext cx="5669280" cy="393192"/>
          </a:xfrm>
          <a:prstGeom prst="rect">
            <a:avLst/>
          </a:prstGeom>
          <a:solidFill>
            <a:srgbClr val="13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623559" y="4078224"/>
            <a:ext cx="54864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7C6C1"/>
                </a:solidFill>
                <a:latin typeface="Aptos"/>
              </a:rPr>
              <a:t>route, transit time, conditions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4443983"/>
            <a:ext cx="2057400" cy="393192"/>
          </a:xfrm>
          <a:prstGeom prst="rect">
            <a:avLst/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31519" y="4517136"/>
            <a:ext cx="1874519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6F8F4"/>
                </a:solidFill>
                <a:latin typeface="Aptos"/>
              </a:rPr>
              <a:t>Retail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88920" y="4443983"/>
            <a:ext cx="2606040" cy="393192"/>
          </a:xfrm>
          <a:prstGeom prst="rect">
            <a:avLst/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880360" y="4517136"/>
            <a:ext cx="24231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7C6C1"/>
                </a:solidFill>
                <a:latin typeface="Aptos"/>
              </a:rPr>
              <a:t>inventory_id, batch_id (FK)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32120" y="4443983"/>
            <a:ext cx="5669280" cy="393192"/>
          </a:xfrm>
          <a:prstGeom prst="rect">
            <a:avLst/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23559" y="4517136"/>
            <a:ext cx="54864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7C6C1"/>
                </a:solidFill>
                <a:latin typeface="Aptos"/>
              </a:rPr>
              <a:t>store, received date, quantity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4882896"/>
            <a:ext cx="2057400" cy="393192"/>
          </a:xfrm>
          <a:prstGeom prst="rect">
            <a:avLst/>
          </a:prstGeom>
          <a:solidFill>
            <a:srgbClr val="13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31519" y="4956048"/>
            <a:ext cx="1874519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6F8F4"/>
                </a:solidFill>
                <a:latin typeface="Aptos"/>
              </a:rPr>
              <a:t>Inspection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88920" y="4882896"/>
            <a:ext cx="2606040" cy="393192"/>
          </a:xfrm>
          <a:prstGeom prst="rect">
            <a:avLst/>
          </a:prstGeom>
          <a:solidFill>
            <a:srgbClr val="13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880360" y="4956048"/>
            <a:ext cx="24231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7C6C1"/>
                </a:solidFill>
                <a:latin typeface="Aptos"/>
              </a:rPr>
              <a:t>inspection_id, batch_id (FK)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32120" y="4882896"/>
            <a:ext cx="5669280" cy="393192"/>
          </a:xfrm>
          <a:prstGeom prst="rect">
            <a:avLst/>
          </a:prstGeom>
          <a:solidFill>
            <a:srgbClr val="13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623559" y="4956048"/>
            <a:ext cx="54864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7C6C1"/>
                </a:solidFill>
                <a:latin typeface="Aptos"/>
              </a:rPr>
              <a:t>stage, result, notes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" y="5321808"/>
            <a:ext cx="2057400" cy="393192"/>
          </a:xfrm>
          <a:prstGeom prst="rect">
            <a:avLst/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31519" y="5394960"/>
            <a:ext cx="1874519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6F8F4"/>
                </a:solidFill>
                <a:latin typeface="Aptos"/>
              </a:rPr>
              <a:t>Risk_Score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88920" y="5321808"/>
            <a:ext cx="2606040" cy="393192"/>
          </a:xfrm>
          <a:prstGeom prst="rect">
            <a:avLst/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880360" y="5394960"/>
            <a:ext cx="24231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7C6C1"/>
                </a:solidFill>
                <a:latin typeface="Aptos"/>
              </a:rPr>
              <a:t>score_id, batch_id (FK)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532120" y="5321808"/>
            <a:ext cx="5669280" cy="393192"/>
          </a:xfrm>
          <a:prstGeom prst="rect">
            <a:avLst/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623559" y="5394960"/>
            <a:ext cx="54864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7C6C1"/>
                </a:solidFill>
                <a:latin typeface="Aptos"/>
              </a:rPr>
              <a:t>model version, probability, level, timestamp, features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5925312"/>
            <a:ext cx="10515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4BE53"/>
                </a:solidFill>
                <a:latin typeface="Aptos"/>
              </a:rPr>
              <a:t>Exact implementation details should be cross-checked against the submitted database schema.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APPLICATION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QR-code generation and user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356616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9436" cy="3566160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563624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F8F4"/>
                </a:solidFill>
                <a:latin typeface="Aptos"/>
              </a:rPr>
              <a:t>1. Select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984248"/>
            <a:ext cx="3154680" cy="2926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7C6C1"/>
                </a:solidFill>
                <a:latin typeface="Aptos"/>
              </a:rPr>
              <a:t>Choose the batch identifier that the QR code should represent.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520440" cy="356616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59436" cy="3566160"/>
          </a:xfrm>
          <a:prstGeom prst="rect">
            <a:avLst/>
          </a:prstGeom>
          <a:solidFill>
            <a:srgbClr val="60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563624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F8F4"/>
                </a:solidFill>
                <a:latin typeface="Aptos"/>
              </a:rPr>
              <a:t>2. Generate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984248"/>
            <a:ext cx="3154680" cy="2926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7C6C1"/>
                </a:solidFill>
                <a:latin typeface="Aptos"/>
              </a:rPr>
              <a:t>Create a QR image encoding the batch-specific traceability URL; download as PNG.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520440" cy="356616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59436" cy="3566160"/>
          </a:xfrm>
          <a:prstGeom prst="rect">
            <a:avLst/>
          </a:prstGeom>
          <a:solidFill>
            <a:srgbClr val="F4B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563624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F8F4"/>
                </a:solidFill>
                <a:latin typeface="Aptos"/>
              </a:rPr>
              <a:t>3. Open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984248"/>
            <a:ext cx="3154680" cy="2926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7C6C1"/>
                </a:solidFill>
                <a:latin typeface="Aptos"/>
              </a:rPr>
              <a:t>A phone scans the QR and opens the URL if the host is reachable.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03520"/>
            <a:ext cx="10698480" cy="566928"/>
          </a:xfrm>
          <a:prstGeom prst="roundRect">
            <a:avLst>
              <a:gd name="adj" fmla="val 10000"/>
            </a:avLst>
          </a:prstGeom>
          <a:solidFill>
            <a:srgbClr val="403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449824"/>
            <a:ext cx="103327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4BE53"/>
                </a:solidFill>
                <a:latin typeface="Aptos"/>
              </a:rPr>
              <a:t>Network note: localhost points to the current device; phone access requires a LAN IP or deployed public URL.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AI prediction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2423160" cy="594360"/>
          </a:xfrm>
          <a:prstGeom prst="roundRect">
            <a:avLst>
              <a:gd name="adj" fmla="val 10000"/>
            </a:avLst>
          </a:prstGeom>
          <a:solidFill>
            <a:srgbClr val="1F3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81912"/>
            <a:ext cx="21488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6F8F4"/>
                </a:solidFill>
                <a:latin typeface="Aptos"/>
              </a:rPr>
              <a:t>Input conditions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554480"/>
            <a:ext cx="749807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6F8F4"/>
                </a:solidFill>
                <a:latin typeface="Aptos"/>
              </a:rPr>
              <a:t>Product, storage, transit, inspection history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93392" y="2011680"/>
            <a:ext cx="0" cy="201168"/>
          </a:xfrm>
          <a:prstGeom prst="line">
            <a:avLst/>
          </a:prstGeom>
          <a:ln w="19050">
            <a:solidFill>
              <a:srgbClr val="5BB8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77240" y="2258568"/>
            <a:ext cx="2423160" cy="594360"/>
          </a:xfrm>
          <a:prstGeom prst="roundRect">
            <a:avLst>
              <a:gd name="adj" fmla="val 10000"/>
            </a:avLst>
          </a:prstGeom>
          <a:solidFill>
            <a:srgbClr val="1F3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21488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6F8F4"/>
                </a:solidFill>
                <a:latin typeface="Aptos"/>
              </a:rPr>
              <a:t>Feature preparation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395728"/>
            <a:ext cx="749807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6F8F4"/>
                </a:solidFill>
                <a:latin typeface="Aptos"/>
              </a:rPr>
              <a:t>Map records and form values to model inputs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93392" y="2852928"/>
            <a:ext cx="0" cy="201168"/>
          </a:xfrm>
          <a:prstGeom prst="line">
            <a:avLst/>
          </a:prstGeom>
          <a:ln w="19050">
            <a:solidFill>
              <a:srgbClr val="5BB8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77240" y="3099816"/>
            <a:ext cx="2423160" cy="594360"/>
          </a:xfrm>
          <a:prstGeom prst="roundRect">
            <a:avLst>
              <a:gd name="adj" fmla="val 10000"/>
            </a:avLst>
          </a:prstGeom>
          <a:solidFill>
            <a:srgbClr val="255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264408"/>
            <a:ext cx="21488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BAE079"/>
                </a:solidFill>
                <a:latin typeface="Aptos"/>
              </a:rPr>
              <a:t>Random 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236976"/>
            <a:ext cx="749807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6F8F4"/>
                </a:solidFill>
                <a:latin typeface="Aptos"/>
              </a:rPr>
              <a:t>Load trained food_risk_model.joblib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93392" y="3694176"/>
            <a:ext cx="0" cy="201168"/>
          </a:xfrm>
          <a:prstGeom prst="line">
            <a:avLst/>
          </a:prstGeom>
          <a:ln w="19050">
            <a:solidFill>
              <a:srgbClr val="5BB8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" y="3941064"/>
            <a:ext cx="2423160" cy="594360"/>
          </a:xfrm>
          <a:prstGeom prst="roundRect">
            <a:avLst>
              <a:gd name="adj" fmla="val 10000"/>
            </a:avLst>
          </a:prstGeom>
          <a:solidFill>
            <a:srgbClr val="1F3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105656"/>
            <a:ext cx="21488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6F8F4"/>
                </a:solidFill>
                <a:latin typeface="Aptos"/>
              </a:rPr>
              <a:t>Risk probability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078224"/>
            <a:ext cx="749807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6F8F4"/>
                </a:solidFill>
                <a:latin typeface="Aptos"/>
              </a:rPr>
              <a:t>Model estimates the positive-class probability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993392" y="4535424"/>
            <a:ext cx="0" cy="201168"/>
          </a:xfrm>
          <a:prstGeom prst="line">
            <a:avLst/>
          </a:prstGeom>
          <a:ln w="19050">
            <a:solidFill>
              <a:srgbClr val="5BB8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77240" y="4782312"/>
            <a:ext cx="2423160" cy="594360"/>
          </a:xfrm>
          <a:prstGeom prst="roundRect">
            <a:avLst>
              <a:gd name="adj" fmla="val 10000"/>
            </a:avLst>
          </a:prstGeom>
          <a:solidFill>
            <a:srgbClr val="1F3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946904"/>
            <a:ext cx="21488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6F8F4"/>
                </a:solidFill>
                <a:latin typeface="Aptos"/>
              </a:rPr>
              <a:t>Result and persistence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919472"/>
            <a:ext cx="749807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6F8F4"/>
                </a:solidFill>
                <a:latin typeface="Aptos"/>
              </a:rPr>
              <a:t>Display prediction; save existing-batch score to Risk_Score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715000"/>
            <a:ext cx="10561320" cy="438912"/>
          </a:xfrm>
          <a:prstGeom prst="roundRect">
            <a:avLst>
              <a:gd name="adj" fmla="val 10000"/>
            </a:avLst>
          </a:prstGeom>
          <a:solidFill>
            <a:srgbClr val="403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5824728"/>
            <a:ext cx="101498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4BE53"/>
                </a:solidFill>
                <a:latin typeface="Aptos"/>
              </a:rPr>
              <a:t>Model probability is not a measured contamination level or food-safety certification.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Model evaluation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2103120" cy="141732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920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B7C6C1"/>
                </a:solidFill>
                <a:latin typeface="Aptos"/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9202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AE079"/>
                </a:solidFill>
                <a:latin typeface="Aptos"/>
              </a:rPr>
              <a:t>90.6%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79" y="1508760"/>
            <a:ext cx="2103120" cy="141732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17520" y="1737360"/>
            <a:ext cx="1920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B7C6C1"/>
                </a:solidFill>
                <a:latin typeface="Aptos"/>
              </a:rP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103120"/>
            <a:ext cx="19202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6F8F4"/>
                </a:solidFill>
                <a:latin typeface="Aptos"/>
              </a:rPr>
              <a:t>57.8%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508760"/>
            <a:ext cx="2103120" cy="141732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49240" y="1737360"/>
            <a:ext cx="1920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B7C6C1"/>
                </a:solidFill>
                <a:latin typeface="Aptos"/>
              </a:rP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103120"/>
            <a:ext cx="19202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6F8F4"/>
                </a:solidFill>
                <a:latin typeface="Aptos"/>
              </a:rPr>
              <a:t>61.3%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19" y="1508760"/>
            <a:ext cx="2103120" cy="141732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59" y="1737360"/>
            <a:ext cx="1920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B7C6C1"/>
                </a:solidFill>
                <a:latin typeface="Aptos"/>
              </a:rPr>
              <a:t>F1-score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59" y="2103120"/>
            <a:ext cx="19202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6F8F4"/>
                </a:solidFill>
                <a:latin typeface="Aptos"/>
              </a:rPr>
              <a:t>59.5%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21240" y="1508760"/>
            <a:ext cx="2103120" cy="141732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12680" y="1737360"/>
            <a:ext cx="1920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B7C6C1"/>
                </a:solidFill>
                <a:latin typeface="Aptos"/>
              </a:rPr>
              <a:t>ROC-AUC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2103120"/>
            <a:ext cx="19202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AE079"/>
                </a:solidFill>
                <a:latin typeface="Aptos"/>
              </a:rPr>
              <a:t>0.922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337560"/>
            <a:ext cx="10561320" cy="749808"/>
          </a:xfrm>
          <a:prstGeom prst="roundRect">
            <a:avLst>
              <a:gd name="adj" fmla="val 10000"/>
            </a:avLst>
          </a:prstGeom>
          <a:solidFill>
            <a:srgbClr val="1F3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547872"/>
            <a:ext cx="10195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6F8F4"/>
                </a:solidFill>
                <a:latin typeface="Aptos"/>
              </a:rPr>
              <a:t>8,000 synthetic rows  •  6,400 training rows  •  1,600 held-out test rows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526280"/>
            <a:ext cx="1037844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BE53"/>
                </a:solidFill>
                <a:latin typeface="Aptos"/>
              </a:rPr>
              <a:t>Interpretation: results describe performance on generated data only. Precision and recall are moderate; the model misses some positive examples. Real-world validation is still required.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532120"/>
            <a:ext cx="103327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7C6C1"/>
                </a:solidFill>
                <a:latin typeface="Aptos"/>
              </a:rPr>
              <a:t>Confusion matrix: [[1,338, 81], [70, 111]]  •  70 false negatives in the held-out test set.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Testing, limitations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347472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9436" cy="3474720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563624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8F4"/>
                </a:solidFill>
                <a:latin typeface="Aptos"/>
              </a:rPr>
              <a:t>Functional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947672"/>
            <a:ext cx="3227832" cy="285292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B7C6C1"/>
                </a:solidFill>
                <a:latin typeface="Aptos"/>
              </a:defRPr>
            </a:pPr>
            <a:r>
              <a:t>•  Traceability sections displayed.</a:t>
            </a:r>
          </a:p>
          <a:p>
            <a:pPr>
              <a:spcAft>
                <a:spcPts val="500"/>
              </a:spcAft>
              <a:defRPr sz="1300">
                <a:solidFill>
                  <a:srgbClr val="B7C6C1"/>
                </a:solidFill>
                <a:latin typeface="Aptos"/>
              </a:defRPr>
            </a:pPr>
            <a:r>
              <a:t>•  QR code generated and downloadable.</a:t>
            </a:r>
          </a:p>
          <a:p>
            <a:pPr>
              <a:spcAft>
                <a:spcPts val="500"/>
              </a:spcAft>
              <a:defRPr sz="1300">
                <a:solidFill>
                  <a:srgbClr val="B7C6C1"/>
                </a:solidFill>
                <a:latin typeface="Aptos"/>
              </a:defRPr>
            </a:pPr>
            <a:r>
              <a:t>•  Predictions displayed and saved.</a:t>
            </a:r>
          </a:p>
          <a:p>
            <a:pPr>
              <a:spcAft>
                <a:spcPts val="500"/>
              </a:spcAft>
              <a:defRPr sz="1300">
                <a:solidFill>
                  <a:srgbClr val="B7C6C1"/>
                </a:solidFill>
                <a:latin typeface="Aptos"/>
              </a:defRPr>
            </a:pPr>
            <a:r>
              <a:t>•  Risk history refreshed from SQLite.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520440" cy="347472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59436" cy="3474720"/>
          </a:xfrm>
          <a:prstGeom prst="rect">
            <a:avLst/>
          </a:prstGeom>
          <a:solidFill>
            <a:srgbClr val="E66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563624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8F4"/>
                </a:solidFill>
                <a:latin typeface="Aptos"/>
              </a:rPr>
              <a:t>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947672"/>
            <a:ext cx="3227832" cy="285292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B7C6C1"/>
                </a:solidFill>
                <a:latin typeface="Aptos"/>
              </a:defRPr>
            </a:pPr>
            <a:r>
              <a:t>•  Synthetic training data only.</a:t>
            </a:r>
          </a:p>
          <a:p>
            <a:pPr>
              <a:spcAft>
                <a:spcPts val="500"/>
              </a:spcAft>
              <a:defRPr sz="1300">
                <a:solidFill>
                  <a:srgbClr val="B7C6C1"/>
                </a:solidFill>
                <a:latin typeface="Aptos"/>
              </a:defRPr>
            </a:pPr>
            <a:r>
              <a:t>•  Incomplete records affect feature quality.</a:t>
            </a:r>
          </a:p>
          <a:p>
            <a:pPr>
              <a:spcAft>
                <a:spcPts val="500"/>
              </a:spcAft>
              <a:defRPr sz="1300">
                <a:solidFill>
                  <a:srgbClr val="B7C6C1"/>
                </a:solidFill>
                <a:latin typeface="Aptos"/>
              </a:defRPr>
            </a:pPr>
            <a:r>
              <a:t>•  False negatives remain possible.</a:t>
            </a:r>
          </a:p>
          <a:p>
            <a:pPr>
              <a:spcAft>
                <a:spcPts val="500"/>
              </a:spcAft>
              <a:defRPr sz="1300">
                <a:solidFill>
                  <a:srgbClr val="B7C6C1"/>
                </a:solidFill>
                <a:latin typeface="Aptos"/>
              </a:defRPr>
            </a:pPr>
            <a:r>
              <a:t>•  Local QR URLs need network reachability.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520440" cy="3474720"/>
          </a:xfrm>
          <a:prstGeom prst="roundRect">
            <a:avLst>
              <a:gd name="adj" fmla="val 10000"/>
            </a:avLst>
          </a:prstGeom>
          <a:solidFill>
            <a:srgbClr val="18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59436" cy="3474720"/>
          </a:xfrm>
          <a:prstGeom prst="rect">
            <a:avLst/>
          </a:prstGeom>
          <a:solidFill>
            <a:srgbClr val="60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563624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8F4"/>
                </a:solidFill>
                <a:latin typeface="Aptos"/>
              </a:rPr>
              <a:t>Future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947672"/>
            <a:ext cx="3227832" cy="285292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B7C6C1"/>
                </a:solidFill>
                <a:latin typeface="Aptos"/>
              </a:defRPr>
            </a:pPr>
            <a:r>
              <a:t>•  Validate on real labelled records.</a:t>
            </a:r>
          </a:p>
          <a:p>
            <a:pPr>
              <a:spcAft>
                <a:spcPts val="500"/>
              </a:spcAft>
              <a:defRPr sz="1300">
                <a:solidFill>
                  <a:srgbClr val="B7C6C1"/>
                </a:solidFill>
                <a:latin typeface="Aptos"/>
              </a:defRPr>
            </a:pPr>
            <a:r>
              <a:t>•  Improve recall and calibrate thresholds.</a:t>
            </a:r>
          </a:p>
          <a:p>
            <a:pPr>
              <a:spcAft>
                <a:spcPts val="500"/>
              </a:spcAft>
              <a:defRPr sz="1300">
                <a:solidFill>
                  <a:srgbClr val="B7C6C1"/>
                </a:solidFill>
                <a:latin typeface="Aptos"/>
              </a:defRPr>
            </a:pPr>
            <a:r>
              <a:t>•  Add authentication and audit logging.</a:t>
            </a:r>
          </a:p>
          <a:p>
            <a:pPr>
              <a:spcAft>
                <a:spcPts val="500"/>
              </a:spcAft>
              <a:defRPr sz="1300">
                <a:solidFill>
                  <a:srgbClr val="B7C6C1"/>
                </a:solidFill>
                <a:latin typeface="Aptos"/>
              </a:defRPr>
            </a:pPr>
            <a:r>
              <a:t>•  Explore IoT sensing and alerts.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03520"/>
            <a:ext cx="10698480" cy="566928"/>
          </a:xfrm>
          <a:prstGeom prst="roundRect">
            <a:avLst>
              <a:gd name="adj" fmla="val 10000"/>
            </a:avLst>
          </a:prstGeom>
          <a:solidFill>
            <a:srgbClr val="1F3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458968"/>
            <a:ext cx="1033272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4BE53"/>
                </a:solidFill>
                <a:latin typeface="Aptos"/>
              </a:rPr>
              <a:t>Low risk does not prove a batch is safe; high risk does not prove contamination.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Conclusion and live demo sequence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60704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6F8F4"/>
                </a:solidFill>
                <a:latin typeface="Aptos"/>
              </a:rPr>
              <a:t>The prototype connects traceability records, QR access and AI-assisted risk estimation in one workflow.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331720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1F3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423160"/>
            <a:ext cx="2057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6F8F4"/>
                </a:solidFill>
                <a:latin typeface="Aptos"/>
              </a:rPr>
              <a:t>1.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404872"/>
            <a:ext cx="7589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7C6C1"/>
                </a:solidFill>
                <a:latin typeface="Aptos"/>
              </a:rPr>
              <a:t>Introduce the application and batch list.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953512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1F3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3044952"/>
            <a:ext cx="2057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6F8F4"/>
                </a:solidFill>
                <a:latin typeface="Aptos"/>
              </a:rPr>
              <a:t>2. Trace a batch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026664"/>
            <a:ext cx="7589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7C6C1"/>
                </a:solidFill>
                <a:latin typeface="Aptos"/>
              </a:rPr>
              <a:t>Show BATCH-2026-000123 and recorded stages.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575304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1F3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3666744"/>
            <a:ext cx="2057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6F8F4"/>
                </a:solidFill>
                <a:latin typeface="Aptos"/>
              </a:rPr>
              <a:t>3. QR generator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648456"/>
            <a:ext cx="7589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7C6C1"/>
                </a:solidFill>
                <a:latin typeface="Aptos"/>
              </a:rPr>
              <a:t>Show QR creation and explain network reachability.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197096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1F3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4288536"/>
            <a:ext cx="2057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6F8F4"/>
                </a:solidFill>
                <a:latin typeface="Aptos"/>
              </a:rPr>
              <a:t>4. AI 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270248"/>
            <a:ext cx="7589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7C6C1"/>
                </a:solidFill>
                <a:latin typeface="Aptos"/>
              </a:rPr>
              <a:t>Run existing-batch and new-condition modes.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818888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1F3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" y="4910327"/>
            <a:ext cx="2057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6F8F4"/>
                </a:solidFill>
                <a:latin typeface="Aptos"/>
              </a:rPr>
              <a:t>5.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892040"/>
            <a:ext cx="7589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7C6C1"/>
                </a:solidFill>
                <a:latin typeface="Aptos"/>
              </a:rPr>
              <a:t>Explain metrics and synthetic-data limitations.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MOBILE BATCH TRACEABILITY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Mobile traceability — batch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1325880"/>
            <a:ext cx="4343400" cy="498348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G_17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5083" y="1325880"/>
            <a:ext cx="2297072" cy="4983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IMG_1721.PNG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MOBILE BATCH TRACEABILITY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Mobile traceability — supply-chain stages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1325880"/>
            <a:ext cx="4343400" cy="498348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G_17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5083" y="1325880"/>
            <a:ext cx="2297072" cy="4983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IMG_1722.PNG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CODE, TERMINAL OR DATABASE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Database view — existing records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1 at 10.39.57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2026-10-11 at 10.39.57 PM.png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CODE, TERMINAL OR DATABASE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Terminal evidence — schema and database updates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1 at 10.46.56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189616"/>
            <a:ext cx="10972800" cy="11645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2026-10-11 at 10.46.56 PM.png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DASHBOARD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Dashboard — initial working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1 at 11.57.58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2026-10-11 at 11.57.58 PM.png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DASHBOARD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Dashboard — batch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2 at 1.13.47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2026-10-12 at 1.13.47 AM.png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AI RISK PREDICTION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AI prediction — condition input 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2 at 1.18.01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2026-10-12 at 1.18.01 AM.png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AI PREDICTION OUTPUT AND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AI prediction — result and model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2 at 1.18.09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2026-10-12 at 1.18.09 AM.png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CODE, TERMINAL OR DATABASE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Development evidence — editor and terminal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2 at 10.16.03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2026-10-12 at 10.16.03 PM.png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CODE, TERMINAL OR DATABASE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Development evidence — training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2 at 10.17.29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2026-10-12 at 10.17.29 PM.png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DASHBOARD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Dashboard — current batch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2 at 10.20.48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2026-10-12 at 10.20.48 PM.png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BATCH TRACEABILITY AND STAGE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Traceability — batch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2 at 10.21.00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2026-10-12 at 10.21.00 PM.png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BATCH TRACEABILITY AND STAGE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Traceability — stage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2 at 10.21.09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2026-10-12 at 10.21.09 PM.png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BATCH TRACEABILITY AND STAGE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Traceability — record/history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2 at 10.21.16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2026-10-12 at 10.21.16 PM.png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QR CODE GENERATOR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QR code generator — generated QR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2 at 10.21.35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2026-10-12 at 10.21.35 PM.png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CODE, TERMINAL OR DATABASE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Code and terminal — application updates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2 at 10.37.51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2026-10-12 at 10.37.51 PM.png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CODE, TERMINAL OR DATABASE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Code and terminal — development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2 at 10.40.37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2026-10-12 at 10.40.37 PM.png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CODE, TERMINAL OR DATABASE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Code and terminal — development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2 at 10.42.31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2026-10-12 at 10.42.31 PM.png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AI RISK PREDICTION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AI prediction — new-condition inputs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2 at 10.55.32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2026-10-12 at 10.55.32 PM.png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AI PREDICTION OUTPUT AND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AI prediction — positive-class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2 at 10.58.06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2026-10-12 at 10.58.06 PM.png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AI PREDICTION OUTPUT AND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AI prediction — negative-class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2 at 11.03.12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2026-10-12 at 11.03.12 PM.png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BATCH TRACEABILITY AND STAGE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Traceability — risk history included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2 at 11.03.26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2026-10-12 at 11.03.26 PM.png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BATCH TRACEABILITY AND STAGE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Traceability — processing/stage records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2 at 11.03.34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2026-10-12 at 11.03.34 PM.png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DASHBOARD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Dashboard — later development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2 at 11.26.38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2026-10-12 at 11.26.38 PM.png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QR CODE GENERATOR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QR page — generation and download controls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2 at 11.26.48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2026-10-12 at 11.26.48 PM.png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QR CODE GENERATOR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QR code generator — QR preview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2 at 11.28.06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2026-10-12 at 11.28.06 PM.png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BATCH TRACEABILITY AND STAGE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Traceability — record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2 at 11.43.58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2026-10-12 at 11.43.58 PM.png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BATCH TRACEABILITY AND STAGE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Traceability — additional stage records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2 at 11.44.32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2026-10-12 at 11.44.32 PM.png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AI PREDICTION OUTPUT AND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AI evaluation — displayed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2 at 11.44.56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2026-10-12 at 11.44.56 PM.png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BATCH TRACEABILITY AND STAGE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Traceability — inspection and risk information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47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2 at 11.55.20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2026-10-12 at 11.55.20 PM.png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AI PREDICTION OUTPUT AND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AI evaluation — metrics and prediction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48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2 at 11.55.39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2026-10-12 at 11.55.39 PM.png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CODE, TERMINAL OR DATABASE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Development evidence — application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2 at 11.57.17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2026-10-12 at 11.57.17 PM.png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AI RISK PREDICTION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AI prediction — input scenario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2 at 11.58.37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2026-10-12 at 11.58.37 PM.png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AI PREDICTION OUTPUT AND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AI prediction — higher-risk scenario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51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2 at 11.58.52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2026-10-12 at 11.58.52 PM.png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CODE, TERMINAL OR DATABASE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Model training — terminal and saved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52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2 at 11.59.27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2026-10-12 at 11.59.27 PM.png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CODE, TERMINAL OR DATABASE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Development evidence — final code updates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53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2 at 12.47.20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2026-10-12 at 12.47.20 AM.png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2860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AE079"/>
                </a:solidFill>
                <a:latin typeface="Aptos"/>
              </a:rPr>
              <a:t>SCREENSHOT APPENDIX • AI PREDICTION OUTPUT AND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6F8F4"/>
                </a:solidFill>
                <a:latin typeface="Aptos"/>
              </a:rPr>
              <a:t>AI prediction — low-risk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024128" cy="50292"/>
          </a:xfrm>
          <a:prstGeom prst="rect">
            <a:avLst/>
          </a:prstGeom>
          <a:solidFill>
            <a:srgbClr val="5BB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AI-ENHANCED FOOD SUPPLY CHAIN TRACEABILITY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7C6C1"/>
                </a:solidFill>
                <a:latin typeface="Aptos"/>
              </a:rPr>
              <a:t>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892040"/>
          </a:xfrm>
          <a:prstGeom prst="roundRect">
            <a:avLst>
              <a:gd name="adj" fmla="val 10000"/>
            </a:avLst>
          </a:prstGeom>
          <a:solidFill>
            <a:srgbClr val="07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12 at 9.59.39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924" y="1325880"/>
            <a:ext cx="7523670" cy="4892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789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B7C6C1"/>
                </a:solidFill>
                <a:latin typeface="Aptos"/>
              </a:rPr>
              <a:t>Source file: Screenshot 2026-10-12 at 9.59.39 PM.png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2470</Words>
  <Application>Microsoft Macintosh PowerPoint</Application>
  <PresentationFormat>Widescreen</PresentationFormat>
  <Paragraphs>424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SHORYA SHEKHAR</cp:lastModifiedBy>
  <cp:revision>3</cp:revision>
  <dcterms:created xsi:type="dcterms:W3CDTF">2013-01-27T09:14:16Z</dcterms:created>
  <dcterms:modified xsi:type="dcterms:W3CDTF">2026-10-12T18:50:21Z</dcterms:modified>
  <cp:category/>
</cp:coreProperties>
</file>
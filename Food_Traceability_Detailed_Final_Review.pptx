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3"/>
  </p:normalViewPr>
  <p:slideViewPr>
    <p:cSldViewPr snapToGrid="0" snapToObjects="1">
      <p:cViewPr varScale="1">
        <p:scale>
          <a:sx n="113" d="100"/>
          <a:sy n="113" d="100"/>
        </p:scale>
        <p:origin x="5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Rectangle 1"/>
          <p:cNvSpPr/>
          <p:nvPr/>
        </p:nvSpPr>
        <p:spPr>
          <a:xfrm>
            <a:off x="8138160" y="0"/>
            <a:ext cx="4069080" cy="6858000"/>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960120"/>
            <a:ext cx="914400" cy="914400"/>
          </a:xfrm>
          <a:prstGeom prst="ellipse">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378440" y="1600200"/>
            <a:ext cx="621792" cy="621792"/>
          </a:xfrm>
          <a:prstGeom prst="ellipse">
            <a:avLst/>
          </a:prstGeom>
          <a:solidFill>
            <a:srgbClr val="BAE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23960" y="1828800"/>
            <a:ext cx="512064" cy="512064"/>
          </a:xfrm>
          <a:prstGeom prst="ellipse">
            <a:avLst/>
          </a:prstGeom>
          <a:solidFill>
            <a:srgbClr val="3D8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149840" y="2788920"/>
            <a:ext cx="804672" cy="804672"/>
          </a:xfrm>
          <a:prstGeom prst="ellipse">
            <a:avLst/>
          </a:prstGeom>
          <a:solidFill>
            <a:srgbClr val="3482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961120" y="3200400"/>
            <a:ext cx="566928" cy="566928"/>
          </a:xfrm>
          <a:prstGeom prst="ellipse">
            <a:avLst/>
          </a:prstGeom>
          <a:solidFill>
            <a:srgbClr val="BAE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652760" y="3977639"/>
            <a:ext cx="457200" cy="457200"/>
          </a:xfrm>
          <a:prstGeom prst="ellipse">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502920"/>
            <a:ext cx="7132320" cy="274320"/>
          </a:xfrm>
          <a:prstGeom prst="rect">
            <a:avLst/>
          </a:prstGeom>
          <a:noFill/>
        </p:spPr>
        <p:txBody>
          <a:bodyPr wrap="square" lIns="45720" rIns="45720" anchor="t">
            <a:spAutoFit/>
          </a:bodyPr>
          <a:lstStyle/>
          <a:p>
            <a:pPr algn="l">
              <a:spcAft>
                <a:spcPts val="0"/>
              </a:spcAft>
            </a:pPr>
            <a:r>
              <a:rPr sz="1200" b="1" i="0">
                <a:solidFill>
                  <a:srgbClr val="BAE079"/>
                </a:solidFill>
                <a:latin typeface="Aptos"/>
              </a:rPr>
              <a:t>DATABASE SYSTEMS PROJECT  •  FINAL REVIEW</a:t>
            </a:r>
          </a:p>
        </p:txBody>
      </p:sp>
      <p:sp>
        <p:nvSpPr>
          <p:cNvPr id="10" name="TextBox 9"/>
          <p:cNvSpPr txBox="1"/>
          <p:nvPr/>
        </p:nvSpPr>
        <p:spPr>
          <a:xfrm>
            <a:off x="713232" y="1234440"/>
            <a:ext cx="6995160" cy="1600200"/>
          </a:xfrm>
          <a:prstGeom prst="rect">
            <a:avLst/>
          </a:prstGeom>
          <a:noFill/>
        </p:spPr>
        <p:txBody>
          <a:bodyPr wrap="square" lIns="45720" rIns="45720" anchor="t">
            <a:spAutoFit/>
          </a:bodyPr>
          <a:lstStyle/>
          <a:p>
            <a:pPr algn="l">
              <a:spcAft>
                <a:spcPts val="0"/>
              </a:spcAft>
            </a:pPr>
            <a:r>
              <a:rPr sz="3400" b="1" i="0">
                <a:solidFill>
                  <a:srgbClr val="F6F8F4"/>
                </a:solidFill>
                <a:latin typeface="Aptos"/>
              </a:rPr>
              <a:t>AI-Enhanced Food
Supply Chain Traceability</a:t>
            </a:r>
          </a:p>
        </p:txBody>
      </p:sp>
      <p:sp>
        <p:nvSpPr>
          <p:cNvPr id="11" name="TextBox 10"/>
          <p:cNvSpPr txBox="1"/>
          <p:nvPr/>
        </p:nvSpPr>
        <p:spPr>
          <a:xfrm>
            <a:off x="749808" y="3127248"/>
            <a:ext cx="6583680" cy="822960"/>
          </a:xfrm>
          <a:prstGeom prst="rect">
            <a:avLst/>
          </a:prstGeom>
          <a:noFill/>
        </p:spPr>
        <p:txBody>
          <a:bodyPr wrap="square" lIns="45720" rIns="45720" anchor="t">
            <a:spAutoFit/>
          </a:bodyPr>
          <a:lstStyle/>
          <a:p>
            <a:pPr algn="l">
              <a:spcAft>
                <a:spcPts val="0"/>
              </a:spcAft>
            </a:pPr>
            <a:r>
              <a:rPr sz="1900" b="0" i="0">
                <a:solidFill>
                  <a:srgbClr val="B7C6C1"/>
                </a:solidFill>
                <a:latin typeface="Aptos"/>
              </a:rPr>
              <a:t>Batch-level traceability, QR-based access, and AI-assisted contamination-risk estimation</a:t>
            </a:r>
          </a:p>
        </p:txBody>
      </p:sp>
      <p:sp>
        <p:nvSpPr>
          <p:cNvPr id="12" name="Rectangle 11"/>
          <p:cNvSpPr/>
          <p:nvPr/>
        </p:nvSpPr>
        <p:spPr>
          <a:xfrm>
            <a:off x="749808" y="4343400"/>
            <a:ext cx="5166360" cy="7315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4617720"/>
            <a:ext cx="6675120" cy="347472"/>
          </a:xfrm>
          <a:prstGeom prst="rect">
            <a:avLst/>
          </a:prstGeom>
          <a:noFill/>
        </p:spPr>
        <p:txBody>
          <a:bodyPr wrap="square" lIns="45720" rIns="45720" anchor="t">
            <a:spAutoFit/>
          </a:bodyPr>
          <a:lstStyle/>
          <a:p>
            <a:pPr algn="l">
              <a:spcAft>
                <a:spcPts val="0"/>
              </a:spcAft>
            </a:pPr>
            <a:r>
              <a:rPr sz="1300" b="1" i="0">
                <a:solidFill>
                  <a:srgbClr val="F6F8F4"/>
                </a:solidFill>
                <a:latin typeface="Aptos"/>
              </a:rPr>
              <a:t>Fall Semester 2026–2027  |  School of Computer Science &amp; Engineering</a:t>
            </a:r>
          </a:p>
        </p:txBody>
      </p:sp>
      <p:sp>
        <p:nvSpPr>
          <p:cNvPr id="14" name="TextBox 13"/>
          <p:cNvSpPr txBox="1"/>
          <p:nvPr/>
        </p:nvSpPr>
        <p:spPr>
          <a:xfrm>
            <a:off x="749808" y="5138928"/>
            <a:ext cx="6858000" cy="461665"/>
          </a:xfrm>
          <a:prstGeom prst="rect">
            <a:avLst/>
          </a:prstGeom>
          <a:noFill/>
        </p:spPr>
        <p:txBody>
          <a:bodyPr wrap="square" lIns="45720" rIns="45720" anchor="t">
            <a:spAutoFit/>
          </a:bodyPr>
          <a:lstStyle/>
          <a:p>
            <a:pPr algn="l">
              <a:spcAft>
                <a:spcPts val="0"/>
              </a:spcAft>
            </a:pPr>
            <a:r>
              <a:rPr sz="1200" b="0" i="0" dirty="0">
                <a:solidFill>
                  <a:srgbClr val="B7C6C1"/>
                </a:solidFill>
                <a:latin typeface="Aptos"/>
              </a:rPr>
              <a:t>Team members: </a:t>
            </a:r>
            <a:r>
              <a:rPr lang="en-US" sz="1200" dirty="0">
                <a:solidFill>
                  <a:srgbClr val="B7C6C1"/>
                </a:solidFill>
                <a:latin typeface="Aptos"/>
              </a:rPr>
              <a:t>SHORYA SHEKHAR, AYUSHI KUMARI</a:t>
            </a:r>
            <a:r>
              <a:rPr sz="1200" b="0" i="0" dirty="0">
                <a:solidFill>
                  <a:srgbClr val="B7C6C1"/>
                </a:solidFill>
                <a:latin typeface="Aptos"/>
              </a:rPr>
              <a:t>
Faculty: </a:t>
            </a:r>
            <a:r>
              <a:rPr lang="en-US" sz="1200" dirty="0">
                <a:solidFill>
                  <a:srgbClr val="B7C6C1"/>
                </a:solidFill>
                <a:latin typeface="Aptos"/>
              </a:rPr>
              <a:t>K SUDHAKAR</a:t>
            </a:r>
            <a:r>
              <a:rPr sz="1200" b="0" i="0" dirty="0">
                <a:solidFill>
                  <a:srgbClr val="B7C6C1"/>
                </a:solidFill>
                <a:latin typeface="Aptos"/>
              </a:rPr>
              <a:t>  •  Slot: </a:t>
            </a:r>
            <a:r>
              <a:rPr lang="en-US" sz="1200" b="0" i="0" dirty="0">
                <a:solidFill>
                  <a:srgbClr val="B7C6C1"/>
                </a:solidFill>
                <a:latin typeface="Aptos"/>
              </a:rPr>
              <a:t>A</a:t>
            </a:r>
            <a:r>
              <a:rPr lang="en-US" sz="1200" dirty="0">
                <a:solidFill>
                  <a:srgbClr val="B7C6C1"/>
                </a:solidFill>
                <a:latin typeface="Aptos"/>
              </a:rPr>
              <a:t>2+TA2</a:t>
            </a:r>
            <a:r>
              <a:rPr sz="1200" b="0" i="0" dirty="0">
                <a:solidFill>
                  <a:srgbClr val="B7C6C1"/>
                </a:solidFill>
                <a:latin typeface="Aptos"/>
              </a:rPr>
              <a:t/>
            </a:r>
          </a:p>
        </p:txBody>
      </p:sp>
      <p:sp>
        <p:nvSpPr>
          <p:cNvPr id="15" name="TextBox 14"/>
          <p:cNvSpPr txBox="1"/>
          <p:nvPr/>
        </p:nvSpPr>
        <p:spPr>
          <a:xfrm>
            <a:off x="749808" y="6327648"/>
            <a:ext cx="6766560" cy="228600"/>
          </a:xfrm>
          <a:prstGeom prst="rect">
            <a:avLst/>
          </a:prstGeom>
          <a:noFill/>
        </p:spPr>
        <p:txBody>
          <a:bodyPr wrap="square" lIns="45720" rIns="45720" anchor="t">
            <a:spAutoFit/>
          </a:bodyPr>
          <a:lstStyle/>
          <a:p>
            <a:pPr algn="l">
              <a:spcAft>
                <a:spcPts val="0"/>
              </a:spcAft>
            </a:pPr>
            <a:r>
              <a:rPr sz="900" b="1" i="0">
                <a:solidFill>
                  <a:srgbClr val="BAE079"/>
                </a:solidFill>
                <a:latin typeface="Aptos"/>
              </a:rPr>
              <a:t>WORKING DEMONSTRATION  •  SYNTHETIC AI TRAINING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EXECUTIVE SUMMARY</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Project at a glance</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02</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81328"/>
            <a:ext cx="3520440" cy="1874519"/>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481328"/>
            <a:ext cx="64008" cy="1874519"/>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636776"/>
            <a:ext cx="3172968" cy="320040"/>
          </a:xfrm>
          <a:prstGeom prst="rect">
            <a:avLst/>
          </a:prstGeom>
          <a:noFill/>
        </p:spPr>
        <p:txBody>
          <a:bodyPr wrap="square" lIns="45720" rIns="45720" anchor="t">
            <a:spAutoFit/>
          </a:bodyPr>
          <a:lstStyle/>
          <a:p>
            <a:pPr algn="l">
              <a:spcAft>
                <a:spcPts val="0"/>
              </a:spcAft>
            </a:pPr>
            <a:r>
              <a:rPr sz="1800" b="1" i="0">
                <a:solidFill>
                  <a:srgbClr val="F6F8F4"/>
                </a:solidFill>
                <a:latin typeface="Aptos"/>
              </a:rPr>
              <a:t>01  Trace</a:t>
            </a:r>
          </a:p>
        </p:txBody>
      </p:sp>
      <p:sp>
        <p:nvSpPr>
          <p:cNvPr id="10" name="TextBox 9"/>
          <p:cNvSpPr txBox="1"/>
          <p:nvPr/>
        </p:nvSpPr>
        <p:spPr>
          <a:xfrm>
            <a:off x="795528" y="2048256"/>
            <a:ext cx="3136392" cy="1216151"/>
          </a:xfrm>
          <a:prstGeom prst="rect">
            <a:avLst/>
          </a:prstGeom>
          <a:noFill/>
        </p:spPr>
        <p:txBody>
          <a:bodyPr wrap="square" lIns="45720" rIns="45720" anchor="t">
            <a:spAutoFit/>
          </a:bodyPr>
          <a:lstStyle/>
          <a:p>
            <a:pPr algn="l">
              <a:spcAft>
                <a:spcPts val="0"/>
              </a:spcAft>
            </a:pPr>
            <a:r>
              <a:rPr sz="1400" b="0" i="0">
                <a:solidFill>
                  <a:srgbClr val="B7C6C1"/>
                </a:solidFill>
                <a:latin typeface="Aptos"/>
              </a:rPr>
              <a:t>A unique batch ID links recorded journey details from farm origin through retail.</a:t>
            </a:r>
          </a:p>
        </p:txBody>
      </p:sp>
      <p:sp>
        <p:nvSpPr>
          <p:cNvPr id="11" name="Rounded Rectangle 10"/>
          <p:cNvSpPr/>
          <p:nvPr/>
        </p:nvSpPr>
        <p:spPr>
          <a:xfrm>
            <a:off x="4343400" y="1481328"/>
            <a:ext cx="3520440" cy="1874519"/>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481328"/>
            <a:ext cx="64008" cy="1874519"/>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636776"/>
            <a:ext cx="3172968" cy="320040"/>
          </a:xfrm>
          <a:prstGeom prst="rect">
            <a:avLst/>
          </a:prstGeom>
          <a:noFill/>
        </p:spPr>
        <p:txBody>
          <a:bodyPr wrap="square" lIns="45720" rIns="45720" anchor="t">
            <a:spAutoFit/>
          </a:bodyPr>
          <a:lstStyle/>
          <a:p>
            <a:pPr algn="l">
              <a:spcAft>
                <a:spcPts val="0"/>
              </a:spcAft>
            </a:pPr>
            <a:r>
              <a:rPr sz="1800" b="1" i="0">
                <a:solidFill>
                  <a:srgbClr val="F6F8F4"/>
                </a:solidFill>
                <a:latin typeface="Aptos"/>
              </a:rPr>
              <a:t>02  Access</a:t>
            </a:r>
          </a:p>
        </p:txBody>
      </p:sp>
      <p:sp>
        <p:nvSpPr>
          <p:cNvPr id="14" name="TextBox 13"/>
          <p:cNvSpPr txBox="1"/>
          <p:nvPr/>
        </p:nvSpPr>
        <p:spPr>
          <a:xfrm>
            <a:off x="4544568" y="2048256"/>
            <a:ext cx="3136392" cy="1216151"/>
          </a:xfrm>
          <a:prstGeom prst="rect">
            <a:avLst/>
          </a:prstGeom>
          <a:noFill/>
        </p:spPr>
        <p:txBody>
          <a:bodyPr wrap="square" lIns="45720" rIns="45720" anchor="t">
            <a:spAutoFit/>
          </a:bodyPr>
          <a:lstStyle/>
          <a:p>
            <a:pPr algn="l">
              <a:spcAft>
                <a:spcPts val="0"/>
              </a:spcAft>
            </a:pPr>
            <a:r>
              <a:rPr sz="1400" b="0" i="0">
                <a:solidFill>
                  <a:srgbClr val="B7C6C1"/>
                </a:solidFill>
                <a:latin typeface="Aptos"/>
              </a:rPr>
              <a:t>A QR code provides a quick entry point to a selected batch’s traceability page.</a:t>
            </a:r>
          </a:p>
        </p:txBody>
      </p:sp>
      <p:sp>
        <p:nvSpPr>
          <p:cNvPr id="15" name="Rounded Rectangle 14"/>
          <p:cNvSpPr/>
          <p:nvPr/>
        </p:nvSpPr>
        <p:spPr>
          <a:xfrm>
            <a:off x="8092440" y="1481328"/>
            <a:ext cx="3520440" cy="1874519"/>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481328"/>
            <a:ext cx="64008" cy="1874519"/>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636776"/>
            <a:ext cx="3172968" cy="320040"/>
          </a:xfrm>
          <a:prstGeom prst="rect">
            <a:avLst/>
          </a:prstGeom>
          <a:noFill/>
        </p:spPr>
        <p:txBody>
          <a:bodyPr wrap="square" lIns="45720" rIns="45720" anchor="t">
            <a:spAutoFit/>
          </a:bodyPr>
          <a:lstStyle/>
          <a:p>
            <a:pPr algn="l">
              <a:spcAft>
                <a:spcPts val="0"/>
              </a:spcAft>
            </a:pPr>
            <a:r>
              <a:rPr sz="1800" b="1" i="0">
                <a:solidFill>
                  <a:srgbClr val="F6F8F4"/>
                </a:solidFill>
                <a:latin typeface="Aptos"/>
              </a:rPr>
              <a:t>03  Estimate</a:t>
            </a:r>
          </a:p>
        </p:txBody>
      </p:sp>
      <p:sp>
        <p:nvSpPr>
          <p:cNvPr id="18" name="TextBox 17"/>
          <p:cNvSpPr txBox="1"/>
          <p:nvPr/>
        </p:nvSpPr>
        <p:spPr>
          <a:xfrm>
            <a:off x="8293608" y="2048256"/>
            <a:ext cx="3136392" cy="1216151"/>
          </a:xfrm>
          <a:prstGeom prst="rect">
            <a:avLst/>
          </a:prstGeom>
          <a:noFill/>
        </p:spPr>
        <p:txBody>
          <a:bodyPr wrap="square" lIns="45720" rIns="45720" anchor="t">
            <a:spAutoFit/>
          </a:bodyPr>
          <a:lstStyle/>
          <a:p>
            <a:pPr algn="l">
              <a:spcAft>
                <a:spcPts val="0"/>
              </a:spcAft>
            </a:pPr>
            <a:r>
              <a:rPr sz="1400" b="0" i="0">
                <a:solidFill>
                  <a:srgbClr val="B7C6C1"/>
                </a:solidFill>
                <a:latin typeface="Aptos"/>
              </a:rPr>
              <a:t>A Random Forest model estimates risk from selected supply-chain conditions.</a:t>
            </a:r>
          </a:p>
        </p:txBody>
      </p:sp>
      <p:sp>
        <p:nvSpPr>
          <p:cNvPr id="19" name="Rounded Rectangle 18"/>
          <p:cNvSpPr/>
          <p:nvPr/>
        </p:nvSpPr>
        <p:spPr>
          <a:xfrm>
            <a:off x="594360" y="3703320"/>
            <a:ext cx="11018520" cy="16916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950208"/>
            <a:ext cx="10469880" cy="320040"/>
          </a:xfrm>
          <a:prstGeom prst="rect">
            <a:avLst/>
          </a:prstGeom>
          <a:noFill/>
        </p:spPr>
        <p:txBody>
          <a:bodyPr wrap="square" lIns="45720" rIns="45720" anchor="t">
            <a:spAutoFit/>
          </a:bodyPr>
          <a:lstStyle/>
          <a:p>
            <a:pPr algn="l">
              <a:spcAft>
                <a:spcPts val="0"/>
              </a:spcAft>
            </a:pPr>
            <a:r>
              <a:rPr sz="1800" b="1" i="0">
                <a:solidFill>
                  <a:srgbClr val="BAE079"/>
                </a:solidFill>
                <a:latin typeface="Aptos"/>
              </a:rPr>
              <a:t>What is demonstrated</a:t>
            </a:r>
          </a:p>
        </p:txBody>
      </p:sp>
      <p:sp>
        <p:nvSpPr>
          <p:cNvPr id="21" name="TextBox 20"/>
          <p:cNvSpPr txBox="1"/>
          <p:nvPr/>
        </p:nvSpPr>
        <p:spPr>
          <a:xfrm>
            <a:off x="868680" y="4407408"/>
            <a:ext cx="10378440" cy="713232"/>
          </a:xfrm>
          <a:prstGeom prst="rect">
            <a:avLst/>
          </a:prstGeom>
          <a:noFill/>
        </p:spPr>
        <p:txBody>
          <a:bodyPr wrap="square" lIns="45720" rIns="45720" anchor="t">
            <a:spAutoFit/>
          </a:bodyPr>
          <a:lstStyle/>
          <a:p>
            <a:pPr algn="l">
              <a:spcAft>
                <a:spcPts val="0"/>
              </a:spcAft>
            </a:pPr>
            <a:r>
              <a:rPr sz="1600" b="0" i="0">
                <a:solidFill>
                  <a:srgbClr val="F6F8F4"/>
                </a:solidFill>
                <a:latin typeface="Aptos"/>
              </a:rPr>
              <a:t>A working Streamlit interface, SQLite-backed traceability records, QR generation, a trained model, saved risk scores, and evaluation on held-out synthetic data. This is an academic prototype—not a certified food-safety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WHY THIS PROJECT MATTERS</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Problem statement</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03</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81328"/>
            <a:ext cx="3520440" cy="35204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481328"/>
            <a:ext cx="64008" cy="3520440"/>
          </a:xfrm>
          <a:prstGeom prst="rect">
            <a:avLst/>
          </a:prstGeom>
          <a:solidFill>
            <a:srgbClr val="E66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636776"/>
            <a:ext cx="3172968" cy="320040"/>
          </a:xfrm>
          <a:prstGeom prst="rect">
            <a:avLst/>
          </a:prstGeom>
          <a:noFill/>
        </p:spPr>
        <p:txBody>
          <a:bodyPr wrap="square" lIns="45720" rIns="45720" anchor="t">
            <a:spAutoFit/>
          </a:bodyPr>
          <a:lstStyle/>
          <a:p>
            <a:pPr algn="l">
              <a:spcAft>
                <a:spcPts val="0"/>
              </a:spcAft>
            </a:pPr>
            <a:r>
              <a:rPr sz="1800" b="1" i="0">
                <a:solidFill>
                  <a:srgbClr val="F6F8F4"/>
                </a:solidFill>
                <a:latin typeface="Aptos"/>
              </a:rPr>
              <a:t>Fragmented records</a:t>
            </a:r>
          </a:p>
        </p:txBody>
      </p:sp>
      <p:sp>
        <p:nvSpPr>
          <p:cNvPr id="10" name="TextBox 9"/>
          <p:cNvSpPr txBox="1"/>
          <p:nvPr/>
        </p:nvSpPr>
        <p:spPr>
          <a:xfrm>
            <a:off x="758952" y="2048256"/>
            <a:ext cx="3200400" cy="2862072"/>
          </a:xfrm>
          <a:prstGeom prst="rect">
            <a:avLst/>
          </a:prstGeom>
          <a:noFill/>
        </p:spPr>
        <p:txBody>
          <a:bodyPr wrap="square" lIns="54864" tIns="27432" rIns="54864" bIns="18288">
            <a:spAutoFit/>
          </a:bodyPr>
          <a:lstStyle/>
          <a:p>
            <a:pPr>
              <a:spcAft>
                <a:spcPts val="500"/>
              </a:spcAft>
              <a:defRPr sz="1500">
                <a:solidFill>
                  <a:srgbClr val="B7C6C1"/>
                </a:solidFill>
                <a:latin typeface="Aptos"/>
              </a:defRPr>
            </a:pPr>
            <a:r>
              <a:t>•  Different supply-chain stages may maintain separate records.</a:t>
            </a:r>
          </a:p>
          <a:p>
            <a:pPr>
              <a:spcAft>
                <a:spcPts val="500"/>
              </a:spcAft>
              <a:defRPr sz="1500">
                <a:solidFill>
                  <a:srgbClr val="B7C6C1"/>
                </a:solidFill>
                <a:latin typeface="Aptos"/>
              </a:defRPr>
            </a:pPr>
            <a:r>
              <a:t>•  A shared batch identity is needed to connect events.</a:t>
            </a:r>
          </a:p>
        </p:txBody>
      </p:sp>
      <p:sp>
        <p:nvSpPr>
          <p:cNvPr id="11" name="Rounded Rectangle 10"/>
          <p:cNvSpPr/>
          <p:nvPr/>
        </p:nvSpPr>
        <p:spPr>
          <a:xfrm>
            <a:off x="4343400" y="1481328"/>
            <a:ext cx="3520440" cy="35204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481328"/>
            <a:ext cx="64008" cy="3520440"/>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636776"/>
            <a:ext cx="3172968" cy="320040"/>
          </a:xfrm>
          <a:prstGeom prst="rect">
            <a:avLst/>
          </a:prstGeom>
          <a:noFill/>
        </p:spPr>
        <p:txBody>
          <a:bodyPr wrap="square" lIns="45720" rIns="45720" anchor="t">
            <a:spAutoFit/>
          </a:bodyPr>
          <a:lstStyle/>
          <a:p>
            <a:pPr algn="l">
              <a:spcAft>
                <a:spcPts val="0"/>
              </a:spcAft>
            </a:pPr>
            <a:r>
              <a:rPr sz="1800" b="1" i="0">
                <a:solidFill>
                  <a:srgbClr val="F6F8F4"/>
                </a:solidFill>
                <a:latin typeface="Aptos"/>
              </a:rPr>
              <a:t>Slow trace-back</a:t>
            </a:r>
          </a:p>
        </p:txBody>
      </p:sp>
      <p:sp>
        <p:nvSpPr>
          <p:cNvPr id="14" name="TextBox 13"/>
          <p:cNvSpPr txBox="1"/>
          <p:nvPr/>
        </p:nvSpPr>
        <p:spPr>
          <a:xfrm>
            <a:off x="4507992" y="2048256"/>
            <a:ext cx="3200400" cy="2862072"/>
          </a:xfrm>
          <a:prstGeom prst="rect">
            <a:avLst/>
          </a:prstGeom>
          <a:noFill/>
        </p:spPr>
        <p:txBody>
          <a:bodyPr wrap="square" lIns="54864" tIns="27432" rIns="54864" bIns="18288">
            <a:spAutoFit/>
          </a:bodyPr>
          <a:lstStyle/>
          <a:p>
            <a:pPr>
              <a:spcAft>
                <a:spcPts val="500"/>
              </a:spcAft>
              <a:defRPr sz="1500">
                <a:solidFill>
                  <a:srgbClr val="B7C6C1"/>
                </a:solidFill>
                <a:latin typeface="Aptos"/>
              </a:defRPr>
            </a:pPr>
            <a:r>
              <a:t>•  Manually joining records makes it harder to see a batch’s full journey quickly.</a:t>
            </a:r>
          </a:p>
          <a:p>
            <a:pPr>
              <a:spcAft>
                <a:spcPts val="500"/>
              </a:spcAft>
              <a:defRPr sz="1500">
                <a:solidFill>
                  <a:srgbClr val="B7C6C1"/>
                </a:solidFill>
                <a:latin typeface="Aptos"/>
              </a:defRPr>
            </a:pPr>
            <a:r>
              <a:t>•  Missing entries can create gaps in the evidence.</a:t>
            </a:r>
          </a:p>
        </p:txBody>
      </p:sp>
      <p:sp>
        <p:nvSpPr>
          <p:cNvPr id="15" name="Rounded Rectangle 14"/>
          <p:cNvSpPr/>
          <p:nvPr/>
        </p:nvSpPr>
        <p:spPr>
          <a:xfrm>
            <a:off x="8092440" y="1481328"/>
            <a:ext cx="3520440" cy="35204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481328"/>
            <a:ext cx="64008" cy="3520440"/>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636776"/>
            <a:ext cx="3172968" cy="320040"/>
          </a:xfrm>
          <a:prstGeom prst="rect">
            <a:avLst/>
          </a:prstGeom>
          <a:noFill/>
        </p:spPr>
        <p:txBody>
          <a:bodyPr wrap="square" lIns="45720" rIns="45720" anchor="t">
            <a:spAutoFit/>
          </a:bodyPr>
          <a:lstStyle/>
          <a:p>
            <a:pPr algn="l">
              <a:spcAft>
                <a:spcPts val="0"/>
              </a:spcAft>
            </a:pPr>
            <a:r>
              <a:rPr sz="1800" b="1" i="0">
                <a:solidFill>
                  <a:srgbClr val="F6F8F4"/>
                </a:solidFill>
                <a:latin typeface="Aptos"/>
              </a:rPr>
              <a:t>Limited early warning</a:t>
            </a:r>
          </a:p>
        </p:txBody>
      </p:sp>
      <p:sp>
        <p:nvSpPr>
          <p:cNvPr id="18" name="TextBox 17"/>
          <p:cNvSpPr txBox="1"/>
          <p:nvPr/>
        </p:nvSpPr>
        <p:spPr>
          <a:xfrm>
            <a:off x="8257031" y="2048256"/>
            <a:ext cx="3200400" cy="2862072"/>
          </a:xfrm>
          <a:prstGeom prst="rect">
            <a:avLst/>
          </a:prstGeom>
          <a:noFill/>
        </p:spPr>
        <p:txBody>
          <a:bodyPr wrap="square" lIns="54864" tIns="27432" rIns="54864" bIns="18288">
            <a:spAutoFit/>
          </a:bodyPr>
          <a:lstStyle/>
          <a:p>
            <a:pPr>
              <a:spcAft>
                <a:spcPts val="500"/>
              </a:spcAft>
              <a:defRPr sz="1500">
                <a:solidFill>
                  <a:srgbClr val="B7C6C1"/>
                </a:solidFill>
                <a:latin typeface="Aptos"/>
              </a:defRPr>
            </a:pPr>
            <a:r>
              <a:t>•  Traceability explains where a batch went.</a:t>
            </a:r>
          </a:p>
          <a:p>
            <a:pPr>
              <a:spcAft>
                <a:spcPts val="500"/>
              </a:spcAft>
              <a:defRPr sz="1500">
                <a:solidFill>
                  <a:srgbClr val="B7C6C1"/>
                </a:solidFill>
                <a:latin typeface="Aptos"/>
              </a:defRPr>
            </a:pPr>
            <a:r>
              <a:t>•  Risk estimation can add a decision-support signal, if appropriately validated.</a:t>
            </a:r>
          </a:p>
        </p:txBody>
      </p:sp>
      <p:sp>
        <p:nvSpPr>
          <p:cNvPr id="19" name="TextBox 18"/>
          <p:cNvSpPr txBox="1"/>
          <p:nvPr/>
        </p:nvSpPr>
        <p:spPr>
          <a:xfrm>
            <a:off x="777240" y="5413248"/>
            <a:ext cx="10789920" cy="502920"/>
          </a:xfrm>
          <a:prstGeom prst="rect">
            <a:avLst/>
          </a:prstGeom>
          <a:noFill/>
        </p:spPr>
        <p:txBody>
          <a:bodyPr wrap="square" lIns="45720" rIns="45720" anchor="t">
            <a:spAutoFit/>
          </a:bodyPr>
          <a:lstStyle/>
          <a:p>
            <a:pPr algn="l">
              <a:spcAft>
                <a:spcPts val="0"/>
              </a:spcAft>
            </a:pPr>
            <a:r>
              <a:rPr sz="1700" b="1" i="0">
                <a:solidFill>
                  <a:srgbClr val="BAE079"/>
                </a:solidFill>
                <a:latin typeface="Aptos"/>
              </a:rPr>
              <a:t>Core question: Can one application connect batch records and demonstrate a risk estimate in the same workflow?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WHAT THE PROTOTYPE AIMS TO DO</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Objectives and project scope</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04</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44752"/>
            <a:ext cx="5394960" cy="45262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719072"/>
            <a:ext cx="4754880" cy="365760"/>
          </a:xfrm>
          <a:prstGeom prst="rect">
            <a:avLst/>
          </a:prstGeom>
          <a:noFill/>
        </p:spPr>
        <p:txBody>
          <a:bodyPr wrap="square" lIns="45720" rIns="45720" anchor="t">
            <a:spAutoFit/>
          </a:bodyPr>
          <a:lstStyle/>
          <a:p>
            <a:pPr algn="l">
              <a:spcAft>
                <a:spcPts val="0"/>
              </a:spcAft>
            </a:pPr>
            <a:r>
              <a:rPr sz="2000" b="1" i="0">
                <a:solidFill>
                  <a:srgbClr val="BAE079"/>
                </a:solidFill>
                <a:latin typeface="Aptos"/>
              </a:rPr>
              <a:t>Objectives</a:t>
            </a:r>
          </a:p>
        </p:txBody>
      </p:sp>
      <p:sp>
        <p:nvSpPr>
          <p:cNvPr id="9" name="TextBox 8"/>
          <p:cNvSpPr txBox="1"/>
          <p:nvPr/>
        </p:nvSpPr>
        <p:spPr>
          <a:xfrm>
            <a:off x="868680" y="2212848"/>
            <a:ext cx="4709160" cy="3291840"/>
          </a:xfrm>
          <a:prstGeom prst="rect">
            <a:avLst/>
          </a:prstGeom>
          <a:noFill/>
        </p:spPr>
        <p:txBody>
          <a:bodyPr wrap="square" lIns="54864" tIns="27432" rIns="54864" bIns="18288">
            <a:spAutoFit/>
          </a:bodyPr>
          <a:lstStyle/>
          <a:p>
            <a:pPr>
              <a:spcAft>
                <a:spcPts val="1000"/>
              </a:spcAft>
              <a:defRPr sz="1500">
                <a:solidFill>
                  <a:srgbClr val="F6F8F4"/>
                </a:solidFill>
                <a:latin typeface="Aptos"/>
              </a:defRPr>
            </a:pPr>
            <a:r>
              <a:t>•  Connect stage records through a batch identifier.</a:t>
            </a:r>
          </a:p>
          <a:p>
            <a:pPr>
              <a:spcAft>
                <a:spcPts val="1000"/>
              </a:spcAft>
              <a:defRPr sz="1500">
                <a:solidFill>
                  <a:srgbClr val="F6F8F4"/>
                </a:solidFill>
                <a:latin typeface="Aptos"/>
              </a:defRPr>
            </a:pPr>
            <a:r>
              <a:t>•  Display farm-to-retail details in one traceability view.</a:t>
            </a:r>
          </a:p>
          <a:p>
            <a:pPr>
              <a:spcAft>
                <a:spcPts val="1000"/>
              </a:spcAft>
              <a:defRPr sz="1500">
                <a:solidFill>
                  <a:srgbClr val="F6F8F4"/>
                </a:solidFill>
                <a:latin typeface="Aptos"/>
              </a:defRPr>
            </a:pPr>
            <a:r>
              <a:t>•  Generate a batch-specific QR code and downloadable image.</a:t>
            </a:r>
          </a:p>
          <a:p>
            <a:pPr>
              <a:spcAft>
                <a:spcPts val="1000"/>
              </a:spcAft>
              <a:defRPr sz="1500">
                <a:solidFill>
                  <a:srgbClr val="F6F8F4"/>
                </a:solidFill>
                <a:latin typeface="Aptos"/>
              </a:defRPr>
            </a:pPr>
            <a:r>
              <a:t>•  Estimate contamination risk from model input conditions.</a:t>
            </a:r>
          </a:p>
          <a:p>
            <a:pPr>
              <a:spcAft>
                <a:spcPts val="1000"/>
              </a:spcAft>
              <a:defRPr sz="1500">
                <a:solidFill>
                  <a:srgbClr val="F6F8F4"/>
                </a:solidFill>
                <a:latin typeface="Aptos"/>
              </a:defRPr>
            </a:pPr>
            <a:r>
              <a:t>•  Persist existing-batch predictions in Risk_Score and show history.</a:t>
            </a:r>
          </a:p>
        </p:txBody>
      </p:sp>
      <p:sp>
        <p:nvSpPr>
          <p:cNvPr id="10" name="Rounded Rectangle 9"/>
          <p:cNvSpPr/>
          <p:nvPr/>
        </p:nvSpPr>
        <p:spPr>
          <a:xfrm>
            <a:off x="6217920" y="1444752"/>
            <a:ext cx="5394960" cy="45262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719072"/>
            <a:ext cx="4663440" cy="365760"/>
          </a:xfrm>
          <a:prstGeom prst="rect">
            <a:avLst/>
          </a:prstGeom>
          <a:noFill/>
        </p:spPr>
        <p:txBody>
          <a:bodyPr wrap="square" lIns="45720" rIns="45720" anchor="t">
            <a:spAutoFit/>
          </a:bodyPr>
          <a:lstStyle/>
          <a:p>
            <a:pPr algn="l">
              <a:spcAft>
                <a:spcPts val="0"/>
              </a:spcAft>
            </a:pPr>
            <a:r>
              <a:rPr sz="2000" b="1" i="0">
                <a:solidFill>
                  <a:srgbClr val="60AEDC"/>
                </a:solidFill>
                <a:latin typeface="Aptos"/>
              </a:rPr>
              <a:t>Scope boundaries</a:t>
            </a:r>
          </a:p>
        </p:txBody>
      </p:sp>
      <p:sp>
        <p:nvSpPr>
          <p:cNvPr id="12" name="TextBox 11"/>
          <p:cNvSpPr txBox="1"/>
          <p:nvPr/>
        </p:nvSpPr>
        <p:spPr>
          <a:xfrm>
            <a:off x="6492240" y="2212848"/>
            <a:ext cx="4709160" cy="3291840"/>
          </a:xfrm>
          <a:prstGeom prst="rect">
            <a:avLst/>
          </a:prstGeom>
          <a:noFill/>
        </p:spPr>
        <p:txBody>
          <a:bodyPr wrap="square" lIns="54864" tIns="27432" rIns="54864" bIns="18288">
            <a:spAutoFit/>
          </a:bodyPr>
          <a:lstStyle/>
          <a:p>
            <a:pPr>
              <a:spcAft>
                <a:spcPts val="1000"/>
              </a:spcAft>
              <a:defRPr sz="1500">
                <a:solidFill>
                  <a:srgbClr val="F6F8F4"/>
                </a:solidFill>
                <a:latin typeface="Aptos"/>
              </a:defRPr>
            </a:pPr>
            <a:r>
              <a:t>•  Prototype built with Python, Streamlit, SQLite and scikit-learn.</a:t>
            </a:r>
          </a:p>
          <a:p>
            <a:pPr>
              <a:spcAft>
                <a:spcPts val="1000"/>
              </a:spcAft>
              <a:defRPr sz="1500">
                <a:solidFill>
                  <a:srgbClr val="F6F8F4"/>
                </a:solidFill>
                <a:latin typeface="Aptos"/>
              </a:defRPr>
            </a:pPr>
            <a:r>
              <a:t>•  Demonstration batch: BATCH-2026-000123 (Tomato, 1,000 kg).</a:t>
            </a:r>
          </a:p>
          <a:p>
            <a:pPr>
              <a:spcAft>
                <a:spcPts val="1000"/>
              </a:spcAft>
              <a:defRPr sz="1500">
                <a:solidFill>
                  <a:srgbClr val="F6F8F4"/>
                </a:solidFill>
                <a:latin typeface="Aptos"/>
              </a:defRPr>
            </a:pPr>
            <a:r>
              <a:t>•  AI training/evaluation data are synthetic.</a:t>
            </a:r>
          </a:p>
          <a:p>
            <a:pPr>
              <a:spcAft>
                <a:spcPts val="1000"/>
              </a:spcAft>
              <a:defRPr sz="1500">
                <a:solidFill>
                  <a:srgbClr val="F6F8F4"/>
                </a:solidFill>
                <a:latin typeface="Aptos"/>
              </a:defRPr>
            </a:pPr>
            <a:r>
              <a:t>•  QR access depends on a reachable URL and running app.</a:t>
            </a:r>
          </a:p>
          <a:p>
            <a:pPr>
              <a:spcAft>
                <a:spcPts val="1000"/>
              </a:spcAft>
              <a:defRPr sz="1500">
                <a:solidFill>
                  <a:srgbClr val="F6F8F4"/>
                </a:solidFill>
                <a:latin typeface="Aptos"/>
              </a:defRPr>
            </a:pPr>
            <a:r>
              <a:t>•  Not intended to approve, reject, or certify real food for sale.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LITERATURE CONTEXT</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Background and related work</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05</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81328"/>
            <a:ext cx="3520440" cy="35661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481328"/>
            <a:ext cx="64008" cy="3566160"/>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Traceability systems</a:t>
            </a:r>
          </a:p>
        </p:txBody>
      </p:sp>
      <p:sp>
        <p:nvSpPr>
          <p:cNvPr id="10" name="TextBox 9"/>
          <p:cNvSpPr txBox="1"/>
          <p:nvPr/>
        </p:nvSpPr>
        <p:spPr>
          <a:xfrm>
            <a:off x="758952" y="2048256"/>
            <a:ext cx="3200400" cy="2907791"/>
          </a:xfrm>
          <a:prstGeom prst="rect">
            <a:avLst/>
          </a:prstGeom>
          <a:noFill/>
        </p:spPr>
        <p:txBody>
          <a:bodyPr wrap="square" lIns="54864" tIns="27432" rIns="54864" bIns="18288">
            <a:spAutoFit/>
          </a:bodyPr>
          <a:lstStyle/>
          <a:p>
            <a:pPr>
              <a:spcAft>
                <a:spcPts val="500"/>
              </a:spcAft>
              <a:defRPr sz="1300">
                <a:solidFill>
                  <a:srgbClr val="B7C6C1"/>
                </a:solidFill>
                <a:latin typeface="Aptos"/>
              </a:defRPr>
            </a:pPr>
            <a:r>
              <a:t>•  Prior work studies how to identify and trace products across supply-chain nodes.</a:t>
            </a:r>
          </a:p>
          <a:p>
            <a:pPr>
              <a:spcAft>
                <a:spcPts val="500"/>
              </a:spcAft>
              <a:defRPr sz="1300">
                <a:solidFill>
                  <a:srgbClr val="B7C6C1"/>
                </a:solidFill>
                <a:latin typeface="Aptos"/>
              </a:defRPr>
            </a:pPr>
            <a:r>
              <a:t>•  Relational databases provide structured records and joins; blockchain has also been explored for tamper-evident records.</a:t>
            </a:r>
          </a:p>
        </p:txBody>
      </p:sp>
      <p:sp>
        <p:nvSpPr>
          <p:cNvPr id="11" name="Rounded Rectangle 10"/>
          <p:cNvSpPr/>
          <p:nvPr/>
        </p:nvSpPr>
        <p:spPr>
          <a:xfrm>
            <a:off x="4343400" y="1481328"/>
            <a:ext cx="3520440" cy="35661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481328"/>
            <a:ext cx="64008" cy="3566160"/>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Data-driven supply chains</a:t>
            </a:r>
          </a:p>
        </p:txBody>
      </p:sp>
      <p:sp>
        <p:nvSpPr>
          <p:cNvPr id="14" name="TextBox 13"/>
          <p:cNvSpPr txBox="1"/>
          <p:nvPr/>
        </p:nvSpPr>
        <p:spPr>
          <a:xfrm>
            <a:off x="4507992" y="2048256"/>
            <a:ext cx="3200400" cy="2907791"/>
          </a:xfrm>
          <a:prstGeom prst="rect">
            <a:avLst/>
          </a:prstGeom>
          <a:noFill/>
        </p:spPr>
        <p:txBody>
          <a:bodyPr wrap="square" lIns="54864" tIns="27432" rIns="54864" bIns="18288">
            <a:spAutoFit/>
          </a:bodyPr>
          <a:lstStyle/>
          <a:p>
            <a:pPr>
              <a:spcAft>
                <a:spcPts val="500"/>
              </a:spcAft>
              <a:defRPr sz="1300">
                <a:solidFill>
                  <a:srgbClr val="B7C6C1"/>
                </a:solidFill>
                <a:latin typeface="Aptos"/>
              </a:defRPr>
            </a:pPr>
            <a:r>
              <a:t>•  Reviews describe how data systems support visibility and management across food supply chains.</a:t>
            </a:r>
          </a:p>
          <a:p>
            <a:pPr>
              <a:spcAft>
                <a:spcPts val="500"/>
              </a:spcAft>
              <a:defRPr sz="1300">
                <a:solidFill>
                  <a:srgbClr val="B7C6C1"/>
                </a:solidFill>
                <a:latin typeface="Aptos"/>
              </a:defRPr>
            </a:pPr>
            <a:r>
              <a:t>•  A traceability record answers “where did this batch go?”</a:t>
            </a:r>
          </a:p>
        </p:txBody>
      </p:sp>
      <p:sp>
        <p:nvSpPr>
          <p:cNvPr id="15" name="Rounded Rectangle 14"/>
          <p:cNvSpPr/>
          <p:nvPr/>
        </p:nvSpPr>
        <p:spPr>
          <a:xfrm>
            <a:off x="8092440" y="1481328"/>
            <a:ext cx="3520440" cy="35661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481328"/>
            <a:ext cx="64008" cy="3566160"/>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Predictive risk work</a:t>
            </a:r>
          </a:p>
        </p:txBody>
      </p:sp>
      <p:sp>
        <p:nvSpPr>
          <p:cNvPr id="18" name="TextBox 17"/>
          <p:cNvSpPr txBox="1"/>
          <p:nvPr/>
        </p:nvSpPr>
        <p:spPr>
          <a:xfrm>
            <a:off x="8257031" y="2048256"/>
            <a:ext cx="3200400" cy="2907791"/>
          </a:xfrm>
          <a:prstGeom prst="rect">
            <a:avLst/>
          </a:prstGeom>
          <a:noFill/>
        </p:spPr>
        <p:txBody>
          <a:bodyPr wrap="square" lIns="54864" tIns="27432" rIns="54864" bIns="18288">
            <a:spAutoFit/>
          </a:bodyPr>
          <a:lstStyle/>
          <a:p>
            <a:pPr>
              <a:spcAft>
                <a:spcPts val="500"/>
              </a:spcAft>
              <a:defRPr sz="1300">
                <a:solidFill>
                  <a:srgbClr val="B7C6C1"/>
                </a:solidFill>
                <a:latin typeface="Aptos"/>
              </a:defRPr>
            </a:pPr>
            <a:r>
              <a:t>•  Machine-learning research explores risk prediction from inspection, product and environmental data.</a:t>
            </a:r>
          </a:p>
          <a:p>
            <a:pPr>
              <a:spcAft>
                <a:spcPts val="500"/>
              </a:spcAft>
              <a:defRPr sz="1300">
                <a:solidFill>
                  <a:srgbClr val="B7C6C1"/>
                </a:solidFill>
                <a:latin typeface="Aptos"/>
              </a:defRPr>
            </a:pPr>
            <a:r>
              <a:t>•  Performance depends on data quality, labels, and validation.</a:t>
            </a:r>
          </a:p>
        </p:txBody>
      </p:sp>
      <p:sp>
        <p:nvSpPr>
          <p:cNvPr id="19" name="TextBox 18"/>
          <p:cNvSpPr txBox="1"/>
          <p:nvPr/>
        </p:nvSpPr>
        <p:spPr>
          <a:xfrm>
            <a:off x="731520" y="5358384"/>
            <a:ext cx="10789920" cy="594360"/>
          </a:xfrm>
          <a:prstGeom prst="rect">
            <a:avLst/>
          </a:prstGeom>
          <a:noFill/>
        </p:spPr>
        <p:txBody>
          <a:bodyPr wrap="square" lIns="45720" rIns="45720" anchor="t">
            <a:spAutoFit/>
          </a:bodyPr>
          <a:lstStyle/>
          <a:p>
            <a:pPr algn="l">
              <a:spcAft>
                <a:spcPts val="0"/>
              </a:spcAft>
            </a:pPr>
            <a:r>
              <a:rPr sz="1600" b="1" i="0">
                <a:solidFill>
                  <a:srgbClr val="BAE079"/>
                </a:solidFill>
                <a:latin typeface="Aptos"/>
              </a:rPr>
              <a:t>Positioning: this project combines a relational traceability workflow with a demonstrative batch-level risk estimate in one application.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FROM RECORDS TO DECISION SUPPORT</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Research gap and project contribution</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06</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81328"/>
            <a:ext cx="5257800" cy="347472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755648"/>
            <a:ext cx="4617720" cy="365760"/>
          </a:xfrm>
          <a:prstGeom prst="rect">
            <a:avLst/>
          </a:prstGeom>
          <a:noFill/>
        </p:spPr>
        <p:txBody>
          <a:bodyPr wrap="square" lIns="45720" rIns="45720" anchor="t">
            <a:spAutoFit/>
          </a:bodyPr>
          <a:lstStyle/>
          <a:p>
            <a:pPr algn="l">
              <a:spcAft>
                <a:spcPts val="0"/>
              </a:spcAft>
            </a:pPr>
            <a:r>
              <a:rPr sz="2000" b="1" i="0">
                <a:solidFill>
                  <a:srgbClr val="60AEDC"/>
                </a:solidFill>
                <a:latin typeface="Aptos"/>
              </a:rPr>
              <a:t>Traceability alone</a:t>
            </a:r>
          </a:p>
        </p:txBody>
      </p:sp>
      <p:sp>
        <p:nvSpPr>
          <p:cNvPr id="9" name="TextBox 8"/>
          <p:cNvSpPr txBox="1"/>
          <p:nvPr/>
        </p:nvSpPr>
        <p:spPr>
          <a:xfrm>
            <a:off x="868680" y="2267712"/>
            <a:ext cx="4572000" cy="2103120"/>
          </a:xfrm>
          <a:prstGeom prst="rect">
            <a:avLst/>
          </a:prstGeom>
          <a:noFill/>
        </p:spPr>
        <p:txBody>
          <a:bodyPr wrap="square" lIns="54864" tIns="27432" rIns="54864" bIns="18288">
            <a:spAutoFit/>
          </a:bodyPr>
          <a:lstStyle/>
          <a:p>
            <a:pPr>
              <a:spcAft>
                <a:spcPts val="1200"/>
              </a:spcAft>
              <a:defRPr sz="1600">
                <a:solidFill>
                  <a:srgbClr val="F6F8F4"/>
                </a:solidFill>
                <a:latin typeface="Aptos"/>
              </a:defRPr>
            </a:pPr>
            <a:r>
              <a:t>•  Stores and retrieves historical events.</a:t>
            </a:r>
          </a:p>
          <a:p>
            <a:pPr>
              <a:spcAft>
                <a:spcPts val="1200"/>
              </a:spcAft>
              <a:defRPr sz="1600">
                <a:solidFill>
                  <a:srgbClr val="F6F8F4"/>
                </a:solidFill>
                <a:latin typeface="Aptos"/>
              </a:defRPr>
            </a:pPr>
            <a:r>
              <a:t>•  Supports trace-back when a problem is reported.</a:t>
            </a:r>
          </a:p>
          <a:p>
            <a:pPr>
              <a:spcAft>
                <a:spcPts val="1200"/>
              </a:spcAft>
              <a:defRPr sz="1600">
                <a:solidFill>
                  <a:srgbClr val="F6F8F4"/>
                </a:solidFill>
                <a:latin typeface="Aptos"/>
              </a:defRPr>
            </a:pPr>
            <a:r>
              <a:t>•  Does not by itself estimate future risk.</a:t>
            </a:r>
          </a:p>
        </p:txBody>
      </p:sp>
      <p:sp>
        <p:nvSpPr>
          <p:cNvPr id="10" name="Rounded Rectangle 9"/>
          <p:cNvSpPr/>
          <p:nvPr/>
        </p:nvSpPr>
        <p:spPr>
          <a:xfrm>
            <a:off x="6172200" y="1481328"/>
            <a:ext cx="5257800" cy="347472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755648"/>
            <a:ext cx="4617720" cy="365760"/>
          </a:xfrm>
          <a:prstGeom prst="rect">
            <a:avLst/>
          </a:prstGeom>
          <a:noFill/>
        </p:spPr>
        <p:txBody>
          <a:bodyPr wrap="square" lIns="45720" rIns="45720" anchor="t">
            <a:spAutoFit/>
          </a:bodyPr>
          <a:lstStyle/>
          <a:p>
            <a:pPr algn="l">
              <a:spcAft>
                <a:spcPts val="0"/>
              </a:spcAft>
            </a:pPr>
            <a:r>
              <a:rPr sz="2000" b="1" i="0">
                <a:solidFill>
                  <a:srgbClr val="BAE079"/>
                </a:solidFill>
                <a:latin typeface="Aptos"/>
              </a:rPr>
              <a:t>Integrated prototype</a:t>
            </a:r>
          </a:p>
        </p:txBody>
      </p:sp>
      <p:sp>
        <p:nvSpPr>
          <p:cNvPr id="12" name="TextBox 11"/>
          <p:cNvSpPr txBox="1"/>
          <p:nvPr/>
        </p:nvSpPr>
        <p:spPr>
          <a:xfrm>
            <a:off x="6446520" y="2267712"/>
            <a:ext cx="4572000" cy="2103120"/>
          </a:xfrm>
          <a:prstGeom prst="rect">
            <a:avLst/>
          </a:prstGeom>
          <a:noFill/>
        </p:spPr>
        <p:txBody>
          <a:bodyPr wrap="square" lIns="54864" tIns="27432" rIns="54864" bIns="18288">
            <a:spAutoFit/>
          </a:bodyPr>
          <a:lstStyle/>
          <a:p>
            <a:pPr>
              <a:spcAft>
                <a:spcPts val="1200"/>
              </a:spcAft>
              <a:defRPr sz="1600">
                <a:solidFill>
                  <a:srgbClr val="F6F8F4"/>
                </a:solidFill>
                <a:latin typeface="Aptos"/>
              </a:defRPr>
            </a:pPr>
            <a:r>
              <a:t>•  Uses a batch ID as the traceability anchor.</a:t>
            </a:r>
          </a:p>
          <a:p>
            <a:pPr>
              <a:spcAft>
                <a:spcPts val="1200"/>
              </a:spcAft>
              <a:defRPr sz="1600">
                <a:solidFill>
                  <a:srgbClr val="F6F8F4"/>
                </a:solidFill>
                <a:latin typeface="Aptos"/>
              </a:defRPr>
            </a:pPr>
            <a:r>
              <a:t>•  Shows recorded conditions alongside an AI estimate.</a:t>
            </a:r>
          </a:p>
          <a:p>
            <a:pPr>
              <a:spcAft>
                <a:spcPts val="1200"/>
              </a:spcAft>
              <a:defRPr sz="1600">
                <a:solidFill>
                  <a:srgbClr val="F6F8F4"/>
                </a:solidFill>
                <a:latin typeface="Aptos"/>
              </a:defRPr>
            </a:pPr>
            <a:r>
              <a:t>•  Saves existing-batch scores for later display.</a:t>
            </a:r>
          </a:p>
        </p:txBody>
      </p:sp>
      <p:sp>
        <p:nvSpPr>
          <p:cNvPr id="13" name="Rounded Rectangle 12"/>
          <p:cNvSpPr/>
          <p:nvPr/>
        </p:nvSpPr>
        <p:spPr>
          <a:xfrm>
            <a:off x="594360" y="5230368"/>
            <a:ext cx="10835640" cy="621792"/>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5376672"/>
            <a:ext cx="10287000" cy="310896"/>
          </a:xfrm>
          <a:prstGeom prst="rect">
            <a:avLst/>
          </a:prstGeom>
          <a:noFill/>
        </p:spPr>
        <p:txBody>
          <a:bodyPr wrap="square" lIns="45720" rIns="45720" anchor="t">
            <a:spAutoFit/>
          </a:bodyPr>
          <a:lstStyle/>
          <a:p>
            <a:pPr algn="l">
              <a:spcAft>
                <a:spcPts val="0"/>
              </a:spcAft>
            </a:pPr>
            <a:r>
              <a:rPr sz="1500" b="1" i="0">
                <a:solidFill>
                  <a:srgbClr val="BAE079"/>
                </a:solidFill>
                <a:latin typeface="Aptos"/>
              </a:rPr>
              <a:t>Contribution: an end-to-end academic demonstration—not a claim of a novel or validated food-safety algorithm.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APPLICATION DESIGN</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Proposed system architecture</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07</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685800" y="1828800"/>
            <a:ext cx="2194560" cy="10515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993392"/>
            <a:ext cx="1920240" cy="274320"/>
          </a:xfrm>
          <a:prstGeom prst="rect">
            <a:avLst/>
          </a:prstGeom>
          <a:noFill/>
        </p:spPr>
        <p:txBody>
          <a:bodyPr wrap="square" lIns="45720" rIns="45720" anchor="t">
            <a:spAutoFit/>
          </a:bodyPr>
          <a:lstStyle/>
          <a:p>
            <a:pPr algn="ctr">
              <a:spcAft>
                <a:spcPts val="0"/>
              </a:spcAft>
            </a:pPr>
            <a:r>
              <a:rPr sz="1700" b="1" i="0">
                <a:solidFill>
                  <a:srgbClr val="5BB869"/>
                </a:solidFill>
                <a:latin typeface="Aptos"/>
              </a:rPr>
              <a:t>User interface</a:t>
            </a:r>
          </a:p>
        </p:txBody>
      </p:sp>
      <p:sp>
        <p:nvSpPr>
          <p:cNvPr id="9" name="TextBox 8"/>
          <p:cNvSpPr txBox="1"/>
          <p:nvPr/>
        </p:nvSpPr>
        <p:spPr>
          <a:xfrm>
            <a:off x="795528" y="2359152"/>
            <a:ext cx="1975104" cy="256032"/>
          </a:xfrm>
          <a:prstGeom prst="rect">
            <a:avLst/>
          </a:prstGeom>
          <a:noFill/>
        </p:spPr>
        <p:txBody>
          <a:bodyPr wrap="square" lIns="45720" rIns="45720" anchor="t">
            <a:spAutoFit/>
          </a:bodyPr>
          <a:lstStyle/>
          <a:p>
            <a:pPr algn="ctr">
              <a:spcAft>
                <a:spcPts val="0"/>
              </a:spcAft>
            </a:pPr>
            <a:r>
              <a:rPr sz="1200" b="0" i="0">
                <a:solidFill>
                  <a:srgbClr val="B7C6C1"/>
                </a:solidFill>
                <a:latin typeface="Aptos"/>
              </a:rPr>
              <a:t>Streamlit pages</a:t>
            </a:r>
          </a:p>
        </p:txBody>
      </p:sp>
      <p:sp>
        <p:nvSpPr>
          <p:cNvPr id="10" name="Rounded Rectangle 9"/>
          <p:cNvSpPr/>
          <p:nvPr/>
        </p:nvSpPr>
        <p:spPr>
          <a:xfrm>
            <a:off x="3337560" y="1828800"/>
            <a:ext cx="2194560" cy="10515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0" y="1993392"/>
            <a:ext cx="1920240" cy="274320"/>
          </a:xfrm>
          <a:prstGeom prst="rect">
            <a:avLst/>
          </a:prstGeom>
          <a:noFill/>
        </p:spPr>
        <p:txBody>
          <a:bodyPr wrap="square" lIns="45720" rIns="45720" anchor="t">
            <a:spAutoFit/>
          </a:bodyPr>
          <a:lstStyle/>
          <a:p>
            <a:pPr algn="ctr">
              <a:spcAft>
                <a:spcPts val="0"/>
              </a:spcAft>
            </a:pPr>
            <a:r>
              <a:rPr sz="1700" b="1" i="0">
                <a:solidFill>
                  <a:srgbClr val="60AEDC"/>
                </a:solidFill>
                <a:latin typeface="Aptos"/>
              </a:rPr>
              <a:t>Application logic</a:t>
            </a:r>
          </a:p>
        </p:txBody>
      </p:sp>
      <p:sp>
        <p:nvSpPr>
          <p:cNvPr id="12" name="TextBox 11"/>
          <p:cNvSpPr txBox="1"/>
          <p:nvPr/>
        </p:nvSpPr>
        <p:spPr>
          <a:xfrm>
            <a:off x="3447288" y="2359152"/>
            <a:ext cx="1975104" cy="256032"/>
          </a:xfrm>
          <a:prstGeom prst="rect">
            <a:avLst/>
          </a:prstGeom>
          <a:noFill/>
        </p:spPr>
        <p:txBody>
          <a:bodyPr wrap="square" lIns="45720" rIns="45720" anchor="t">
            <a:spAutoFit/>
          </a:bodyPr>
          <a:lstStyle/>
          <a:p>
            <a:pPr algn="ctr">
              <a:spcAft>
                <a:spcPts val="0"/>
              </a:spcAft>
            </a:pPr>
            <a:r>
              <a:rPr sz="1200" b="0" i="0">
                <a:solidFill>
                  <a:srgbClr val="B7C6C1"/>
                </a:solidFill>
                <a:latin typeface="Aptos"/>
              </a:rPr>
              <a:t>Python / app.py</a:t>
            </a:r>
          </a:p>
        </p:txBody>
      </p:sp>
      <p:sp>
        <p:nvSpPr>
          <p:cNvPr id="13" name="Rounded Rectangle 12"/>
          <p:cNvSpPr/>
          <p:nvPr/>
        </p:nvSpPr>
        <p:spPr>
          <a:xfrm>
            <a:off x="5989320" y="1828800"/>
            <a:ext cx="2194560" cy="10515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993392"/>
            <a:ext cx="1920240" cy="274320"/>
          </a:xfrm>
          <a:prstGeom prst="rect">
            <a:avLst/>
          </a:prstGeom>
          <a:noFill/>
        </p:spPr>
        <p:txBody>
          <a:bodyPr wrap="square" lIns="45720" rIns="45720" anchor="t">
            <a:spAutoFit/>
          </a:bodyPr>
          <a:lstStyle/>
          <a:p>
            <a:pPr algn="ctr">
              <a:spcAft>
                <a:spcPts val="0"/>
              </a:spcAft>
            </a:pPr>
            <a:r>
              <a:rPr sz="1700" b="1" i="0">
                <a:solidFill>
                  <a:srgbClr val="F4BE53"/>
                </a:solidFill>
                <a:latin typeface="Aptos"/>
              </a:rPr>
              <a:t>Data layer</a:t>
            </a:r>
          </a:p>
        </p:txBody>
      </p:sp>
      <p:sp>
        <p:nvSpPr>
          <p:cNvPr id="15" name="TextBox 14"/>
          <p:cNvSpPr txBox="1"/>
          <p:nvPr/>
        </p:nvSpPr>
        <p:spPr>
          <a:xfrm>
            <a:off x="6099048" y="2359152"/>
            <a:ext cx="1975104" cy="256032"/>
          </a:xfrm>
          <a:prstGeom prst="rect">
            <a:avLst/>
          </a:prstGeom>
          <a:noFill/>
        </p:spPr>
        <p:txBody>
          <a:bodyPr wrap="square" lIns="45720" rIns="45720" anchor="t">
            <a:spAutoFit/>
          </a:bodyPr>
          <a:lstStyle/>
          <a:p>
            <a:pPr algn="ctr">
              <a:spcAft>
                <a:spcPts val="0"/>
              </a:spcAft>
            </a:pPr>
            <a:r>
              <a:rPr sz="1200" b="0" i="0">
                <a:solidFill>
                  <a:srgbClr val="B7C6C1"/>
                </a:solidFill>
                <a:latin typeface="Aptos"/>
              </a:rPr>
              <a:t>SQLite database</a:t>
            </a:r>
          </a:p>
        </p:txBody>
      </p:sp>
      <p:sp>
        <p:nvSpPr>
          <p:cNvPr id="16" name="Rounded Rectangle 15"/>
          <p:cNvSpPr/>
          <p:nvPr/>
        </p:nvSpPr>
        <p:spPr>
          <a:xfrm>
            <a:off x="8641080" y="1828800"/>
            <a:ext cx="2560320" cy="10515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8240" y="1993392"/>
            <a:ext cx="2286000" cy="274320"/>
          </a:xfrm>
          <a:prstGeom prst="rect">
            <a:avLst/>
          </a:prstGeom>
          <a:noFill/>
        </p:spPr>
        <p:txBody>
          <a:bodyPr wrap="square" lIns="45720" rIns="45720" anchor="t">
            <a:spAutoFit/>
          </a:bodyPr>
          <a:lstStyle/>
          <a:p>
            <a:pPr algn="ctr">
              <a:spcAft>
                <a:spcPts val="0"/>
              </a:spcAft>
            </a:pPr>
            <a:r>
              <a:rPr sz="1700" b="1" i="0">
                <a:solidFill>
                  <a:srgbClr val="E6685E"/>
                </a:solidFill>
                <a:latin typeface="Aptos"/>
              </a:rPr>
              <a:t>AI model</a:t>
            </a:r>
          </a:p>
        </p:txBody>
      </p:sp>
      <p:sp>
        <p:nvSpPr>
          <p:cNvPr id="18" name="TextBox 17"/>
          <p:cNvSpPr txBox="1"/>
          <p:nvPr/>
        </p:nvSpPr>
        <p:spPr>
          <a:xfrm>
            <a:off x="8750807" y="2359152"/>
            <a:ext cx="2340863" cy="256032"/>
          </a:xfrm>
          <a:prstGeom prst="rect">
            <a:avLst/>
          </a:prstGeom>
          <a:noFill/>
        </p:spPr>
        <p:txBody>
          <a:bodyPr wrap="square" lIns="45720" rIns="45720" anchor="t">
            <a:spAutoFit/>
          </a:bodyPr>
          <a:lstStyle/>
          <a:p>
            <a:pPr algn="ctr">
              <a:spcAft>
                <a:spcPts val="0"/>
              </a:spcAft>
            </a:pPr>
            <a:r>
              <a:rPr sz="1200" b="0" i="0">
                <a:solidFill>
                  <a:srgbClr val="B7C6C1"/>
                </a:solidFill>
                <a:latin typeface="Aptos"/>
              </a:rPr>
              <a:t>Random Forest</a:t>
            </a:r>
          </a:p>
        </p:txBody>
      </p:sp>
      <p:cxnSp>
        <p:nvCxnSpPr>
          <p:cNvPr id="19" name="Connector 18"/>
          <p:cNvCxnSpPr/>
          <p:nvPr/>
        </p:nvCxnSpPr>
        <p:spPr>
          <a:xfrm>
            <a:off x="2880360" y="2359152"/>
            <a:ext cx="457200" cy="0"/>
          </a:xfrm>
          <a:prstGeom prst="line">
            <a:avLst/>
          </a:prstGeom>
          <a:ln w="2540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532120" y="2359152"/>
            <a:ext cx="457200" cy="0"/>
          </a:xfrm>
          <a:prstGeom prst="line">
            <a:avLst/>
          </a:prstGeom>
          <a:ln w="2540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183879" y="2359152"/>
            <a:ext cx="457201" cy="0"/>
          </a:xfrm>
          <a:prstGeom prst="line">
            <a:avLst/>
          </a:prstGeom>
          <a:ln w="25400">
            <a:solidFill>
              <a:srgbClr val="5BB869"/>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4400" y="3794760"/>
            <a:ext cx="10241280" cy="109728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4041648"/>
            <a:ext cx="9784080" cy="274320"/>
          </a:xfrm>
          <a:prstGeom prst="rect">
            <a:avLst/>
          </a:prstGeom>
          <a:noFill/>
        </p:spPr>
        <p:txBody>
          <a:bodyPr wrap="square" lIns="45720" rIns="45720" anchor="t">
            <a:spAutoFit/>
          </a:bodyPr>
          <a:lstStyle/>
          <a:p>
            <a:pPr algn="ctr">
              <a:spcAft>
                <a:spcPts val="0"/>
              </a:spcAft>
            </a:pPr>
            <a:r>
              <a:rPr sz="1700" b="1" i="0">
                <a:solidFill>
                  <a:srgbClr val="BAE079"/>
                </a:solidFill>
                <a:latin typeface="Aptos"/>
              </a:rPr>
              <a:t>Outputs</a:t>
            </a:r>
          </a:p>
        </p:txBody>
      </p:sp>
      <p:sp>
        <p:nvSpPr>
          <p:cNvPr id="24" name="TextBox 23"/>
          <p:cNvSpPr txBox="1"/>
          <p:nvPr/>
        </p:nvSpPr>
        <p:spPr>
          <a:xfrm>
            <a:off x="1143000" y="4416552"/>
            <a:ext cx="9784080" cy="256032"/>
          </a:xfrm>
          <a:prstGeom prst="rect">
            <a:avLst/>
          </a:prstGeom>
          <a:noFill/>
        </p:spPr>
        <p:txBody>
          <a:bodyPr wrap="square" lIns="45720" rIns="45720" anchor="t">
            <a:spAutoFit/>
          </a:bodyPr>
          <a:lstStyle/>
          <a:p>
            <a:pPr algn="ctr">
              <a:spcAft>
                <a:spcPts val="0"/>
              </a:spcAft>
            </a:pPr>
            <a:r>
              <a:rPr sz="1300" b="0" i="0">
                <a:solidFill>
                  <a:srgbClr val="F6F8F4"/>
                </a:solidFill>
                <a:latin typeface="Aptos"/>
              </a:rPr>
              <a:t>Batch journey  •  QR entry point  •  Risk probability/class  •  Saved risk history  •  Evaluation metrics</a:t>
            </a:r>
          </a:p>
        </p:txBody>
      </p:sp>
      <p:sp>
        <p:nvSpPr>
          <p:cNvPr id="25" name="TextBox 24"/>
          <p:cNvSpPr txBox="1"/>
          <p:nvPr/>
        </p:nvSpPr>
        <p:spPr>
          <a:xfrm>
            <a:off x="777240" y="5394960"/>
            <a:ext cx="10698480" cy="502920"/>
          </a:xfrm>
          <a:prstGeom prst="rect">
            <a:avLst/>
          </a:prstGeom>
          <a:noFill/>
        </p:spPr>
        <p:txBody>
          <a:bodyPr wrap="square" lIns="45720" rIns="45720" anchor="t">
            <a:spAutoFit/>
          </a:bodyPr>
          <a:lstStyle/>
          <a:p>
            <a:pPr algn="l">
              <a:spcAft>
                <a:spcPts val="0"/>
              </a:spcAft>
            </a:pPr>
            <a:r>
              <a:rPr sz="1500" b="0" i="0">
                <a:solidFill>
                  <a:srgbClr val="B7C6C1"/>
                </a:solidFill>
                <a:latin typeface="Aptos"/>
              </a:rPr>
              <a:t>Data flow: recorded batch conditions → feature preparation → trained model → estimated probability → optional save to Risk_Score.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IMPLEMENTATION</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Technology stack and project files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08</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658368" y="1417320"/>
            <a:ext cx="219456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508760"/>
            <a:ext cx="1874519" cy="256032"/>
          </a:xfrm>
          <a:prstGeom prst="rect">
            <a:avLst/>
          </a:prstGeom>
          <a:noFill/>
        </p:spPr>
        <p:txBody>
          <a:bodyPr wrap="square" lIns="45720" rIns="45720" anchor="t">
            <a:spAutoFit/>
          </a:bodyPr>
          <a:lstStyle/>
          <a:p>
            <a:pPr algn="l">
              <a:spcAft>
                <a:spcPts val="0"/>
              </a:spcAft>
            </a:pPr>
            <a:r>
              <a:rPr sz="1400" b="1" i="0">
                <a:solidFill>
                  <a:srgbClr val="BAE079"/>
                </a:solidFill>
                <a:latin typeface="Aptos"/>
              </a:rPr>
              <a:t>Python</a:t>
            </a:r>
          </a:p>
        </p:txBody>
      </p:sp>
      <p:sp>
        <p:nvSpPr>
          <p:cNvPr id="9" name="TextBox 8"/>
          <p:cNvSpPr txBox="1"/>
          <p:nvPr/>
        </p:nvSpPr>
        <p:spPr>
          <a:xfrm>
            <a:off x="3108960" y="1508760"/>
            <a:ext cx="8138160" cy="27432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Application and model-training language</a:t>
            </a:r>
          </a:p>
        </p:txBody>
      </p:sp>
      <p:sp>
        <p:nvSpPr>
          <p:cNvPr id="10" name="Rectangle 9"/>
          <p:cNvSpPr/>
          <p:nvPr/>
        </p:nvSpPr>
        <p:spPr>
          <a:xfrm>
            <a:off x="822960" y="1911095"/>
            <a:ext cx="22860" cy="109728"/>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58368" y="2039112"/>
            <a:ext cx="219456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2130552"/>
            <a:ext cx="1874519" cy="256032"/>
          </a:xfrm>
          <a:prstGeom prst="rect">
            <a:avLst/>
          </a:prstGeom>
          <a:noFill/>
        </p:spPr>
        <p:txBody>
          <a:bodyPr wrap="square" lIns="45720" rIns="45720" anchor="t">
            <a:spAutoFit/>
          </a:bodyPr>
          <a:lstStyle/>
          <a:p>
            <a:pPr algn="l">
              <a:spcAft>
                <a:spcPts val="0"/>
              </a:spcAft>
            </a:pPr>
            <a:r>
              <a:rPr sz="1400" b="1" i="0">
                <a:solidFill>
                  <a:srgbClr val="BAE079"/>
                </a:solidFill>
                <a:latin typeface="Aptos"/>
              </a:rPr>
              <a:t>Streamlit</a:t>
            </a:r>
          </a:p>
        </p:txBody>
      </p:sp>
      <p:sp>
        <p:nvSpPr>
          <p:cNvPr id="13" name="TextBox 12"/>
          <p:cNvSpPr txBox="1"/>
          <p:nvPr/>
        </p:nvSpPr>
        <p:spPr>
          <a:xfrm>
            <a:off x="3108960" y="2130552"/>
            <a:ext cx="8138160" cy="27432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Interactive multi-page web interface</a:t>
            </a:r>
          </a:p>
        </p:txBody>
      </p:sp>
      <p:sp>
        <p:nvSpPr>
          <p:cNvPr id="14" name="Rectangle 13"/>
          <p:cNvSpPr/>
          <p:nvPr/>
        </p:nvSpPr>
        <p:spPr>
          <a:xfrm>
            <a:off x="822960" y="2532888"/>
            <a:ext cx="22860" cy="109728"/>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8368" y="2660904"/>
            <a:ext cx="219456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2752344"/>
            <a:ext cx="1874519" cy="256032"/>
          </a:xfrm>
          <a:prstGeom prst="rect">
            <a:avLst/>
          </a:prstGeom>
          <a:noFill/>
        </p:spPr>
        <p:txBody>
          <a:bodyPr wrap="square" lIns="45720" rIns="45720" anchor="t">
            <a:spAutoFit/>
          </a:bodyPr>
          <a:lstStyle/>
          <a:p>
            <a:pPr algn="l">
              <a:spcAft>
                <a:spcPts val="0"/>
              </a:spcAft>
            </a:pPr>
            <a:r>
              <a:rPr sz="1400" b="1" i="0">
                <a:solidFill>
                  <a:srgbClr val="BAE079"/>
                </a:solidFill>
                <a:latin typeface="Aptos"/>
              </a:rPr>
              <a:t>SQLite</a:t>
            </a:r>
          </a:p>
        </p:txBody>
      </p:sp>
      <p:sp>
        <p:nvSpPr>
          <p:cNvPr id="17" name="TextBox 16"/>
          <p:cNvSpPr txBox="1"/>
          <p:nvPr/>
        </p:nvSpPr>
        <p:spPr>
          <a:xfrm>
            <a:off x="3108960" y="2752344"/>
            <a:ext cx="8138160" cy="27432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Local relational database: food_traceability.db</a:t>
            </a:r>
          </a:p>
        </p:txBody>
      </p:sp>
      <p:sp>
        <p:nvSpPr>
          <p:cNvPr id="18" name="Rectangle 17"/>
          <p:cNvSpPr/>
          <p:nvPr/>
        </p:nvSpPr>
        <p:spPr>
          <a:xfrm>
            <a:off x="822960" y="3154680"/>
            <a:ext cx="22860" cy="109728"/>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8368" y="3282696"/>
            <a:ext cx="219456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3374136"/>
            <a:ext cx="1874519" cy="256032"/>
          </a:xfrm>
          <a:prstGeom prst="rect">
            <a:avLst/>
          </a:prstGeom>
          <a:noFill/>
        </p:spPr>
        <p:txBody>
          <a:bodyPr wrap="square" lIns="45720" rIns="45720" anchor="t">
            <a:spAutoFit/>
          </a:bodyPr>
          <a:lstStyle/>
          <a:p>
            <a:pPr algn="l">
              <a:spcAft>
                <a:spcPts val="0"/>
              </a:spcAft>
            </a:pPr>
            <a:r>
              <a:rPr sz="1400" b="1" i="0">
                <a:solidFill>
                  <a:srgbClr val="BAE079"/>
                </a:solidFill>
                <a:latin typeface="Aptos"/>
              </a:rPr>
              <a:t>pandas</a:t>
            </a:r>
          </a:p>
        </p:txBody>
      </p:sp>
      <p:sp>
        <p:nvSpPr>
          <p:cNvPr id="21" name="TextBox 20"/>
          <p:cNvSpPr txBox="1"/>
          <p:nvPr/>
        </p:nvSpPr>
        <p:spPr>
          <a:xfrm>
            <a:off x="3108960" y="3374136"/>
            <a:ext cx="8138160" cy="27432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Tabular data handling</a:t>
            </a:r>
          </a:p>
        </p:txBody>
      </p:sp>
      <p:sp>
        <p:nvSpPr>
          <p:cNvPr id="22" name="Rectangle 21"/>
          <p:cNvSpPr/>
          <p:nvPr/>
        </p:nvSpPr>
        <p:spPr>
          <a:xfrm>
            <a:off x="822960" y="3776472"/>
            <a:ext cx="22860" cy="109728"/>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8368" y="3904488"/>
            <a:ext cx="219456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3995928"/>
            <a:ext cx="1874519" cy="256032"/>
          </a:xfrm>
          <a:prstGeom prst="rect">
            <a:avLst/>
          </a:prstGeom>
          <a:noFill/>
        </p:spPr>
        <p:txBody>
          <a:bodyPr wrap="square" lIns="45720" rIns="45720" anchor="t">
            <a:spAutoFit/>
          </a:bodyPr>
          <a:lstStyle/>
          <a:p>
            <a:pPr algn="l">
              <a:spcAft>
                <a:spcPts val="0"/>
              </a:spcAft>
            </a:pPr>
            <a:r>
              <a:rPr sz="1400" b="1" i="0">
                <a:solidFill>
                  <a:srgbClr val="BAE079"/>
                </a:solidFill>
                <a:latin typeface="Aptos"/>
              </a:rPr>
              <a:t>scikit-learn</a:t>
            </a:r>
          </a:p>
        </p:txBody>
      </p:sp>
      <p:sp>
        <p:nvSpPr>
          <p:cNvPr id="25" name="TextBox 24"/>
          <p:cNvSpPr txBox="1"/>
          <p:nvPr/>
        </p:nvSpPr>
        <p:spPr>
          <a:xfrm>
            <a:off x="3108960" y="3995928"/>
            <a:ext cx="8138160" cy="27432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Random Forest classifier and evaluation</a:t>
            </a:r>
          </a:p>
        </p:txBody>
      </p:sp>
      <p:sp>
        <p:nvSpPr>
          <p:cNvPr id="26" name="Rectangle 25"/>
          <p:cNvSpPr/>
          <p:nvPr/>
        </p:nvSpPr>
        <p:spPr>
          <a:xfrm>
            <a:off x="822960" y="4398264"/>
            <a:ext cx="22860" cy="109728"/>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58368" y="4526280"/>
            <a:ext cx="219456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 y="4617720"/>
            <a:ext cx="1874519" cy="256032"/>
          </a:xfrm>
          <a:prstGeom prst="rect">
            <a:avLst/>
          </a:prstGeom>
          <a:noFill/>
        </p:spPr>
        <p:txBody>
          <a:bodyPr wrap="square" lIns="45720" rIns="45720" anchor="t">
            <a:spAutoFit/>
          </a:bodyPr>
          <a:lstStyle/>
          <a:p>
            <a:pPr algn="l">
              <a:spcAft>
                <a:spcPts val="0"/>
              </a:spcAft>
            </a:pPr>
            <a:r>
              <a:rPr sz="1400" b="1" i="0">
                <a:solidFill>
                  <a:srgbClr val="BAE079"/>
                </a:solidFill>
                <a:latin typeface="Aptos"/>
              </a:rPr>
              <a:t>joblib + JSON</a:t>
            </a:r>
          </a:p>
        </p:txBody>
      </p:sp>
      <p:sp>
        <p:nvSpPr>
          <p:cNvPr id="29" name="TextBox 28"/>
          <p:cNvSpPr txBox="1"/>
          <p:nvPr/>
        </p:nvSpPr>
        <p:spPr>
          <a:xfrm>
            <a:off x="3108960" y="4617720"/>
            <a:ext cx="8138160" cy="27432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Persist trained model and metric results</a:t>
            </a:r>
          </a:p>
        </p:txBody>
      </p:sp>
      <p:sp>
        <p:nvSpPr>
          <p:cNvPr id="30" name="Rectangle 29"/>
          <p:cNvSpPr/>
          <p:nvPr/>
        </p:nvSpPr>
        <p:spPr>
          <a:xfrm>
            <a:off x="822960" y="5020056"/>
            <a:ext cx="22860" cy="109728"/>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8368" y="5148072"/>
            <a:ext cx="219456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4672" y="5239512"/>
            <a:ext cx="1874519" cy="256032"/>
          </a:xfrm>
          <a:prstGeom prst="rect">
            <a:avLst/>
          </a:prstGeom>
          <a:noFill/>
        </p:spPr>
        <p:txBody>
          <a:bodyPr wrap="square" lIns="45720" rIns="45720" anchor="t">
            <a:spAutoFit/>
          </a:bodyPr>
          <a:lstStyle/>
          <a:p>
            <a:pPr algn="l">
              <a:spcAft>
                <a:spcPts val="0"/>
              </a:spcAft>
            </a:pPr>
            <a:r>
              <a:rPr sz="1400" b="1" i="0">
                <a:solidFill>
                  <a:srgbClr val="BAE079"/>
                </a:solidFill>
                <a:latin typeface="Aptos"/>
              </a:rPr>
              <a:t>qrcode</a:t>
            </a:r>
          </a:p>
        </p:txBody>
      </p:sp>
      <p:sp>
        <p:nvSpPr>
          <p:cNvPr id="33" name="TextBox 32"/>
          <p:cNvSpPr txBox="1"/>
          <p:nvPr/>
        </p:nvSpPr>
        <p:spPr>
          <a:xfrm>
            <a:off x="3108960" y="5239512"/>
            <a:ext cx="8138160" cy="27432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Generate a QR image for a batch-specific URL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RELATIONAL MODEL</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Database design: conceptual ER view</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09</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4434840" y="2212848"/>
            <a:ext cx="2743200" cy="914400"/>
          </a:xfrm>
          <a:prstGeom prst="roundRect">
            <a:avLst>
              <a:gd name="adj" fmla="val 12000"/>
            </a:avLst>
          </a:prstGeom>
          <a:solidFill>
            <a:srgbClr val="255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2395728"/>
            <a:ext cx="2286000" cy="256032"/>
          </a:xfrm>
          <a:prstGeom prst="rect">
            <a:avLst/>
          </a:prstGeom>
          <a:noFill/>
        </p:spPr>
        <p:txBody>
          <a:bodyPr wrap="square" lIns="45720" rIns="45720" anchor="t">
            <a:spAutoFit/>
          </a:bodyPr>
          <a:lstStyle/>
          <a:p>
            <a:pPr algn="ctr">
              <a:spcAft>
                <a:spcPts val="0"/>
              </a:spcAft>
            </a:pPr>
            <a:r>
              <a:rPr sz="1900" b="1" i="0">
                <a:solidFill>
                  <a:srgbClr val="F6F8F4"/>
                </a:solidFill>
                <a:latin typeface="Aptos"/>
              </a:rPr>
              <a:t>BATCH</a:t>
            </a:r>
          </a:p>
        </p:txBody>
      </p:sp>
      <p:sp>
        <p:nvSpPr>
          <p:cNvPr id="9" name="TextBox 8"/>
          <p:cNvSpPr txBox="1"/>
          <p:nvPr/>
        </p:nvSpPr>
        <p:spPr>
          <a:xfrm>
            <a:off x="4645152" y="2706624"/>
            <a:ext cx="2331720" cy="201168"/>
          </a:xfrm>
          <a:prstGeom prst="rect">
            <a:avLst/>
          </a:prstGeom>
          <a:noFill/>
        </p:spPr>
        <p:txBody>
          <a:bodyPr wrap="square" lIns="45720" rIns="45720" anchor="t">
            <a:spAutoFit/>
          </a:bodyPr>
          <a:lstStyle/>
          <a:p>
            <a:pPr algn="ctr">
              <a:spcAft>
                <a:spcPts val="0"/>
              </a:spcAft>
            </a:pPr>
            <a:r>
              <a:rPr sz="1200" b="1" i="0">
                <a:solidFill>
                  <a:srgbClr val="BAE079"/>
                </a:solidFill>
                <a:latin typeface="Aptos"/>
              </a:rPr>
              <a:t>batch_id (PK)</a:t>
            </a:r>
          </a:p>
        </p:txBody>
      </p:sp>
      <p:sp>
        <p:nvSpPr>
          <p:cNvPr id="10" name="Rounded Rectangle 9"/>
          <p:cNvSpPr/>
          <p:nvPr/>
        </p:nvSpPr>
        <p:spPr>
          <a:xfrm>
            <a:off x="640080" y="1600200"/>
            <a:ext cx="2286000" cy="7772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19" y="1719072"/>
            <a:ext cx="2103120" cy="246888"/>
          </a:xfrm>
          <a:prstGeom prst="rect">
            <a:avLst/>
          </a:prstGeom>
          <a:noFill/>
        </p:spPr>
        <p:txBody>
          <a:bodyPr wrap="square" lIns="45720" rIns="45720" anchor="t">
            <a:spAutoFit/>
          </a:bodyPr>
          <a:lstStyle/>
          <a:p>
            <a:pPr algn="ctr">
              <a:spcAft>
                <a:spcPts val="0"/>
              </a:spcAft>
            </a:pPr>
            <a:r>
              <a:rPr sz="1300" b="1" i="0">
                <a:solidFill>
                  <a:srgbClr val="5BB869"/>
                </a:solidFill>
                <a:latin typeface="Aptos"/>
              </a:rPr>
              <a:t>FARMER / ORIGIN</a:t>
            </a:r>
          </a:p>
        </p:txBody>
      </p:sp>
      <p:sp>
        <p:nvSpPr>
          <p:cNvPr id="12" name="TextBox 11"/>
          <p:cNvSpPr txBox="1"/>
          <p:nvPr/>
        </p:nvSpPr>
        <p:spPr>
          <a:xfrm>
            <a:off x="731519" y="2039112"/>
            <a:ext cx="2103120" cy="201168"/>
          </a:xfrm>
          <a:prstGeom prst="rect">
            <a:avLst/>
          </a:prstGeom>
          <a:noFill/>
        </p:spPr>
        <p:txBody>
          <a:bodyPr wrap="square" lIns="45720" rIns="45720" anchor="t">
            <a:spAutoFit/>
          </a:bodyPr>
          <a:lstStyle/>
          <a:p>
            <a:pPr algn="ctr">
              <a:spcAft>
                <a:spcPts val="0"/>
              </a:spcAft>
            </a:pPr>
            <a:r>
              <a:rPr sz="1000" b="0" i="0">
                <a:solidFill>
                  <a:srgbClr val="B7C6C1"/>
                </a:solidFill>
                <a:latin typeface="Aptos"/>
              </a:rPr>
              <a:t>farmer, location, harvest</a:t>
            </a:r>
          </a:p>
        </p:txBody>
      </p:sp>
      <p:sp>
        <p:nvSpPr>
          <p:cNvPr id="13" name="Rounded Rectangle 12"/>
          <p:cNvSpPr/>
          <p:nvPr/>
        </p:nvSpPr>
        <p:spPr>
          <a:xfrm>
            <a:off x="640080" y="2971800"/>
            <a:ext cx="2286000" cy="7772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19" y="3090672"/>
            <a:ext cx="2103120" cy="246888"/>
          </a:xfrm>
          <a:prstGeom prst="rect">
            <a:avLst/>
          </a:prstGeom>
          <a:noFill/>
        </p:spPr>
        <p:txBody>
          <a:bodyPr wrap="square" lIns="45720" rIns="45720" anchor="t">
            <a:spAutoFit/>
          </a:bodyPr>
          <a:lstStyle/>
          <a:p>
            <a:pPr algn="ctr">
              <a:spcAft>
                <a:spcPts val="0"/>
              </a:spcAft>
            </a:pPr>
            <a:r>
              <a:rPr sz="1300" b="1" i="0">
                <a:solidFill>
                  <a:srgbClr val="5BB869"/>
                </a:solidFill>
                <a:latin typeface="Aptos"/>
              </a:rPr>
              <a:t>COLLECTION</a:t>
            </a:r>
          </a:p>
        </p:txBody>
      </p:sp>
      <p:sp>
        <p:nvSpPr>
          <p:cNvPr id="15" name="TextBox 14"/>
          <p:cNvSpPr txBox="1"/>
          <p:nvPr/>
        </p:nvSpPr>
        <p:spPr>
          <a:xfrm>
            <a:off x="731519" y="3410712"/>
            <a:ext cx="2103120" cy="201168"/>
          </a:xfrm>
          <a:prstGeom prst="rect">
            <a:avLst/>
          </a:prstGeom>
          <a:noFill/>
        </p:spPr>
        <p:txBody>
          <a:bodyPr wrap="square" lIns="45720" rIns="45720" anchor="t">
            <a:spAutoFit/>
          </a:bodyPr>
          <a:lstStyle/>
          <a:p>
            <a:pPr algn="ctr">
              <a:spcAft>
                <a:spcPts val="0"/>
              </a:spcAft>
            </a:pPr>
            <a:r>
              <a:rPr sz="1000" b="0" i="0">
                <a:solidFill>
                  <a:srgbClr val="B7C6C1"/>
                </a:solidFill>
                <a:latin typeface="Aptos"/>
              </a:rPr>
              <a:t>date, grade, centre</a:t>
            </a:r>
          </a:p>
        </p:txBody>
      </p:sp>
      <p:sp>
        <p:nvSpPr>
          <p:cNvPr id="16" name="Rounded Rectangle 15"/>
          <p:cNvSpPr/>
          <p:nvPr/>
        </p:nvSpPr>
        <p:spPr>
          <a:xfrm>
            <a:off x="640080" y="4343400"/>
            <a:ext cx="2286000" cy="7772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19" y="4462272"/>
            <a:ext cx="2103120" cy="246888"/>
          </a:xfrm>
          <a:prstGeom prst="rect">
            <a:avLst/>
          </a:prstGeom>
          <a:noFill/>
        </p:spPr>
        <p:txBody>
          <a:bodyPr wrap="square" lIns="45720" rIns="45720" anchor="t">
            <a:spAutoFit/>
          </a:bodyPr>
          <a:lstStyle/>
          <a:p>
            <a:pPr algn="ctr">
              <a:spcAft>
                <a:spcPts val="0"/>
              </a:spcAft>
            </a:pPr>
            <a:r>
              <a:rPr sz="1300" b="1" i="0">
                <a:solidFill>
                  <a:srgbClr val="5BB869"/>
                </a:solidFill>
                <a:latin typeface="Aptos"/>
              </a:rPr>
              <a:t>PROCESSING</a:t>
            </a:r>
          </a:p>
        </p:txBody>
      </p:sp>
      <p:sp>
        <p:nvSpPr>
          <p:cNvPr id="18" name="TextBox 17"/>
          <p:cNvSpPr txBox="1"/>
          <p:nvPr/>
        </p:nvSpPr>
        <p:spPr>
          <a:xfrm>
            <a:off x="731519" y="4782312"/>
            <a:ext cx="2103120" cy="201168"/>
          </a:xfrm>
          <a:prstGeom prst="rect">
            <a:avLst/>
          </a:prstGeom>
          <a:noFill/>
        </p:spPr>
        <p:txBody>
          <a:bodyPr wrap="square" lIns="45720" rIns="45720" anchor="t">
            <a:spAutoFit/>
          </a:bodyPr>
          <a:lstStyle/>
          <a:p>
            <a:pPr algn="ctr">
              <a:spcAft>
                <a:spcPts val="0"/>
              </a:spcAft>
            </a:pPr>
            <a:r>
              <a:rPr sz="1000" b="0" i="0">
                <a:solidFill>
                  <a:srgbClr val="B7C6C1"/>
                </a:solidFill>
                <a:latin typeface="Aptos"/>
              </a:rPr>
              <a:t>plant, process, output</a:t>
            </a:r>
          </a:p>
        </p:txBody>
      </p:sp>
      <p:sp>
        <p:nvSpPr>
          <p:cNvPr id="19" name="Rounded Rectangle 18"/>
          <p:cNvSpPr/>
          <p:nvPr/>
        </p:nvSpPr>
        <p:spPr>
          <a:xfrm>
            <a:off x="9098280" y="1600200"/>
            <a:ext cx="2331720" cy="7772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89719" y="1719072"/>
            <a:ext cx="2148839" cy="246888"/>
          </a:xfrm>
          <a:prstGeom prst="rect">
            <a:avLst/>
          </a:prstGeom>
          <a:noFill/>
        </p:spPr>
        <p:txBody>
          <a:bodyPr wrap="square" lIns="45720" rIns="45720" anchor="t">
            <a:spAutoFit/>
          </a:bodyPr>
          <a:lstStyle/>
          <a:p>
            <a:pPr algn="ctr">
              <a:spcAft>
                <a:spcPts val="0"/>
              </a:spcAft>
            </a:pPr>
            <a:r>
              <a:rPr sz="1300" b="1" i="0">
                <a:solidFill>
                  <a:srgbClr val="5BB869"/>
                </a:solidFill>
                <a:latin typeface="Aptos"/>
              </a:rPr>
              <a:t>STORAGE</a:t>
            </a:r>
          </a:p>
        </p:txBody>
      </p:sp>
      <p:sp>
        <p:nvSpPr>
          <p:cNvPr id="21" name="TextBox 20"/>
          <p:cNvSpPr txBox="1"/>
          <p:nvPr/>
        </p:nvSpPr>
        <p:spPr>
          <a:xfrm>
            <a:off x="9189719" y="2039112"/>
            <a:ext cx="2148839" cy="201168"/>
          </a:xfrm>
          <a:prstGeom prst="rect">
            <a:avLst/>
          </a:prstGeom>
          <a:noFill/>
        </p:spPr>
        <p:txBody>
          <a:bodyPr wrap="square" lIns="45720" rIns="45720" anchor="t">
            <a:spAutoFit/>
          </a:bodyPr>
          <a:lstStyle/>
          <a:p>
            <a:pPr algn="ctr">
              <a:spcAft>
                <a:spcPts val="0"/>
              </a:spcAft>
            </a:pPr>
            <a:r>
              <a:rPr sz="1000" b="0" i="0">
                <a:solidFill>
                  <a:srgbClr val="B7C6C1"/>
                </a:solidFill>
                <a:latin typeface="Aptos"/>
              </a:rPr>
              <a:t>dates, temperature, humidity</a:t>
            </a:r>
          </a:p>
        </p:txBody>
      </p:sp>
      <p:sp>
        <p:nvSpPr>
          <p:cNvPr id="22" name="Rounded Rectangle 21"/>
          <p:cNvSpPr/>
          <p:nvPr/>
        </p:nvSpPr>
        <p:spPr>
          <a:xfrm>
            <a:off x="9098280" y="2971800"/>
            <a:ext cx="2331720" cy="7772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9719" y="3090672"/>
            <a:ext cx="2148839" cy="246888"/>
          </a:xfrm>
          <a:prstGeom prst="rect">
            <a:avLst/>
          </a:prstGeom>
          <a:noFill/>
        </p:spPr>
        <p:txBody>
          <a:bodyPr wrap="square" lIns="45720" rIns="45720" anchor="t">
            <a:spAutoFit/>
          </a:bodyPr>
          <a:lstStyle/>
          <a:p>
            <a:pPr algn="ctr">
              <a:spcAft>
                <a:spcPts val="0"/>
              </a:spcAft>
            </a:pPr>
            <a:r>
              <a:rPr sz="1300" b="1" i="0">
                <a:solidFill>
                  <a:srgbClr val="5BB869"/>
                </a:solidFill>
                <a:latin typeface="Aptos"/>
              </a:rPr>
              <a:t>TRANSPORT / RETAIL</a:t>
            </a:r>
          </a:p>
        </p:txBody>
      </p:sp>
      <p:sp>
        <p:nvSpPr>
          <p:cNvPr id="24" name="TextBox 23"/>
          <p:cNvSpPr txBox="1"/>
          <p:nvPr/>
        </p:nvSpPr>
        <p:spPr>
          <a:xfrm>
            <a:off x="9189719" y="3410712"/>
            <a:ext cx="2148839" cy="201168"/>
          </a:xfrm>
          <a:prstGeom prst="rect">
            <a:avLst/>
          </a:prstGeom>
          <a:noFill/>
        </p:spPr>
        <p:txBody>
          <a:bodyPr wrap="square" lIns="45720" rIns="45720" anchor="t">
            <a:spAutoFit/>
          </a:bodyPr>
          <a:lstStyle/>
          <a:p>
            <a:pPr algn="ctr">
              <a:spcAft>
                <a:spcPts val="0"/>
              </a:spcAft>
            </a:pPr>
            <a:r>
              <a:rPr sz="1000" b="0" i="0">
                <a:solidFill>
                  <a:srgbClr val="B7C6C1"/>
                </a:solidFill>
                <a:latin typeface="Aptos"/>
              </a:rPr>
              <a:t>route, transit, store</a:t>
            </a:r>
          </a:p>
        </p:txBody>
      </p:sp>
      <p:sp>
        <p:nvSpPr>
          <p:cNvPr id="25" name="Rounded Rectangle 24"/>
          <p:cNvSpPr/>
          <p:nvPr/>
        </p:nvSpPr>
        <p:spPr>
          <a:xfrm>
            <a:off x="9098280" y="4343400"/>
            <a:ext cx="2331720" cy="7772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89719" y="4462272"/>
            <a:ext cx="2148839" cy="246888"/>
          </a:xfrm>
          <a:prstGeom prst="rect">
            <a:avLst/>
          </a:prstGeom>
          <a:noFill/>
        </p:spPr>
        <p:txBody>
          <a:bodyPr wrap="square" lIns="45720" rIns="45720" anchor="t">
            <a:spAutoFit/>
          </a:bodyPr>
          <a:lstStyle/>
          <a:p>
            <a:pPr algn="ctr">
              <a:spcAft>
                <a:spcPts val="0"/>
              </a:spcAft>
            </a:pPr>
            <a:r>
              <a:rPr sz="1300" b="1" i="0">
                <a:solidFill>
                  <a:srgbClr val="5BB869"/>
                </a:solidFill>
                <a:latin typeface="Aptos"/>
              </a:rPr>
              <a:t>INSPECTION</a:t>
            </a:r>
          </a:p>
        </p:txBody>
      </p:sp>
      <p:sp>
        <p:nvSpPr>
          <p:cNvPr id="27" name="TextBox 26"/>
          <p:cNvSpPr txBox="1"/>
          <p:nvPr/>
        </p:nvSpPr>
        <p:spPr>
          <a:xfrm>
            <a:off x="9189719" y="4782312"/>
            <a:ext cx="2148839" cy="201168"/>
          </a:xfrm>
          <a:prstGeom prst="rect">
            <a:avLst/>
          </a:prstGeom>
          <a:noFill/>
        </p:spPr>
        <p:txBody>
          <a:bodyPr wrap="square" lIns="45720" rIns="45720" anchor="t">
            <a:spAutoFit/>
          </a:bodyPr>
          <a:lstStyle/>
          <a:p>
            <a:pPr algn="ctr">
              <a:spcAft>
                <a:spcPts val="0"/>
              </a:spcAft>
            </a:pPr>
            <a:r>
              <a:rPr sz="1000" b="0" i="0">
                <a:solidFill>
                  <a:srgbClr val="B7C6C1"/>
                </a:solidFill>
                <a:latin typeface="Aptos"/>
              </a:rPr>
              <a:t>result, inspector, notes</a:t>
            </a:r>
          </a:p>
        </p:txBody>
      </p:sp>
      <p:sp>
        <p:nvSpPr>
          <p:cNvPr id="28" name="Rounded Rectangle 27"/>
          <p:cNvSpPr/>
          <p:nvPr/>
        </p:nvSpPr>
        <p:spPr>
          <a:xfrm>
            <a:off x="4434840" y="4251960"/>
            <a:ext cx="2743200" cy="8229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26279" y="4370832"/>
            <a:ext cx="2560320" cy="246888"/>
          </a:xfrm>
          <a:prstGeom prst="rect">
            <a:avLst/>
          </a:prstGeom>
          <a:noFill/>
        </p:spPr>
        <p:txBody>
          <a:bodyPr wrap="square" lIns="45720" rIns="45720" anchor="t">
            <a:spAutoFit/>
          </a:bodyPr>
          <a:lstStyle/>
          <a:p>
            <a:pPr algn="ctr">
              <a:spcAft>
                <a:spcPts val="0"/>
              </a:spcAft>
            </a:pPr>
            <a:r>
              <a:rPr sz="1300" b="1" i="0">
                <a:solidFill>
                  <a:srgbClr val="F4BE53"/>
                </a:solidFill>
                <a:latin typeface="Aptos"/>
              </a:rPr>
              <a:t>RISK_SCORE</a:t>
            </a:r>
          </a:p>
        </p:txBody>
      </p:sp>
      <p:sp>
        <p:nvSpPr>
          <p:cNvPr id="30" name="TextBox 29"/>
          <p:cNvSpPr txBox="1"/>
          <p:nvPr/>
        </p:nvSpPr>
        <p:spPr>
          <a:xfrm>
            <a:off x="4526279" y="4690872"/>
            <a:ext cx="2560320" cy="201168"/>
          </a:xfrm>
          <a:prstGeom prst="rect">
            <a:avLst/>
          </a:prstGeom>
          <a:noFill/>
        </p:spPr>
        <p:txBody>
          <a:bodyPr wrap="square" lIns="45720" rIns="45720" anchor="t">
            <a:spAutoFit/>
          </a:bodyPr>
          <a:lstStyle/>
          <a:p>
            <a:pPr algn="ctr">
              <a:spcAft>
                <a:spcPts val="0"/>
              </a:spcAft>
            </a:pPr>
            <a:r>
              <a:rPr sz="1000" b="0" i="0">
                <a:solidFill>
                  <a:srgbClr val="B7C6C1"/>
                </a:solidFill>
                <a:latin typeface="Aptos"/>
              </a:rPr>
              <a:t>probability, level, time</a:t>
            </a:r>
          </a:p>
        </p:txBody>
      </p:sp>
      <p:cxnSp>
        <p:nvCxnSpPr>
          <p:cNvPr id="31" name="Connector 30"/>
          <p:cNvCxnSpPr/>
          <p:nvPr/>
        </p:nvCxnSpPr>
        <p:spPr>
          <a:xfrm>
            <a:off x="2926080" y="1993392"/>
            <a:ext cx="1508760" cy="429768"/>
          </a:xfrm>
          <a:prstGeom prst="line">
            <a:avLst/>
          </a:prstGeom>
          <a:ln w="1778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926080" y="2651760"/>
            <a:ext cx="1508760" cy="713232"/>
          </a:xfrm>
          <a:prstGeom prst="line">
            <a:avLst/>
          </a:prstGeom>
          <a:ln w="1778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26080" y="2926080"/>
            <a:ext cx="1508760" cy="1810512"/>
          </a:xfrm>
          <a:prstGeom prst="line">
            <a:avLst/>
          </a:prstGeom>
          <a:ln w="1778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178040" y="1993392"/>
            <a:ext cx="1920240" cy="429768"/>
          </a:xfrm>
          <a:prstGeom prst="line">
            <a:avLst/>
          </a:prstGeom>
          <a:ln w="1778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78040" y="2606040"/>
            <a:ext cx="1920240" cy="758952"/>
          </a:xfrm>
          <a:prstGeom prst="line">
            <a:avLst/>
          </a:prstGeom>
          <a:ln w="1778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78040" y="2788920"/>
            <a:ext cx="1920240" cy="1947672"/>
          </a:xfrm>
          <a:prstGeom prst="line">
            <a:avLst/>
          </a:prstGeom>
          <a:ln w="17780">
            <a:solidFill>
              <a:srgbClr val="5BB86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806440" y="3127248"/>
            <a:ext cx="0" cy="1124712"/>
          </a:xfrm>
          <a:prstGeom prst="line">
            <a:avLst/>
          </a:prstGeom>
          <a:ln w="17780">
            <a:solidFill>
              <a:srgbClr val="5BB869"/>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13232" y="5623560"/>
            <a:ext cx="10698480" cy="384048"/>
          </a:xfrm>
          <a:prstGeom prst="rect">
            <a:avLst/>
          </a:prstGeom>
          <a:noFill/>
        </p:spPr>
        <p:txBody>
          <a:bodyPr wrap="square" lIns="45720" rIns="45720" anchor="t">
            <a:spAutoFit/>
          </a:bodyPr>
          <a:lstStyle/>
          <a:p>
            <a:pPr algn="l">
              <a:spcAft>
                <a:spcPts val="0"/>
              </a:spcAft>
            </a:pPr>
            <a:r>
              <a:rPr sz="1300" b="0" i="0">
                <a:solidFill>
                  <a:srgbClr val="B7C6C1"/>
                </a:solidFill>
                <a:latin typeface="Aptos"/>
              </a:rPr>
              <a:t>Conceptual view: stage records reference the batch; Risk_Score stores multiple time-stamped predictions for a batch.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DATABASE DESIGN</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Core database tables and key fields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10</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640080" y="1389888"/>
            <a:ext cx="2011680" cy="384048"/>
          </a:xfrm>
          <a:prstGeom prst="roundRect">
            <a:avLst>
              <a:gd name="adj" fmla="val 12000"/>
            </a:avLst>
          </a:prstGeom>
          <a:solidFill>
            <a:srgbClr val="264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19" y="1472184"/>
            <a:ext cx="1828800" cy="182880"/>
          </a:xfrm>
          <a:prstGeom prst="rect">
            <a:avLst/>
          </a:prstGeom>
          <a:noFill/>
        </p:spPr>
        <p:txBody>
          <a:bodyPr wrap="square" lIns="45720" rIns="45720" anchor="t">
            <a:spAutoFit/>
          </a:bodyPr>
          <a:lstStyle/>
          <a:p>
            <a:pPr algn="l">
              <a:spcAft>
                <a:spcPts val="0"/>
              </a:spcAft>
            </a:pPr>
            <a:r>
              <a:rPr sz="1000" b="1" i="0">
                <a:solidFill>
                  <a:srgbClr val="BAE079"/>
                </a:solidFill>
                <a:latin typeface="Aptos"/>
              </a:rPr>
              <a:t>TABLE / ENTITY</a:t>
            </a:r>
          </a:p>
        </p:txBody>
      </p:sp>
      <p:sp>
        <p:nvSpPr>
          <p:cNvPr id="9" name="Rounded Rectangle 8"/>
          <p:cNvSpPr/>
          <p:nvPr/>
        </p:nvSpPr>
        <p:spPr>
          <a:xfrm>
            <a:off x="2743200" y="1389888"/>
            <a:ext cx="2743200" cy="384048"/>
          </a:xfrm>
          <a:prstGeom prst="roundRect">
            <a:avLst>
              <a:gd name="adj" fmla="val 12000"/>
            </a:avLst>
          </a:prstGeom>
          <a:solidFill>
            <a:srgbClr val="264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34640" y="1472184"/>
            <a:ext cx="2560320" cy="182880"/>
          </a:xfrm>
          <a:prstGeom prst="rect">
            <a:avLst/>
          </a:prstGeom>
          <a:noFill/>
        </p:spPr>
        <p:txBody>
          <a:bodyPr wrap="square" lIns="45720" rIns="45720" anchor="t">
            <a:spAutoFit/>
          </a:bodyPr>
          <a:lstStyle/>
          <a:p>
            <a:pPr algn="l">
              <a:spcAft>
                <a:spcPts val="0"/>
              </a:spcAft>
            </a:pPr>
            <a:r>
              <a:rPr sz="1000" b="1" i="0">
                <a:solidFill>
                  <a:srgbClr val="BAE079"/>
                </a:solidFill>
                <a:latin typeface="Aptos"/>
              </a:rPr>
              <a:t>KEY</a:t>
            </a:r>
          </a:p>
        </p:txBody>
      </p:sp>
      <p:sp>
        <p:nvSpPr>
          <p:cNvPr id="11" name="Rounded Rectangle 10"/>
          <p:cNvSpPr/>
          <p:nvPr/>
        </p:nvSpPr>
        <p:spPr>
          <a:xfrm>
            <a:off x="5577840" y="1389888"/>
            <a:ext cx="5669280" cy="384048"/>
          </a:xfrm>
          <a:prstGeom prst="roundRect">
            <a:avLst>
              <a:gd name="adj" fmla="val 12000"/>
            </a:avLst>
          </a:prstGeom>
          <a:solidFill>
            <a:srgbClr val="264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79" y="1472184"/>
            <a:ext cx="5486400" cy="182880"/>
          </a:xfrm>
          <a:prstGeom prst="rect">
            <a:avLst/>
          </a:prstGeom>
          <a:noFill/>
        </p:spPr>
        <p:txBody>
          <a:bodyPr wrap="square" lIns="45720" rIns="45720" anchor="t">
            <a:spAutoFit/>
          </a:bodyPr>
          <a:lstStyle/>
          <a:p>
            <a:pPr algn="l">
              <a:spcAft>
                <a:spcPts val="0"/>
              </a:spcAft>
            </a:pPr>
            <a:r>
              <a:rPr sz="1000" b="1" i="0">
                <a:solidFill>
                  <a:srgbClr val="BAE079"/>
                </a:solidFill>
                <a:latin typeface="Aptos"/>
              </a:rPr>
              <a:t>EXAMPLE FIELDS</a:t>
            </a:r>
          </a:p>
        </p:txBody>
      </p:sp>
      <p:sp>
        <p:nvSpPr>
          <p:cNvPr id="13" name="Rectangle 12"/>
          <p:cNvSpPr/>
          <p:nvPr/>
        </p:nvSpPr>
        <p:spPr>
          <a:xfrm>
            <a:off x="640080" y="1828800"/>
            <a:ext cx="20116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19" y="1901952"/>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Batch</a:t>
            </a:r>
          </a:p>
        </p:txBody>
      </p:sp>
      <p:sp>
        <p:nvSpPr>
          <p:cNvPr id="15" name="Rectangle 14"/>
          <p:cNvSpPr/>
          <p:nvPr/>
        </p:nvSpPr>
        <p:spPr>
          <a:xfrm>
            <a:off x="2743200" y="1828800"/>
            <a:ext cx="274320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34640" y="1901952"/>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batch_id (PK)</a:t>
            </a:r>
          </a:p>
        </p:txBody>
      </p:sp>
      <p:sp>
        <p:nvSpPr>
          <p:cNvPr id="17" name="Rectangle 16"/>
          <p:cNvSpPr/>
          <p:nvPr/>
        </p:nvSpPr>
        <p:spPr>
          <a:xfrm>
            <a:off x="5577840" y="1828800"/>
            <a:ext cx="56692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79" y="1901952"/>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crop_type, harvest_date, quantity_kg, status</a:t>
            </a:r>
          </a:p>
        </p:txBody>
      </p:sp>
      <p:sp>
        <p:nvSpPr>
          <p:cNvPr id="19" name="Rectangle 18"/>
          <p:cNvSpPr/>
          <p:nvPr/>
        </p:nvSpPr>
        <p:spPr>
          <a:xfrm>
            <a:off x="640080" y="2267712"/>
            <a:ext cx="20116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19" y="2340864"/>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Farmer / origin</a:t>
            </a:r>
          </a:p>
        </p:txBody>
      </p:sp>
      <p:sp>
        <p:nvSpPr>
          <p:cNvPr id="21" name="Rectangle 20"/>
          <p:cNvSpPr/>
          <p:nvPr/>
        </p:nvSpPr>
        <p:spPr>
          <a:xfrm>
            <a:off x="2743200" y="2267712"/>
            <a:ext cx="274320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34640" y="2340864"/>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farmer_id or batch-linked details</a:t>
            </a:r>
          </a:p>
        </p:txBody>
      </p:sp>
      <p:sp>
        <p:nvSpPr>
          <p:cNvPr id="23" name="Rectangle 22"/>
          <p:cNvSpPr/>
          <p:nvPr/>
        </p:nvSpPr>
        <p:spPr>
          <a:xfrm>
            <a:off x="5577840" y="2267712"/>
            <a:ext cx="56692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79" y="2340864"/>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name, farm_location</a:t>
            </a:r>
          </a:p>
        </p:txBody>
      </p:sp>
      <p:sp>
        <p:nvSpPr>
          <p:cNvPr id="25" name="Rectangle 24"/>
          <p:cNvSpPr/>
          <p:nvPr/>
        </p:nvSpPr>
        <p:spPr>
          <a:xfrm>
            <a:off x="640080" y="2706624"/>
            <a:ext cx="20116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19" y="2779776"/>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Collection_Record</a:t>
            </a:r>
          </a:p>
        </p:txBody>
      </p:sp>
      <p:sp>
        <p:nvSpPr>
          <p:cNvPr id="27" name="Rectangle 26"/>
          <p:cNvSpPr/>
          <p:nvPr/>
        </p:nvSpPr>
        <p:spPr>
          <a:xfrm>
            <a:off x="2743200" y="2706624"/>
            <a:ext cx="274320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34640" y="2779776"/>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record_id (PK), batch_id (FK)</a:t>
            </a:r>
          </a:p>
        </p:txBody>
      </p:sp>
      <p:sp>
        <p:nvSpPr>
          <p:cNvPr id="29" name="Rectangle 28"/>
          <p:cNvSpPr/>
          <p:nvPr/>
        </p:nvSpPr>
        <p:spPr>
          <a:xfrm>
            <a:off x="5577840" y="2706624"/>
            <a:ext cx="56692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79" y="2779776"/>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received_date, grade, centre</a:t>
            </a:r>
          </a:p>
        </p:txBody>
      </p:sp>
      <p:sp>
        <p:nvSpPr>
          <p:cNvPr id="31" name="Rectangle 30"/>
          <p:cNvSpPr/>
          <p:nvPr/>
        </p:nvSpPr>
        <p:spPr>
          <a:xfrm>
            <a:off x="640080" y="3145536"/>
            <a:ext cx="20116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19" y="3218688"/>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Processing_Record</a:t>
            </a:r>
          </a:p>
        </p:txBody>
      </p:sp>
      <p:sp>
        <p:nvSpPr>
          <p:cNvPr id="33" name="Rectangle 32"/>
          <p:cNvSpPr/>
          <p:nvPr/>
        </p:nvSpPr>
        <p:spPr>
          <a:xfrm>
            <a:off x="2743200" y="3145536"/>
            <a:ext cx="274320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834640" y="3218688"/>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record_id (PK), batch_id (FK)</a:t>
            </a:r>
          </a:p>
        </p:txBody>
      </p:sp>
      <p:sp>
        <p:nvSpPr>
          <p:cNvPr id="35" name="Rectangle 34"/>
          <p:cNvSpPr/>
          <p:nvPr/>
        </p:nvSpPr>
        <p:spPr>
          <a:xfrm>
            <a:off x="5577840" y="3145536"/>
            <a:ext cx="56692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669279" y="3218688"/>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process_type, plant, output_qty_kg</a:t>
            </a:r>
          </a:p>
        </p:txBody>
      </p:sp>
      <p:sp>
        <p:nvSpPr>
          <p:cNvPr id="37" name="Rectangle 36"/>
          <p:cNvSpPr/>
          <p:nvPr/>
        </p:nvSpPr>
        <p:spPr>
          <a:xfrm>
            <a:off x="640080" y="3584448"/>
            <a:ext cx="20116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19" y="3657600"/>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Storage_Record</a:t>
            </a:r>
          </a:p>
        </p:txBody>
      </p:sp>
      <p:sp>
        <p:nvSpPr>
          <p:cNvPr id="39" name="Rectangle 38"/>
          <p:cNvSpPr/>
          <p:nvPr/>
        </p:nvSpPr>
        <p:spPr>
          <a:xfrm>
            <a:off x="2743200" y="3584448"/>
            <a:ext cx="274320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834640" y="3657600"/>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storage_id (PK), batch_id (FK)</a:t>
            </a:r>
          </a:p>
        </p:txBody>
      </p:sp>
      <p:sp>
        <p:nvSpPr>
          <p:cNvPr id="41" name="Rectangle 40"/>
          <p:cNvSpPr/>
          <p:nvPr/>
        </p:nvSpPr>
        <p:spPr>
          <a:xfrm>
            <a:off x="5577840" y="3584448"/>
            <a:ext cx="56692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669279" y="3657600"/>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in/out dates, temperature_c, humidity_pct</a:t>
            </a:r>
          </a:p>
        </p:txBody>
      </p:sp>
      <p:sp>
        <p:nvSpPr>
          <p:cNvPr id="43" name="Rectangle 42"/>
          <p:cNvSpPr/>
          <p:nvPr/>
        </p:nvSpPr>
        <p:spPr>
          <a:xfrm>
            <a:off x="640080" y="4023360"/>
            <a:ext cx="20116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19" y="4096512"/>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Transport_Log</a:t>
            </a:r>
          </a:p>
        </p:txBody>
      </p:sp>
      <p:sp>
        <p:nvSpPr>
          <p:cNvPr id="45" name="Rectangle 44"/>
          <p:cNvSpPr/>
          <p:nvPr/>
        </p:nvSpPr>
        <p:spPr>
          <a:xfrm>
            <a:off x="2743200" y="4023360"/>
            <a:ext cx="274320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834640" y="4096512"/>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transport_id (PK), batch_id (FK)</a:t>
            </a:r>
          </a:p>
        </p:txBody>
      </p:sp>
      <p:sp>
        <p:nvSpPr>
          <p:cNvPr id="47" name="Rectangle 46"/>
          <p:cNvSpPr/>
          <p:nvPr/>
        </p:nvSpPr>
        <p:spPr>
          <a:xfrm>
            <a:off x="5577840" y="4023360"/>
            <a:ext cx="56692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669279" y="4096512"/>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origin, destination, dispatch/arrival, transit conditions</a:t>
            </a:r>
          </a:p>
        </p:txBody>
      </p:sp>
      <p:sp>
        <p:nvSpPr>
          <p:cNvPr id="49" name="Rectangle 48"/>
          <p:cNvSpPr/>
          <p:nvPr/>
        </p:nvSpPr>
        <p:spPr>
          <a:xfrm>
            <a:off x="640080" y="4462272"/>
            <a:ext cx="20116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19" y="4535424"/>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Retail_Inventory</a:t>
            </a:r>
          </a:p>
        </p:txBody>
      </p:sp>
      <p:sp>
        <p:nvSpPr>
          <p:cNvPr id="51" name="Rectangle 50"/>
          <p:cNvSpPr/>
          <p:nvPr/>
        </p:nvSpPr>
        <p:spPr>
          <a:xfrm>
            <a:off x="2743200" y="4462272"/>
            <a:ext cx="274320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834640" y="4535424"/>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inventory_id (PK), batch_id (FK)</a:t>
            </a:r>
          </a:p>
        </p:txBody>
      </p:sp>
      <p:sp>
        <p:nvSpPr>
          <p:cNvPr id="53" name="Rectangle 52"/>
          <p:cNvSpPr/>
          <p:nvPr/>
        </p:nvSpPr>
        <p:spPr>
          <a:xfrm>
            <a:off x="5577840" y="4462272"/>
            <a:ext cx="56692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669279" y="4535424"/>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received_date, quantity_kg, unit_price</a:t>
            </a:r>
          </a:p>
        </p:txBody>
      </p:sp>
      <p:sp>
        <p:nvSpPr>
          <p:cNvPr id="55" name="Rectangle 54"/>
          <p:cNvSpPr/>
          <p:nvPr/>
        </p:nvSpPr>
        <p:spPr>
          <a:xfrm>
            <a:off x="640080" y="4901183"/>
            <a:ext cx="20116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31519" y="4974336"/>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Inspection</a:t>
            </a:r>
          </a:p>
        </p:txBody>
      </p:sp>
      <p:sp>
        <p:nvSpPr>
          <p:cNvPr id="57" name="Rectangle 56"/>
          <p:cNvSpPr/>
          <p:nvPr/>
        </p:nvSpPr>
        <p:spPr>
          <a:xfrm>
            <a:off x="2743200" y="4901183"/>
            <a:ext cx="274320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834640" y="4974336"/>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inspection_id (PK), batch_id (FK)</a:t>
            </a:r>
          </a:p>
        </p:txBody>
      </p:sp>
      <p:sp>
        <p:nvSpPr>
          <p:cNvPr id="59" name="Rectangle 58"/>
          <p:cNvSpPr/>
          <p:nvPr/>
        </p:nvSpPr>
        <p:spPr>
          <a:xfrm>
            <a:off x="5577840" y="4901183"/>
            <a:ext cx="5669280" cy="402336"/>
          </a:xfrm>
          <a:prstGeom prst="rect">
            <a:avLst/>
          </a:prstGeom>
          <a:solidFill>
            <a:srgbClr val="13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669279" y="4974336"/>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stage, inspector, result, contamination_type</a:t>
            </a:r>
          </a:p>
        </p:txBody>
      </p:sp>
      <p:sp>
        <p:nvSpPr>
          <p:cNvPr id="61" name="Rectangle 60"/>
          <p:cNvSpPr/>
          <p:nvPr/>
        </p:nvSpPr>
        <p:spPr>
          <a:xfrm>
            <a:off x="640080" y="5340096"/>
            <a:ext cx="20116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1519" y="5413248"/>
            <a:ext cx="18288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Risk_Score</a:t>
            </a:r>
          </a:p>
        </p:txBody>
      </p:sp>
      <p:sp>
        <p:nvSpPr>
          <p:cNvPr id="63" name="Rectangle 62"/>
          <p:cNvSpPr/>
          <p:nvPr/>
        </p:nvSpPr>
        <p:spPr>
          <a:xfrm>
            <a:off x="2743200" y="5340096"/>
            <a:ext cx="274320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834640" y="5413248"/>
            <a:ext cx="256032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score_id (PK), batch_id (FK)</a:t>
            </a:r>
          </a:p>
        </p:txBody>
      </p:sp>
      <p:sp>
        <p:nvSpPr>
          <p:cNvPr id="65" name="Rectangle 64"/>
          <p:cNvSpPr/>
          <p:nvPr/>
        </p:nvSpPr>
        <p:spPr>
          <a:xfrm>
            <a:off x="5577840" y="5340096"/>
            <a:ext cx="5669280" cy="402336"/>
          </a:xfrm>
          <a:prstGeom prst="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669279" y="5413248"/>
            <a:ext cx="5486400" cy="228600"/>
          </a:xfrm>
          <a:prstGeom prst="rect">
            <a:avLst/>
          </a:prstGeom>
          <a:noFill/>
        </p:spPr>
        <p:txBody>
          <a:bodyPr wrap="square" lIns="45720" rIns="45720" anchor="t">
            <a:spAutoFit/>
          </a:bodyPr>
          <a:lstStyle/>
          <a:p>
            <a:pPr algn="l">
              <a:spcAft>
                <a:spcPts val="0"/>
              </a:spcAft>
            </a:pPr>
            <a:r>
              <a:rPr sz="1050" b="0" i="0">
                <a:solidFill>
                  <a:srgbClr val="B7C6C1"/>
                </a:solidFill>
                <a:latin typeface="Aptos"/>
              </a:rPr>
              <a:t>model_version, predicted_risk, risk_level, scored_on, top_features</a:t>
            </a:r>
          </a:p>
        </p:txBody>
      </p:sp>
      <p:sp>
        <p:nvSpPr>
          <p:cNvPr id="67" name="TextBox 66"/>
          <p:cNvSpPr txBox="1"/>
          <p:nvPr/>
        </p:nvSpPr>
        <p:spPr>
          <a:xfrm>
            <a:off x="731520" y="5897880"/>
            <a:ext cx="10698480" cy="274320"/>
          </a:xfrm>
          <a:prstGeom prst="rect">
            <a:avLst/>
          </a:prstGeom>
          <a:noFill/>
        </p:spPr>
        <p:txBody>
          <a:bodyPr wrap="square" lIns="45720" rIns="45720" anchor="t">
            <a:spAutoFit/>
          </a:bodyPr>
          <a:lstStyle/>
          <a:p>
            <a:pPr algn="l">
              <a:spcAft>
                <a:spcPts val="0"/>
              </a:spcAft>
            </a:pPr>
            <a:r>
              <a:rPr sz="1200" b="1" i="0">
                <a:solidFill>
                  <a:srgbClr val="BAE079"/>
                </a:solidFill>
                <a:latin typeface="Aptos"/>
              </a:rPr>
              <a:t>PK = Primary Key (uniquely identifies a row)  •  FK = Foreign Key (connects a row to another table)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DBS CONCEPTS</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Relational design: keys, normalization and joins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11</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81328"/>
            <a:ext cx="3520440" cy="36118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481328"/>
            <a:ext cx="64008" cy="3611880"/>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Primary key (PK)</a:t>
            </a:r>
          </a:p>
        </p:txBody>
      </p:sp>
      <p:sp>
        <p:nvSpPr>
          <p:cNvPr id="10" name="TextBox 9"/>
          <p:cNvSpPr txBox="1"/>
          <p:nvPr/>
        </p:nvSpPr>
        <p:spPr>
          <a:xfrm>
            <a:off x="758952" y="2048256"/>
            <a:ext cx="3200400" cy="2953512"/>
          </a:xfrm>
          <a:prstGeom prst="rect">
            <a:avLst/>
          </a:prstGeom>
          <a:noFill/>
        </p:spPr>
        <p:txBody>
          <a:bodyPr wrap="square" lIns="54864" tIns="27432" rIns="54864" bIns="18288">
            <a:spAutoFit/>
          </a:bodyPr>
          <a:lstStyle/>
          <a:p>
            <a:pPr>
              <a:spcAft>
                <a:spcPts val="500"/>
              </a:spcAft>
              <a:defRPr sz="1400">
                <a:solidFill>
                  <a:srgbClr val="B7C6C1"/>
                </a:solidFill>
                <a:latin typeface="Aptos"/>
              </a:defRPr>
            </a:pPr>
            <a:r>
              <a:t>•  Identifies a row uniquely.</a:t>
            </a:r>
          </a:p>
          <a:p>
            <a:pPr>
              <a:spcAft>
                <a:spcPts val="500"/>
              </a:spcAft>
              <a:defRPr sz="1400">
                <a:solidFill>
                  <a:srgbClr val="B7C6C1"/>
                </a:solidFill>
                <a:latin typeface="Aptos"/>
              </a:defRPr>
            </a:pPr>
            <a:r>
              <a:t>•  Example: batch_id identifies the batch.</a:t>
            </a:r>
          </a:p>
          <a:p>
            <a:pPr>
              <a:spcAft>
                <a:spcPts val="500"/>
              </a:spcAft>
              <a:defRPr sz="1400">
                <a:solidFill>
                  <a:srgbClr val="B7C6C1"/>
                </a:solidFill>
                <a:latin typeface="Aptos"/>
              </a:defRPr>
            </a:pPr>
            <a:r>
              <a:t>•  score_id distinguishes separate risk-history entries.</a:t>
            </a:r>
          </a:p>
        </p:txBody>
      </p:sp>
      <p:sp>
        <p:nvSpPr>
          <p:cNvPr id="11" name="Rounded Rectangle 10"/>
          <p:cNvSpPr/>
          <p:nvPr/>
        </p:nvSpPr>
        <p:spPr>
          <a:xfrm>
            <a:off x="4343400" y="1481328"/>
            <a:ext cx="3520440" cy="36118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481328"/>
            <a:ext cx="64008" cy="3611880"/>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Foreign key (FK)</a:t>
            </a:r>
          </a:p>
        </p:txBody>
      </p:sp>
      <p:sp>
        <p:nvSpPr>
          <p:cNvPr id="14" name="TextBox 13"/>
          <p:cNvSpPr txBox="1"/>
          <p:nvPr/>
        </p:nvSpPr>
        <p:spPr>
          <a:xfrm>
            <a:off x="4507992" y="2048256"/>
            <a:ext cx="3200400" cy="2953512"/>
          </a:xfrm>
          <a:prstGeom prst="rect">
            <a:avLst/>
          </a:prstGeom>
          <a:noFill/>
        </p:spPr>
        <p:txBody>
          <a:bodyPr wrap="square" lIns="54864" tIns="27432" rIns="54864" bIns="18288">
            <a:spAutoFit/>
          </a:bodyPr>
          <a:lstStyle/>
          <a:p>
            <a:pPr>
              <a:spcAft>
                <a:spcPts val="500"/>
              </a:spcAft>
              <a:defRPr sz="1400">
                <a:solidFill>
                  <a:srgbClr val="B7C6C1"/>
                </a:solidFill>
                <a:latin typeface="Aptos"/>
              </a:defRPr>
            </a:pPr>
            <a:r>
              <a:t>•  Connects a stage record to its batch.</a:t>
            </a:r>
          </a:p>
          <a:p>
            <a:pPr>
              <a:spcAft>
                <a:spcPts val="500"/>
              </a:spcAft>
              <a:defRPr sz="1400">
                <a:solidFill>
                  <a:srgbClr val="B7C6C1"/>
                </a:solidFill>
                <a:latin typeface="Aptos"/>
              </a:defRPr>
            </a:pPr>
            <a:r>
              <a:t>•  Allows related data to be retrieved together.</a:t>
            </a:r>
          </a:p>
          <a:p>
            <a:pPr>
              <a:spcAft>
                <a:spcPts val="500"/>
              </a:spcAft>
              <a:defRPr sz="1400">
                <a:solidFill>
                  <a:srgbClr val="B7C6C1"/>
                </a:solidFill>
                <a:latin typeface="Aptos"/>
              </a:defRPr>
            </a:pPr>
            <a:r>
              <a:t>•  Supports referential consistency when constraints are enforced.</a:t>
            </a:r>
          </a:p>
        </p:txBody>
      </p:sp>
      <p:sp>
        <p:nvSpPr>
          <p:cNvPr id="15" name="Rounded Rectangle 14"/>
          <p:cNvSpPr/>
          <p:nvPr/>
        </p:nvSpPr>
        <p:spPr>
          <a:xfrm>
            <a:off x="8092440" y="1481328"/>
            <a:ext cx="3520440" cy="36118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481328"/>
            <a:ext cx="64008" cy="3611880"/>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Normalization / JOIN</a:t>
            </a:r>
          </a:p>
        </p:txBody>
      </p:sp>
      <p:sp>
        <p:nvSpPr>
          <p:cNvPr id="18" name="TextBox 17"/>
          <p:cNvSpPr txBox="1"/>
          <p:nvPr/>
        </p:nvSpPr>
        <p:spPr>
          <a:xfrm>
            <a:off x="8257031" y="2048256"/>
            <a:ext cx="3200400" cy="2953512"/>
          </a:xfrm>
          <a:prstGeom prst="rect">
            <a:avLst/>
          </a:prstGeom>
          <a:noFill/>
        </p:spPr>
        <p:txBody>
          <a:bodyPr wrap="square" lIns="54864" tIns="27432" rIns="54864" bIns="18288">
            <a:spAutoFit/>
          </a:bodyPr>
          <a:lstStyle/>
          <a:p>
            <a:pPr>
              <a:spcAft>
                <a:spcPts val="500"/>
              </a:spcAft>
              <a:defRPr sz="1400">
                <a:solidFill>
                  <a:srgbClr val="B7C6C1"/>
                </a:solidFill>
                <a:latin typeface="Aptos"/>
              </a:defRPr>
            </a:pPr>
            <a:r>
              <a:t>•  Keep each fact in a suitable table to reduce repeated data.</a:t>
            </a:r>
          </a:p>
          <a:p>
            <a:pPr>
              <a:spcAft>
                <a:spcPts val="500"/>
              </a:spcAft>
              <a:defRPr sz="1400">
                <a:solidFill>
                  <a:srgbClr val="B7C6C1"/>
                </a:solidFill>
                <a:latin typeface="Aptos"/>
              </a:defRPr>
            </a:pPr>
            <a:r>
              <a:t>•  Use joins or lookups to reconstruct a batch journey.</a:t>
            </a:r>
          </a:p>
          <a:p>
            <a:pPr>
              <a:spcAft>
                <a:spcPts val="500"/>
              </a:spcAft>
              <a:defRPr sz="1400">
                <a:solidFill>
                  <a:srgbClr val="B7C6C1"/>
                </a:solidFill>
                <a:latin typeface="Aptos"/>
              </a:defRPr>
            </a:pPr>
            <a:r>
              <a:t>•  LEFT JOINs can preserve a batch even if some stage records are absent.</a:t>
            </a:r>
          </a:p>
        </p:txBody>
      </p:sp>
      <p:sp>
        <p:nvSpPr>
          <p:cNvPr id="19" name="Rounded Rectangle 18"/>
          <p:cNvSpPr/>
          <p:nvPr/>
        </p:nvSpPr>
        <p:spPr>
          <a:xfrm>
            <a:off x="685800" y="5394960"/>
            <a:ext cx="10744200" cy="50292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522976"/>
            <a:ext cx="10332720" cy="228600"/>
          </a:xfrm>
          <a:prstGeom prst="rect">
            <a:avLst/>
          </a:prstGeom>
          <a:noFill/>
        </p:spPr>
        <p:txBody>
          <a:bodyPr wrap="square" lIns="45720" rIns="45720" anchor="t">
            <a:spAutoFit/>
          </a:bodyPr>
          <a:lstStyle/>
          <a:p>
            <a:pPr algn="l">
              <a:spcAft>
                <a:spcPts val="0"/>
              </a:spcAft>
            </a:pPr>
            <a:r>
              <a:rPr sz="1400" b="1" i="0">
                <a:solidFill>
                  <a:srgbClr val="BAE079"/>
                </a:solidFill>
                <a:latin typeface="Aptos"/>
              </a:rPr>
              <a:t>Missing data means “not recorded here”; it does not prove the event never occurred.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USER JOURNEY</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End-to-end batch traceability workflow</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12</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02920" y="1828800"/>
            <a:ext cx="1444752" cy="18288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41832" y="2011680"/>
            <a:ext cx="566928" cy="566928"/>
          </a:xfrm>
          <a:prstGeom prst="ellipse">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2157984"/>
            <a:ext cx="566928" cy="182880"/>
          </a:xfrm>
          <a:prstGeom prst="rect">
            <a:avLst/>
          </a:prstGeom>
          <a:noFill/>
        </p:spPr>
        <p:txBody>
          <a:bodyPr wrap="square" lIns="45720" rIns="45720" anchor="t">
            <a:spAutoFit/>
          </a:bodyPr>
          <a:lstStyle/>
          <a:p>
            <a:pPr algn="ctr">
              <a:spcAft>
                <a:spcPts val="0"/>
              </a:spcAft>
            </a:pPr>
            <a:r>
              <a:rPr sz="1400" b="1" i="0">
                <a:solidFill>
                  <a:srgbClr val="070F13"/>
                </a:solidFill>
                <a:latin typeface="Aptos"/>
              </a:rPr>
              <a:t>1</a:t>
            </a:r>
          </a:p>
        </p:txBody>
      </p:sp>
      <p:sp>
        <p:nvSpPr>
          <p:cNvPr id="10" name="TextBox 9"/>
          <p:cNvSpPr txBox="1"/>
          <p:nvPr/>
        </p:nvSpPr>
        <p:spPr>
          <a:xfrm>
            <a:off x="576072" y="2724912"/>
            <a:ext cx="1298448" cy="292608"/>
          </a:xfrm>
          <a:prstGeom prst="rect">
            <a:avLst/>
          </a:prstGeom>
          <a:noFill/>
        </p:spPr>
        <p:txBody>
          <a:bodyPr wrap="square" lIns="45720" rIns="45720" anchor="t">
            <a:spAutoFit/>
          </a:bodyPr>
          <a:lstStyle/>
          <a:p>
            <a:pPr algn="ctr">
              <a:spcAft>
                <a:spcPts val="0"/>
              </a:spcAft>
            </a:pPr>
            <a:r>
              <a:rPr sz="1200" b="1" i="0">
                <a:solidFill>
                  <a:srgbClr val="F6F8F4"/>
                </a:solidFill>
                <a:latin typeface="Aptos"/>
              </a:rPr>
              <a:t>Farm origin</a:t>
            </a:r>
          </a:p>
        </p:txBody>
      </p:sp>
      <p:sp>
        <p:nvSpPr>
          <p:cNvPr id="11" name="TextBox 10"/>
          <p:cNvSpPr txBox="1"/>
          <p:nvPr/>
        </p:nvSpPr>
        <p:spPr>
          <a:xfrm>
            <a:off x="576072" y="3108960"/>
            <a:ext cx="1298448" cy="384048"/>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Farmer, crop, harvest</a:t>
            </a:r>
          </a:p>
        </p:txBody>
      </p:sp>
      <p:cxnSp>
        <p:nvCxnSpPr>
          <p:cNvPr id="12" name="Connector 11"/>
          <p:cNvCxnSpPr/>
          <p:nvPr/>
        </p:nvCxnSpPr>
        <p:spPr>
          <a:xfrm>
            <a:off x="1947672" y="2743200"/>
            <a:ext cx="219456" cy="0"/>
          </a:xfrm>
          <a:prstGeom prst="line">
            <a:avLst/>
          </a:prstGeom>
          <a:ln w="20320">
            <a:solidFill>
              <a:srgbClr val="BAE07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67128" y="1828800"/>
            <a:ext cx="1444752" cy="18288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06040" y="2011680"/>
            <a:ext cx="566928" cy="566928"/>
          </a:xfrm>
          <a:prstGeom prst="ellipse">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06040" y="2157984"/>
            <a:ext cx="566928" cy="182880"/>
          </a:xfrm>
          <a:prstGeom prst="rect">
            <a:avLst/>
          </a:prstGeom>
          <a:noFill/>
        </p:spPr>
        <p:txBody>
          <a:bodyPr wrap="square" lIns="45720" rIns="45720" anchor="t">
            <a:spAutoFit/>
          </a:bodyPr>
          <a:lstStyle/>
          <a:p>
            <a:pPr algn="ctr">
              <a:spcAft>
                <a:spcPts val="0"/>
              </a:spcAft>
            </a:pPr>
            <a:r>
              <a:rPr sz="1400" b="1" i="0">
                <a:solidFill>
                  <a:srgbClr val="070F13"/>
                </a:solidFill>
                <a:latin typeface="Aptos"/>
              </a:rPr>
              <a:t>2</a:t>
            </a:r>
          </a:p>
        </p:txBody>
      </p:sp>
      <p:sp>
        <p:nvSpPr>
          <p:cNvPr id="16" name="TextBox 15"/>
          <p:cNvSpPr txBox="1"/>
          <p:nvPr/>
        </p:nvSpPr>
        <p:spPr>
          <a:xfrm>
            <a:off x="2240280" y="2724912"/>
            <a:ext cx="1298448" cy="292608"/>
          </a:xfrm>
          <a:prstGeom prst="rect">
            <a:avLst/>
          </a:prstGeom>
          <a:noFill/>
        </p:spPr>
        <p:txBody>
          <a:bodyPr wrap="square" lIns="45720" rIns="45720" anchor="t">
            <a:spAutoFit/>
          </a:bodyPr>
          <a:lstStyle/>
          <a:p>
            <a:pPr algn="ctr">
              <a:spcAft>
                <a:spcPts val="0"/>
              </a:spcAft>
            </a:pPr>
            <a:r>
              <a:rPr sz="1200" b="1" i="0">
                <a:solidFill>
                  <a:srgbClr val="F6F8F4"/>
                </a:solidFill>
                <a:latin typeface="Aptos"/>
              </a:rPr>
              <a:t>Collection</a:t>
            </a:r>
          </a:p>
        </p:txBody>
      </p:sp>
      <p:sp>
        <p:nvSpPr>
          <p:cNvPr id="17" name="TextBox 16"/>
          <p:cNvSpPr txBox="1"/>
          <p:nvPr/>
        </p:nvSpPr>
        <p:spPr>
          <a:xfrm>
            <a:off x="2240280" y="3108960"/>
            <a:ext cx="1298448" cy="384048"/>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Date, grade, centre</a:t>
            </a:r>
          </a:p>
        </p:txBody>
      </p:sp>
      <p:cxnSp>
        <p:nvCxnSpPr>
          <p:cNvPr id="18" name="Connector 17"/>
          <p:cNvCxnSpPr/>
          <p:nvPr/>
        </p:nvCxnSpPr>
        <p:spPr>
          <a:xfrm>
            <a:off x="3611880" y="2743200"/>
            <a:ext cx="219456" cy="0"/>
          </a:xfrm>
          <a:prstGeom prst="line">
            <a:avLst/>
          </a:prstGeom>
          <a:ln w="20320">
            <a:solidFill>
              <a:srgbClr val="BAE07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831336" y="1828800"/>
            <a:ext cx="1444752" cy="18288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270248" y="2011680"/>
            <a:ext cx="566928" cy="566928"/>
          </a:xfrm>
          <a:prstGeom prst="ellipse">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70248" y="2157984"/>
            <a:ext cx="566928" cy="182880"/>
          </a:xfrm>
          <a:prstGeom prst="rect">
            <a:avLst/>
          </a:prstGeom>
          <a:noFill/>
        </p:spPr>
        <p:txBody>
          <a:bodyPr wrap="square" lIns="45720" rIns="45720" anchor="t">
            <a:spAutoFit/>
          </a:bodyPr>
          <a:lstStyle/>
          <a:p>
            <a:pPr algn="ctr">
              <a:spcAft>
                <a:spcPts val="0"/>
              </a:spcAft>
            </a:pPr>
            <a:r>
              <a:rPr sz="1400" b="1" i="0">
                <a:solidFill>
                  <a:srgbClr val="070F13"/>
                </a:solidFill>
                <a:latin typeface="Aptos"/>
              </a:rPr>
              <a:t>3</a:t>
            </a:r>
          </a:p>
        </p:txBody>
      </p:sp>
      <p:sp>
        <p:nvSpPr>
          <p:cNvPr id="22" name="TextBox 21"/>
          <p:cNvSpPr txBox="1"/>
          <p:nvPr/>
        </p:nvSpPr>
        <p:spPr>
          <a:xfrm>
            <a:off x="3904488" y="2724912"/>
            <a:ext cx="1298448" cy="292608"/>
          </a:xfrm>
          <a:prstGeom prst="rect">
            <a:avLst/>
          </a:prstGeom>
          <a:noFill/>
        </p:spPr>
        <p:txBody>
          <a:bodyPr wrap="square" lIns="45720" rIns="45720" anchor="t">
            <a:spAutoFit/>
          </a:bodyPr>
          <a:lstStyle/>
          <a:p>
            <a:pPr algn="ctr">
              <a:spcAft>
                <a:spcPts val="0"/>
              </a:spcAft>
            </a:pPr>
            <a:r>
              <a:rPr sz="1200" b="1" i="0">
                <a:solidFill>
                  <a:srgbClr val="F6F8F4"/>
                </a:solidFill>
                <a:latin typeface="Aptos"/>
              </a:rPr>
              <a:t>Processing</a:t>
            </a:r>
          </a:p>
        </p:txBody>
      </p:sp>
      <p:sp>
        <p:nvSpPr>
          <p:cNvPr id="23" name="TextBox 22"/>
          <p:cNvSpPr txBox="1"/>
          <p:nvPr/>
        </p:nvSpPr>
        <p:spPr>
          <a:xfrm>
            <a:off x="3904488" y="3108960"/>
            <a:ext cx="1298448" cy="384048"/>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Process, plant, output</a:t>
            </a:r>
          </a:p>
        </p:txBody>
      </p:sp>
      <p:cxnSp>
        <p:nvCxnSpPr>
          <p:cNvPr id="24" name="Connector 23"/>
          <p:cNvCxnSpPr/>
          <p:nvPr/>
        </p:nvCxnSpPr>
        <p:spPr>
          <a:xfrm>
            <a:off x="5276088" y="2743200"/>
            <a:ext cx="219456" cy="0"/>
          </a:xfrm>
          <a:prstGeom prst="line">
            <a:avLst/>
          </a:prstGeom>
          <a:ln w="20320">
            <a:solidFill>
              <a:srgbClr val="BAE079"/>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95544" y="1828800"/>
            <a:ext cx="1444752" cy="18288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934456" y="2011680"/>
            <a:ext cx="566928" cy="566928"/>
          </a:xfrm>
          <a:prstGeom prst="ellipse">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34456" y="2157984"/>
            <a:ext cx="566928" cy="182880"/>
          </a:xfrm>
          <a:prstGeom prst="rect">
            <a:avLst/>
          </a:prstGeom>
          <a:noFill/>
        </p:spPr>
        <p:txBody>
          <a:bodyPr wrap="square" lIns="45720" rIns="45720" anchor="t">
            <a:spAutoFit/>
          </a:bodyPr>
          <a:lstStyle/>
          <a:p>
            <a:pPr algn="ctr">
              <a:spcAft>
                <a:spcPts val="0"/>
              </a:spcAft>
            </a:pPr>
            <a:r>
              <a:rPr sz="1400" b="1" i="0">
                <a:solidFill>
                  <a:srgbClr val="070F13"/>
                </a:solidFill>
                <a:latin typeface="Aptos"/>
              </a:rPr>
              <a:t>4</a:t>
            </a:r>
          </a:p>
        </p:txBody>
      </p:sp>
      <p:sp>
        <p:nvSpPr>
          <p:cNvPr id="28" name="TextBox 27"/>
          <p:cNvSpPr txBox="1"/>
          <p:nvPr/>
        </p:nvSpPr>
        <p:spPr>
          <a:xfrm>
            <a:off x="5568696" y="2724912"/>
            <a:ext cx="1298448" cy="292608"/>
          </a:xfrm>
          <a:prstGeom prst="rect">
            <a:avLst/>
          </a:prstGeom>
          <a:noFill/>
        </p:spPr>
        <p:txBody>
          <a:bodyPr wrap="square" lIns="45720" rIns="45720" anchor="t">
            <a:spAutoFit/>
          </a:bodyPr>
          <a:lstStyle/>
          <a:p>
            <a:pPr algn="ctr">
              <a:spcAft>
                <a:spcPts val="0"/>
              </a:spcAft>
            </a:pPr>
            <a:r>
              <a:rPr sz="1200" b="1" i="0">
                <a:solidFill>
                  <a:srgbClr val="F6F8F4"/>
                </a:solidFill>
                <a:latin typeface="Aptos"/>
              </a:rPr>
              <a:t>Storage</a:t>
            </a:r>
          </a:p>
        </p:txBody>
      </p:sp>
      <p:sp>
        <p:nvSpPr>
          <p:cNvPr id="29" name="TextBox 28"/>
          <p:cNvSpPr txBox="1"/>
          <p:nvPr/>
        </p:nvSpPr>
        <p:spPr>
          <a:xfrm>
            <a:off x="5568696" y="3108960"/>
            <a:ext cx="1298448" cy="384048"/>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Temperature, humidity, dates</a:t>
            </a:r>
          </a:p>
        </p:txBody>
      </p:sp>
      <p:cxnSp>
        <p:nvCxnSpPr>
          <p:cNvPr id="30" name="Connector 29"/>
          <p:cNvCxnSpPr/>
          <p:nvPr/>
        </p:nvCxnSpPr>
        <p:spPr>
          <a:xfrm>
            <a:off x="6940296" y="2743200"/>
            <a:ext cx="219456" cy="0"/>
          </a:xfrm>
          <a:prstGeom prst="line">
            <a:avLst/>
          </a:prstGeom>
          <a:ln w="20320">
            <a:solidFill>
              <a:srgbClr val="BAE079"/>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159752" y="1828800"/>
            <a:ext cx="1444752" cy="18288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598664" y="2011680"/>
            <a:ext cx="566928" cy="566928"/>
          </a:xfrm>
          <a:prstGeom prst="ellipse">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98664" y="2157984"/>
            <a:ext cx="566928" cy="182880"/>
          </a:xfrm>
          <a:prstGeom prst="rect">
            <a:avLst/>
          </a:prstGeom>
          <a:noFill/>
        </p:spPr>
        <p:txBody>
          <a:bodyPr wrap="square" lIns="45720" rIns="45720" anchor="t">
            <a:spAutoFit/>
          </a:bodyPr>
          <a:lstStyle/>
          <a:p>
            <a:pPr algn="ctr">
              <a:spcAft>
                <a:spcPts val="0"/>
              </a:spcAft>
            </a:pPr>
            <a:r>
              <a:rPr sz="1400" b="1" i="0">
                <a:solidFill>
                  <a:srgbClr val="070F13"/>
                </a:solidFill>
                <a:latin typeface="Aptos"/>
              </a:rPr>
              <a:t>5</a:t>
            </a:r>
          </a:p>
        </p:txBody>
      </p:sp>
      <p:sp>
        <p:nvSpPr>
          <p:cNvPr id="34" name="TextBox 33"/>
          <p:cNvSpPr txBox="1"/>
          <p:nvPr/>
        </p:nvSpPr>
        <p:spPr>
          <a:xfrm>
            <a:off x="7232904" y="2724912"/>
            <a:ext cx="1298448" cy="292608"/>
          </a:xfrm>
          <a:prstGeom prst="rect">
            <a:avLst/>
          </a:prstGeom>
          <a:noFill/>
        </p:spPr>
        <p:txBody>
          <a:bodyPr wrap="square" lIns="45720" rIns="45720" anchor="t">
            <a:spAutoFit/>
          </a:bodyPr>
          <a:lstStyle/>
          <a:p>
            <a:pPr algn="ctr">
              <a:spcAft>
                <a:spcPts val="0"/>
              </a:spcAft>
            </a:pPr>
            <a:r>
              <a:rPr sz="1200" b="1" i="0">
                <a:solidFill>
                  <a:srgbClr val="F6F8F4"/>
                </a:solidFill>
                <a:latin typeface="Aptos"/>
              </a:rPr>
              <a:t>Transport</a:t>
            </a:r>
          </a:p>
        </p:txBody>
      </p:sp>
      <p:sp>
        <p:nvSpPr>
          <p:cNvPr id="35" name="TextBox 34"/>
          <p:cNvSpPr txBox="1"/>
          <p:nvPr/>
        </p:nvSpPr>
        <p:spPr>
          <a:xfrm>
            <a:off x="7232904" y="3108960"/>
            <a:ext cx="1298448" cy="384048"/>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Route, transit conditions</a:t>
            </a:r>
          </a:p>
        </p:txBody>
      </p:sp>
      <p:cxnSp>
        <p:nvCxnSpPr>
          <p:cNvPr id="36" name="Connector 35"/>
          <p:cNvCxnSpPr/>
          <p:nvPr/>
        </p:nvCxnSpPr>
        <p:spPr>
          <a:xfrm>
            <a:off x="8604504" y="2743200"/>
            <a:ext cx="219456" cy="0"/>
          </a:xfrm>
          <a:prstGeom prst="line">
            <a:avLst/>
          </a:prstGeom>
          <a:ln w="20320">
            <a:solidFill>
              <a:srgbClr val="BAE079"/>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823960" y="1828800"/>
            <a:ext cx="1444752" cy="18288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262872" y="2011680"/>
            <a:ext cx="566928" cy="566928"/>
          </a:xfrm>
          <a:prstGeom prst="ellipse">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62872" y="2157984"/>
            <a:ext cx="566928" cy="182880"/>
          </a:xfrm>
          <a:prstGeom prst="rect">
            <a:avLst/>
          </a:prstGeom>
          <a:noFill/>
        </p:spPr>
        <p:txBody>
          <a:bodyPr wrap="square" lIns="45720" rIns="45720" anchor="t">
            <a:spAutoFit/>
          </a:bodyPr>
          <a:lstStyle/>
          <a:p>
            <a:pPr algn="ctr">
              <a:spcAft>
                <a:spcPts val="0"/>
              </a:spcAft>
            </a:pPr>
            <a:r>
              <a:rPr sz="1400" b="1" i="0">
                <a:solidFill>
                  <a:srgbClr val="070F13"/>
                </a:solidFill>
                <a:latin typeface="Aptos"/>
              </a:rPr>
              <a:t>6</a:t>
            </a:r>
          </a:p>
        </p:txBody>
      </p:sp>
      <p:sp>
        <p:nvSpPr>
          <p:cNvPr id="40" name="TextBox 39"/>
          <p:cNvSpPr txBox="1"/>
          <p:nvPr/>
        </p:nvSpPr>
        <p:spPr>
          <a:xfrm>
            <a:off x="8897112" y="2724912"/>
            <a:ext cx="1298448" cy="292608"/>
          </a:xfrm>
          <a:prstGeom prst="rect">
            <a:avLst/>
          </a:prstGeom>
          <a:noFill/>
        </p:spPr>
        <p:txBody>
          <a:bodyPr wrap="square" lIns="45720" rIns="45720" anchor="t">
            <a:spAutoFit/>
          </a:bodyPr>
          <a:lstStyle/>
          <a:p>
            <a:pPr algn="ctr">
              <a:spcAft>
                <a:spcPts val="0"/>
              </a:spcAft>
            </a:pPr>
            <a:r>
              <a:rPr sz="1200" b="1" i="0">
                <a:solidFill>
                  <a:srgbClr val="F6F8F4"/>
                </a:solidFill>
                <a:latin typeface="Aptos"/>
              </a:rPr>
              <a:t>Retail</a:t>
            </a:r>
          </a:p>
        </p:txBody>
      </p:sp>
      <p:sp>
        <p:nvSpPr>
          <p:cNvPr id="41" name="TextBox 40"/>
          <p:cNvSpPr txBox="1"/>
          <p:nvPr/>
        </p:nvSpPr>
        <p:spPr>
          <a:xfrm>
            <a:off x="8897112" y="3108960"/>
            <a:ext cx="1298448" cy="384048"/>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Store, received quantity</a:t>
            </a:r>
          </a:p>
        </p:txBody>
      </p:sp>
      <p:cxnSp>
        <p:nvCxnSpPr>
          <p:cNvPr id="42" name="Connector 41"/>
          <p:cNvCxnSpPr/>
          <p:nvPr/>
        </p:nvCxnSpPr>
        <p:spPr>
          <a:xfrm>
            <a:off x="10268712" y="2743200"/>
            <a:ext cx="219456" cy="0"/>
          </a:xfrm>
          <a:prstGeom prst="line">
            <a:avLst/>
          </a:prstGeom>
          <a:ln w="20320">
            <a:solidFill>
              <a:srgbClr val="BAE079"/>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488168" y="1828800"/>
            <a:ext cx="1444752" cy="18288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0927080" y="2011680"/>
            <a:ext cx="566928" cy="566928"/>
          </a:xfrm>
          <a:prstGeom prst="ellipse">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927080" y="2157984"/>
            <a:ext cx="566928" cy="182880"/>
          </a:xfrm>
          <a:prstGeom prst="rect">
            <a:avLst/>
          </a:prstGeom>
          <a:noFill/>
        </p:spPr>
        <p:txBody>
          <a:bodyPr wrap="square" lIns="45720" rIns="45720" anchor="t">
            <a:spAutoFit/>
          </a:bodyPr>
          <a:lstStyle/>
          <a:p>
            <a:pPr algn="ctr">
              <a:spcAft>
                <a:spcPts val="0"/>
              </a:spcAft>
            </a:pPr>
            <a:r>
              <a:rPr sz="1400" b="1" i="0">
                <a:solidFill>
                  <a:srgbClr val="070F13"/>
                </a:solidFill>
                <a:latin typeface="Aptos"/>
              </a:rPr>
              <a:t>7</a:t>
            </a:r>
          </a:p>
        </p:txBody>
      </p:sp>
      <p:sp>
        <p:nvSpPr>
          <p:cNvPr id="46" name="TextBox 45"/>
          <p:cNvSpPr txBox="1"/>
          <p:nvPr/>
        </p:nvSpPr>
        <p:spPr>
          <a:xfrm>
            <a:off x="10561320" y="2724912"/>
            <a:ext cx="1298448" cy="292608"/>
          </a:xfrm>
          <a:prstGeom prst="rect">
            <a:avLst/>
          </a:prstGeom>
          <a:noFill/>
        </p:spPr>
        <p:txBody>
          <a:bodyPr wrap="square" lIns="45720" rIns="45720" anchor="t">
            <a:spAutoFit/>
          </a:bodyPr>
          <a:lstStyle/>
          <a:p>
            <a:pPr algn="ctr">
              <a:spcAft>
                <a:spcPts val="0"/>
              </a:spcAft>
            </a:pPr>
            <a:r>
              <a:rPr sz="1200" b="1" i="0">
                <a:solidFill>
                  <a:srgbClr val="F6F8F4"/>
                </a:solidFill>
                <a:latin typeface="Aptos"/>
              </a:rPr>
              <a:t>Inspection</a:t>
            </a:r>
          </a:p>
        </p:txBody>
      </p:sp>
      <p:sp>
        <p:nvSpPr>
          <p:cNvPr id="47" name="TextBox 46"/>
          <p:cNvSpPr txBox="1"/>
          <p:nvPr/>
        </p:nvSpPr>
        <p:spPr>
          <a:xfrm>
            <a:off x="10561320" y="3108960"/>
            <a:ext cx="1298448" cy="384048"/>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Result and notes</a:t>
            </a:r>
          </a:p>
        </p:txBody>
      </p:sp>
      <p:sp>
        <p:nvSpPr>
          <p:cNvPr id="48" name="Rounded Rectangle 47"/>
          <p:cNvSpPr/>
          <p:nvPr/>
        </p:nvSpPr>
        <p:spPr>
          <a:xfrm>
            <a:off x="960120" y="4343400"/>
            <a:ext cx="4754880" cy="868680"/>
          </a:xfrm>
          <a:prstGeom prst="roundRect">
            <a:avLst>
              <a:gd name="adj" fmla="val 12000"/>
            </a:avLst>
          </a:prstGeom>
          <a:solidFill>
            <a:srgbClr val="2149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88720" y="4526280"/>
            <a:ext cx="4297680" cy="228600"/>
          </a:xfrm>
          <a:prstGeom prst="rect">
            <a:avLst/>
          </a:prstGeom>
          <a:noFill/>
        </p:spPr>
        <p:txBody>
          <a:bodyPr wrap="square" lIns="45720" rIns="45720" anchor="t">
            <a:spAutoFit/>
          </a:bodyPr>
          <a:lstStyle/>
          <a:p>
            <a:pPr algn="ctr">
              <a:spcAft>
                <a:spcPts val="0"/>
              </a:spcAft>
            </a:pPr>
            <a:r>
              <a:rPr sz="1400" b="1" i="0">
                <a:solidFill>
                  <a:srgbClr val="F6F8F4"/>
                </a:solidFill>
                <a:latin typeface="Aptos"/>
              </a:rPr>
              <a:t>QR CODE → batch-specific traceability URL</a:t>
            </a:r>
          </a:p>
        </p:txBody>
      </p:sp>
      <p:sp>
        <p:nvSpPr>
          <p:cNvPr id="50" name="Rounded Rectangle 49"/>
          <p:cNvSpPr/>
          <p:nvPr/>
        </p:nvSpPr>
        <p:spPr>
          <a:xfrm>
            <a:off x="6446520" y="4343400"/>
            <a:ext cx="4754880" cy="868680"/>
          </a:xfrm>
          <a:prstGeom prst="roundRect">
            <a:avLst>
              <a:gd name="adj" fmla="val 12000"/>
            </a:avLst>
          </a:prstGeom>
          <a:solidFill>
            <a:srgbClr val="26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675120" y="4526280"/>
            <a:ext cx="4297680" cy="228600"/>
          </a:xfrm>
          <a:prstGeom prst="rect">
            <a:avLst/>
          </a:prstGeom>
          <a:noFill/>
        </p:spPr>
        <p:txBody>
          <a:bodyPr wrap="square" lIns="45720" rIns="45720" anchor="t">
            <a:spAutoFit/>
          </a:bodyPr>
          <a:lstStyle/>
          <a:p>
            <a:pPr algn="ctr">
              <a:spcAft>
                <a:spcPts val="0"/>
              </a:spcAft>
            </a:pPr>
            <a:r>
              <a:rPr sz="1400" b="1" i="0">
                <a:solidFill>
                  <a:srgbClr val="F6F8F4"/>
                </a:solidFill>
                <a:latin typeface="Aptos"/>
              </a:rPr>
              <a:t>RISK SCORE → saved estimate and history</a:t>
            </a:r>
          </a:p>
        </p:txBody>
      </p:sp>
      <p:sp>
        <p:nvSpPr>
          <p:cNvPr id="52" name="TextBox 51"/>
          <p:cNvSpPr txBox="1"/>
          <p:nvPr/>
        </p:nvSpPr>
        <p:spPr>
          <a:xfrm>
            <a:off x="822960" y="5577840"/>
            <a:ext cx="10607040" cy="365760"/>
          </a:xfrm>
          <a:prstGeom prst="rect">
            <a:avLst/>
          </a:prstGeom>
          <a:noFill/>
        </p:spPr>
        <p:txBody>
          <a:bodyPr wrap="square" lIns="45720" rIns="45720" anchor="t">
            <a:spAutoFit/>
          </a:bodyPr>
          <a:lstStyle/>
          <a:p>
            <a:pPr algn="l">
              <a:spcAft>
                <a:spcPts val="0"/>
              </a:spcAft>
            </a:pPr>
            <a:r>
              <a:rPr sz="1400" b="0" i="0">
                <a:solidFill>
                  <a:srgbClr val="B7C6C1"/>
                </a:solidFill>
                <a:latin typeface="Aptos"/>
              </a:rPr>
              <a:t>The traceability view assembles recorded events for one selected batch; records are only as complete as the data entered.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IMPLEMENTATION EVIDENCE</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Working application: dashboard and navigation</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13</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17320"/>
            <a:ext cx="7315200" cy="4480560"/>
          </a:xfrm>
          <a:prstGeom prst="roundRect">
            <a:avLst>
              <a:gd name="adj" fmla="val 12000"/>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183879" y="1508760"/>
            <a:ext cx="3383280" cy="416052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58200" y="1783080"/>
            <a:ext cx="2834640" cy="347472"/>
          </a:xfrm>
          <a:prstGeom prst="rect">
            <a:avLst/>
          </a:prstGeom>
          <a:noFill/>
        </p:spPr>
        <p:txBody>
          <a:bodyPr wrap="square" lIns="45720" rIns="45720" anchor="t">
            <a:spAutoFit/>
          </a:bodyPr>
          <a:lstStyle/>
          <a:p>
            <a:pPr algn="l">
              <a:spcAft>
                <a:spcPts val="0"/>
              </a:spcAft>
            </a:pPr>
            <a:r>
              <a:rPr sz="1700" b="1" i="0">
                <a:solidFill>
                  <a:srgbClr val="BAE079"/>
                </a:solidFill>
                <a:latin typeface="Aptos"/>
              </a:rPr>
              <a:t>What the UI provides</a:t>
            </a:r>
          </a:p>
        </p:txBody>
      </p:sp>
      <p:sp>
        <p:nvSpPr>
          <p:cNvPr id="11" name="TextBox 10"/>
          <p:cNvSpPr txBox="1"/>
          <p:nvPr/>
        </p:nvSpPr>
        <p:spPr>
          <a:xfrm>
            <a:off x="8412480" y="2304288"/>
            <a:ext cx="2834640" cy="2834640"/>
          </a:xfrm>
          <a:prstGeom prst="rect">
            <a:avLst/>
          </a:prstGeom>
          <a:noFill/>
        </p:spPr>
        <p:txBody>
          <a:bodyPr wrap="square" lIns="54864" tIns="27432" rIns="54864" bIns="18288">
            <a:spAutoFit/>
          </a:bodyPr>
          <a:lstStyle/>
          <a:p>
            <a:pPr>
              <a:spcAft>
                <a:spcPts val="800"/>
              </a:spcAft>
              <a:defRPr sz="1300">
                <a:solidFill>
                  <a:srgbClr val="F6F8F4"/>
                </a:solidFill>
                <a:latin typeface="Aptos"/>
              </a:defRPr>
            </a:pPr>
            <a:r>
              <a:t>•  Dashboard landing page</a:t>
            </a:r>
          </a:p>
          <a:p>
            <a:pPr>
              <a:spcAft>
                <a:spcPts val="800"/>
              </a:spcAft>
              <a:defRPr sz="1300">
                <a:solidFill>
                  <a:srgbClr val="F6F8F4"/>
                </a:solidFill>
                <a:latin typeface="Aptos"/>
              </a:defRPr>
            </a:pPr>
            <a:r>
              <a:t>•  Batch traceability</a:t>
            </a:r>
          </a:p>
          <a:p>
            <a:pPr>
              <a:spcAft>
                <a:spcPts val="800"/>
              </a:spcAft>
              <a:defRPr sz="1300">
                <a:solidFill>
                  <a:srgbClr val="F6F8F4"/>
                </a:solidFill>
                <a:latin typeface="Aptos"/>
              </a:defRPr>
            </a:pPr>
            <a:r>
              <a:t>•  QR Code Generator</a:t>
            </a:r>
          </a:p>
          <a:p>
            <a:pPr>
              <a:spcAft>
                <a:spcPts val="800"/>
              </a:spcAft>
              <a:defRPr sz="1300">
                <a:solidFill>
                  <a:srgbClr val="F6F8F4"/>
                </a:solidFill>
                <a:latin typeface="Aptos"/>
              </a:defRPr>
            </a:pPr>
            <a:r>
              <a:t>•  AI Risk Prediction</a:t>
            </a:r>
          </a:p>
          <a:p>
            <a:pPr>
              <a:spcAft>
                <a:spcPts val="800"/>
              </a:spcAft>
              <a:defRPr sz="1300">
                <a:solidFill>
                  <a:srgbClr val="F6F8F4"/>
                </a:solidFill>
                <a:latin typeface="Aptos"/>
              </a:defRPr>
            </a:pPr>
            <a:r>
              <a:t>•  Local SQLite-backed records</a:t>
            </a:r>
          </a:p>
        </p:txBody>
      </p:sp>
      <p:sp>
        <p:nvSpPr>
          <p:cNvPr id="12" name="Rounded Rectangle 11"/>
          <p:cNvSpPr/>
          <p:nvPr/>
        </p:nvSpPr>
        <p:spPr>
          <a:xfrm>
            <a:off x="594360" y="1417320"/>
            <a:ext cx="7315200" cy="4480560"/>
          </a:xfrm>
          <a:prstGeom prst="roundRect">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creenshot 2026-10-12 at 10.20.48 PM.png"/>
          <p:cNvPicPr>
            <a:picLocks noChangeAspect="1"/>
          </p:cNvPicPr>
          <p:nvPr/>
        </p:nvPicPr>
        <p:blipFill>
          <a:blip r:embed="rId2"/>
          <a:stretch>
            <a:fillRect/>
          </a:stretch>
        </p:blipFill>
        <p:spPr>
          <a:xfrm>
            <a:off x="806540" y="1417320"/>
            <a:ext cx="6890838" cy="44805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IMPLEMENTATION EVIDENCE</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Working application: batch traceability</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14</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371600"/>
            <a:ext cx="7543800" cy="4526280"/>
          </a:xfrm>
          <a:prstGeom prst="roundRect">
            <a:avLst>
              <a:gd name="adj" fmla="val 12000"/>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366760" y="1481328"/>
            <a:ext cx="3154680" cy="42519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41080" y="1783080"/>
            <a:ext cx="2606040" cy="320040"/>
          </a:xfrm>
          <a:prstGeom prst="rect">
            <a:avLst/>
          </a:prstGeom>
          <a:noFill/>
        </p:spPr>
        <p:txBody>
          <a:bodyPr wrap="square" lIns="45720" rIns="45720" anchor="t">
            <a:spAutoFit/>
          </a:bodyPr>
          <a:lstStyle/>
          <a:p>
            <a:pPr algn="l">
              <a:spcAft>
                <a:spcPts val="0"/>
              </a:spcAft>
            </a:pPr>
            <a:r>
              <a:rPr sz="1700" b="1" i="0">
                <a:solidFill>
                  <a:srgbClr val="BAE079"/>
                </a:solidFill>
                <a:latin typeface="Aptos"/>
              </a:rPr>
              <a:t>Demo batch</a:t>
            </a:r>
          </a:p>
        </p:txBody>
      </p:sp>
      <p:sp>
        <p:nvSpPr>
          <p:cNvPr id="11" name="TextBox 10"/>
          <p:cNvSpPr txBox="1"/>
          <p:nvPr/>
        </p:nvSpPr>
        <p:spPr>
          <a:xfrm>
            <a:off x="8641080" y="2212848"/>
            <a:ext cx="2606040" cy="502920"/>
          </a:xfrm>
          <a:prstGeom prst="rect">
            <a:avLst/>
          </a:prstGeom>
          <a:noFill/>
        </p:spPr>
        <p:txBody>
          <a:bodyPr wrap="square" lIns="45720" rIns="45720" anchor="t">
            <a:spAutoFit/>
          </a:bodyPr>
          <a:lstStyle/>
          <a:p>
            <a:pPr algn="l">
              <a:spcAft>
                <a:spcPts val="0"/>
              </a:spcAft>
            </a:pPr>
            <a:r>
              <a:rPr sz="1500" b="1" i="0">
                <a:solidFill>
                  <a:srgbClr val="F6F8F4"/>
                </a:solidFill>
                <a:latin typeface="Aptos"/>
              </a:rPr>
              <a:t>BATCH-2026-000123</a:t>
            </a:r>
          </a:p>
        </p:txBody>
      </p:sp>
      <p:sp>
        <p:nvSpPr>
          <p:cNvPr id="12" name="TextBox 11"/>
          <p:cNvSpPr txBox="1"/>
          <p:nvPr/>
        </p:nvSpPr>
        <p:spPr>
          <a:xfrm>
            <a:off x="8641080" y="2761488"/>
            <a:ext cx="2606040" cy="548640"/>
          </a:xfrm>
          <a:prstGeom prst="rect">
            <a:avLst/>
          </a:prstGeom>
          <a:noFill/>
        </p:spPr>
        <p:txBody>
          <a:bodyPr wrap="square" lIns="45720" rIns="45720" anchor="t">
            <a:spAutoFit/>
          </a:bodyPr>
          <a:lstStyle/>
          <a:p>
            <a:pPr algn="l">
              <a:spcAft>
                <a:spcPts val="0"/>
              </a:spcAft>
            </a:pPr>
            <a:r>
              <a:rPr sz="1300" b="0" i="0">
                <a:solidFill>
                  <a:srgbClr val="B7C6C1"/>
                </a:solidFill>
                <a:latin typeface="Aptos"/>
              </a:rPr>
              <a:t>Crop: Tomato
Quantity: 1,000 kg</a:t>
            </a:r>
          </a:p>
        </p:txBody>
      </p:sp>
      <p:sp>
        <p:nvSpPr>
          <p:cNvPr id="13" name="TextBox 12"/>
          <p:cNvSpPr txBox="1"/>
          <p:nvPr/>
        </p:nvSpPr>
        <p:spPr>
          <a:xfrm>
            <a:off x="8641080" y="3566160"/>
            <a:ext cx="2606040" cy="292608"/>
          </a:xfrm>
          <a:prstGeom prst="rect">
            <a:avLst/>
          </a:prstGeom>
          <a:noFill/>
        </p:spPr>
        <p:txBody>
          <a:bodyPr wrap="square" lIns="45720" rIns="45720" anchor="t">
            <a:spAutoFit/>
          </a:bodyPr>
          <a:lstStyle/>
          <a:p>
            <a:pPr algn="l">
              <a:spcAft>
                <a:spcPts val="0"/>
              </a:spcAft>
            </a:pPr>
            <a:r>
              <a:rPr sz="1400" b="1" i="0">
                <a:solidFill>
                  <a:srgbClr val="60AEDC"/>
                </a:solidFill>
                <a:latin typeface="Aptos"/>
              </a:rPr>
              <a:t>Traceability sections</a:t>
            </a:r>
          </a:p>
        </p:txBody>
      </p:sp>
      <p:sp>
        <p:nvSpPr>
          <p:cNvPr id="14" name="TextBox 13"/>
          <p:cNvSpPr txBox="1"/>
          <p:nvPr/>
        </p:nvSpPr>
        <p:spPr>
          <a:xfrm>
            <a:off x="8595360" y="3931920"/>
            <a:ext cx="2651760" cy="1325880"/>
          </a:xfrm>
          <a:prstGeom prst="rect">
            <a:avLst/>
          </a:prstGeom>
          <a:noFill/>
        </p:spPr>
        <p:txBody>
          <a:bodyPr wrap="square" lIns="54864" tIns="27432" rIns="54864" bIns="18288">
            <a:spAutoFit/>
          </a:bodyPr>
          <a:lstStyle/>
          <a:p>
            <a:pPr>
              <a:spcAft>
                <a:spcPts val="400"/>
              </a:spcAft>
              <a:defRPr sz="1100">
                <a:solidFill>
                  <a:srgbClr val="F6F8F4"/>
                </a:solidFill>
                <a:latin typeface="Aptos"/>
              </a:defRPr>
            </a:pPr>
            <a:r>
              <a:t>•  Farm origin</a:t>
            </a:r>
          </a:p>
          <a:p>
            <a:pPr>
              <a:spcAft>
                <a:spcPts val="400"/>
              </a:spcAft>
              <a:defRPr sz="1100">
                <a:solidFill>
                  <a:srgbClr val="F6F8F4"/>
                </a:solidFill>
                <a:latin typeface="Aptos"/>
              </a:defRPr>
            </a:pPr>
            <a:r>
              <a:t>•  Collection / processing</a:t>
            </a:r>
          </a:p>
          <a:p>
            <a:pPr>
              <a:spcAft>
                <a:spcPts val="400"/>
              </a:spcAft>
              <a:defRPr sz="1100">
                <a:solidFill>
                  <a:srgbClr val="F6F8F4"/>
                </a:solidFill>
                <a:latin typeface="Aptos"/>
              </a:defRPr>
            </a:pPr>
            <a:r>
              <a:t>•  Storage / transport</a:t>
            </a:r>
          </a:p>
          <a:p>
            <a:pPr>
              <a:spcAft>
                <a:spcPts val="400"/>
              </a:spcAft>
              <a:defRPr sz="1100">
                <a:solidFill>
                  <a:srgbClr val="F6F8F4"/>
                </a:solidFill>
                <a:latin typeface="Aptos"/>
              </a:defRPr>
            </a:pPr>
            <a:r>
              <a:t>•  Retail / inspection</a:t>
            </a:r>
          </a:p>
          <a:p>
            <a:pPr>
              <a:spcAft>
                <a:spcPts val="400"/>
              </a:spcAft>
              <a:defRPr sz="1100">
                <a:solidFill>
                  <a:srgbClr val="F6F8F4"/>
                </a:solidFill>
                <a:latin typeface="Aptos"/>
              </a:defRPr>
            </a:pPr>
            <a:r>
              <a:t>•  Risk history</a:t>
            </a:r>
          </a:p>
        </p:txBody>
      </p:sp>
      <p:sp>
        <p:nvSpPr>
          <p:cNvPr id="15" name="Rounded Rectangle 14"/>
          <p:cNvSpPr/>
          <p:nvPr/>
        </p:nvSpPr>
        <p:spPr>
          <a:xfrm>
            <a:off x="594360" y="1371600"/>
            <a:ext cx="7543800" cy="4526280"/>
          </a:xfrm>
          <a:prstGeom prst="roundRect">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Screenshot 2026-10-12 at 11.03.26 PM.png"/>
          <p:cNvPicPr>
            <a:picLocks noChangeAspect="1"/>
          </p:cNvPicPr>
          <p:nvPr/>
        </p:nvPicPr>
        <p:blipFill>
          <a:blip r:embed="rId2"/>
          <a:stretch>
            <a:fillRect/>
          </a:stretch>
        </p:blipFill>
        <p:spPr>
          <a:xfrm>
            <a:off x="885683" y="1371600"/>
            <a:ext cx="6961153" cy="4526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IMPLEMENTATION EVIDENCE</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QR-code generation and access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15</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371600"/>
            <a:ext cx="6766560" cy="4526280"/>
          </a:xfrm>
          <a:prstGeom prst="roundRect">
            <a:avLst>
              <a:gd name="adj" fmla="val 12000"/>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635240" y="1481328"/>
            <a:ext cx="3886200" cy="42519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36992" y="1783080"/>
            <a:ext cx="3246120" cy="320040"/>
          </a:xfrm>
          <a:prstGeom prst="rect">
            <a:avLst/>
          </a:prstGeom>
          <a:noFill/>
        </p:spPr>
        <p:txBody>
          <a:bodyPr wrap="square" lIns="45720" rIns="45720" anchor="t">
            <a:spAutoFit/>
          </a:bodyPr>
          <a:lstStyle/>
          <a:p>
            <a:pPr algn="l">
              <a:spcAft>
                <a:spcPts val="0"/>
              </a:spcAft>
            </a:pPr>
            <a:r>
              <a:rPr sz="1800" b="1" i="0">
                <a:solidFill>
                  <a:srgbClr val="BAE079"/>
                </a:solidFill>
                <a:latin typeface="Aptos"/>
              </a:rPr>
              <a:t>QR flow</a:t>
            </a:r>
          </a:p>
        </p:txBody>
      </p:sp>
      <p:sp>
        <p:nvSpPr>
          <p:cNvPr id="11" name="TextBox 10"/>
          <p:cNvSpPr txBox="1"/>
          <p:nvPr/>
        </p:nvSpPr>
        <p:spPr>
          <a:xfrm>
            <a:off x="7936992" y="2267712"/>
            <a:ext cx="3200400" cy="228600"/>
          </a:xfrm>
          <a:prstGeom prst="rect">
            <a:avLst/>
          </a:prstGeom>
          <a:noFill/>
        </p:spPr>
        <p:txBody>
          <a:bodyPr wrap="square" lIns="45720" rIns="45720" anchor="t">
            <a:spAutoFit/>
          </a:bodyPr>
          <a:lstStyle/>
          <a:p>
            <a:pPr algn="l">
              <a:spcAft>
                <a:spcPts val="0"/>
              </a:spcAft>
            </a:pPr>
            <a:r>
              <a:rPr sz="1300" b="1" i="0">
                <a:solidFill>
                  <a:srgbClr val="F6F8F4"/>
                </a:solidFill>
                <a:latin typeface="Aptos"/>
              </a:rPr>
              <a:t>1. Select batch</a:t>
            </a:r>
          </a:p>
        </p:txBody>
      </p:sp>
      <p:sp>
        <p:nvSpPr>
          <p:cNvPr id="12" name="TextBox 11"/>
          <p:cNvSpPr txBox="1"/>
          <p:nvPr/>
        </p:nvSpPr>
        <p:spPr>
          <a:xfrm>
            <a:off x="7936992" y="2532888"/>
            <a:ext cx="3200400" cy="310896"/>
          </a:xfrm>
          <a:prstGeom prst="rect">
            <a:avLst/>
          </a:prstGeom>
          <a:noFill/>
        </p:spPr>
        <p:txBody>
          <a:bodyPr wrap="square" lIns="45720" rIns="45720" anchor="t">
            <a:spAutoFit/>
          </a:bodyPr>
          <a:lstStyle/>
          <a:p>
            <a:pPr algn="l">
              <a:spcAft>
                <a:spcPts val="0"/>
              </a:spcAft>
            </a:pPr>
            <a:r>
              <a:rPr sz="1050" b="0" i="0">
                <a:solidFill>
                  <a:srgbClr val="B7C6C1"/>
                </a:solidFill>
                <a:latin typeface="Aptos"/>
              </a:rPr>
              <a:t>Choose a batch ID in the QR page.</a:t>
            </a:r>
          </a:p>
        </p:txBody>
      </p:sp>
      <p:sp>
        <p:nvSpPr>
          <p:cNvPr id="13" name="TextBox 12"/>
          <p:cNvSpPr txBox="1"/>
          <p:nvPr/>
        </p:nvSpPr>
        <p:spPr>
          <a:xfrm>
            <a:off x="7936992" y="2980944"/>
            <a:ext cx="3200400" cy="228600"/>
          </a:xfrm>
          <a:prstGeom prst="rect">
            <a:avLst/>
          </a:prstGeom>
          <a:noFill/>
        </p:spPr>
        <p:txBody>
          <a:bodyPr wrap="square" lIns="45720" rIns="45720" anchor="t">
            <a:spAutoFit/>
          </a:bodyPr>
          <a:lstStyle/>
          <a:p>
            <a:pPr algn="l">
              <a:spcAft>
                <a:spcPts val="0"/>
              </a:spcAft>
            </a:pPr>
            <a:r>
              <a:rPr sz="1300" b="1" i="0">
                <a:solidFill>
                  <a:srgbClr val="F6F8F4"/>
                </a:solidFill>
                <a:latin typeface="Aptos"/>
              </a:rPr>
              <a:t>2. Generate</a:t>
            </a:r>
          </a:p>
        </p:txBody>
      </p:sp>
      <p:sp>
        <p:nvSpPr>
          <p:cNvPr id="14" name="TextBox 13"/>
          <p:cNvSpPr txBox="1"/>
          <p:nvPr/>
        </p:nvSpPr>
        <p:spPr>
          <a:xfrm>
            <a:off x="7936992" y="3246120"/>
            <a:ext cx="3200400" cy="310896"/>
          </a:xfrm>
          <a:prstGeom prst="rect">
            <a:avLst/>
          </a:prstGeom>
          <a:noFill/>
        </p:spPr>
        <p:txBody>
          <a:bodyPr wrap="square" lIns="45720" rIns="45720" anchor="t">
            <a:spAutoFit/>
          </a:bodyPr>
          <a:lstStyle/>
          <a:p>
            <a:pPr algn="l">
              <a:spcAft>
                <a:spcPts val="0"/>
              </a:spcAft>
            </a:pPr>
            <a:r>
              <a:rPr sz="1050" b="0" i="0">
                <a:solidFill>
                  <a:srgbClr val="B7C6C1"/>
                </a:solidFill>
                <a:latin typeface="Aptos"/>
              </a:rPr>
              <a:t>Render the QR and download a PNG.</a:t>
            </a:r>
          </a:p>
        </p:txBody>
      </p:sp>
      <p:sp>
        <p:nvSpPr>
          <p:cNvPr id="15" name="TextBox 14"/>
          <p:cNvSpPr txBox="1"/>
          <p:nvPr/>
        </p:nvSpPr>
        <p:spPr>
          <a:xfrm>
            <a:off x="7936992" y="3694176"/>
            <a:ext cx="3200400" cy="228600"/>
          </a:xfrm>
          <a:prstGeom prst="rect">
            <a:avLst/>
          </a:prstGeom>
          <a:noFill/>
        </p:spPr>
        <p:txBody>
          <a:bodyPr wrap="square" lIns="45720" rIns="45720" anchor="t">
            <a:spAutoFit/>
          </a:bodyPr>
          <a:lstStyle/>
          <a:p>
            <a:pPr algn="l">
              <a:spcAft>
                <a:spcPts val="0"/>
              </a:spcAft>
            </a:pPr>
            <a:r>
              <a:rPr sz="1300" b="1" i="0">
                <a:solidFill>
                  <a:srgbClr val="F6F8F4"/>
                </a:solidFill>
                <a:latin typeface="Aptos"/>
              </a:rPr>
              <a:t>3. Scan</a:t>
            </a:r>
          </a:p>
        </p:txBody>
      </p:sp>
      <p:sp>
        <p:nvSpPr>
          <p:cNvPr id="16" name="TextBox 15"/>
          <p:cNvSpPr txBox="1"/>
          <p:nvPr/>
        </p:nvSpPr>
        <p:spPr>
          <a:xfrm>
            <a:off x="7936992" y="3959352"/>
            <a:ext cx="3200400" cy="310896"/>
          </a:xfrm>
          <a:prstGeom prst="rect">
            <a:avLst/>
          </a:prstGeom>
          <a:noFill/>
        </p:spPr>
        <p:txBody>
          <a:bodyPr wrap="square" lIns="45720" rIns="45720" anchor="t">
            <a:spAutoFit/>
          </a:bodyPr>
          <a:lstStyle/>
          <a:p>
            <a:pPr algn="l">
              <a:spcAft>
                <a:spcPts val="0"/>
              </a:spcAft>
            </a:pPr>
            <a:r>
              <a:rPr sz="1050" b="0" i="0">
                <a:solidFill>
                  <a:srgbClr val="B7C6C1"/>
                </a:solidFill>
                <a:latin typeface="Aptos"/>
              </a:rPr>
              <a:t>Phone opens the batch-specific URL.</a:t>
            </a:r>
          </a:p>
        </p:txBody>
      </p:sp>
      <p:sp>
        <p:nvSpPr>
          <p:cNvPr id="17" name="TextBox 16"/>
          <p:cNvSpPr txBox="1"/>
          <p:nvPr/>
        </p:nvSpPr>
        <p:spPr>
          <a:xfrm>
            <a:off x="7936992" y="4407408"/>
            <a:ext cx="3200400" cy="228600"/>
          </a:xfrm>
          <a:prstGeom prst="rect">
            <a:avLst/>
          </a:prstGeom>
          <a:noFill/>
        </p:spPr>
        <p:txBody>
          <a:bodyPr wrap="square" lIns="45720" rIns="45720" anchor="t">
            <a:spAutoFit/>
          </a:bodyPr>
          <a:lstStyle/>
          <a:p>
            <a:pPr algn="l">
              <a:spcAft>
                <a:spcPts val="0"/>
              </a:spcAft>
            </a:pPr>
            <a:r>
              <a:rPr sz="1300" b="1" i="0">
                <a:solidFill>
                  <a:srgbClr val="F6F8F4"/>
                </a:solidFill>
                <a:latin typeface="Aptos"/>
              </a:rPr>
              <a:t>4. View</a:t>
            </a:r>
          </a:p>
        </p:txBody>
      </p:sp>
      <p:sp>
        <p:nvSpPr>
          <p:cNvPr id="18" name="TextBox 17"/>
          <p:cNvSpPr txBox="1"/>
          <p:nvPr/>
        </p:nvSpPr>
        <p:spPr>
          <a:xfrm>
            <a:off x="7936992" y="4672584"/>
            <a:ext cx="3200400" cy="310896"/>
          </a:xfrm>
          <a:prstGeom prst="rect">
            <a:avLst/>
          </a:prstGeom>
          <a:noFill/>
        </p:spPr>
        <p:txBody>
          <a:bodyPr wrap="square" lIns="45720" rIns="45720" anchor="t">
            <a:spAutoFit/>
          </a:bodyPr>
          <a:lstStyle/>
          <a:p>
            <a:pPr algn="l">
              <a:spcAft>
                <a:spcPts val="0"/>
              </a:spcAft>
            </a:pPr>
            <a:r>
              <a:rPr sz="1050" b="0" i="0">
                <a:solidFill>
                  <a:srgbClr val="B7C6C1"/>
                </a:solidFill>
                <a:latin typeface="Aptos"/>
              </a:rPr>
              <a:t>Traceability page loads if host is reachable.</a:t>
            </a:r>
          </a:p>
        </p:txBody>
      </p:sp>
      <p:sp>
        <p:nvSpPr>
          <p:cNvPr id="19" name="TextBox 18"/>
          <p:cNvSpPr txBox="1"/>
          <p:nvPr/>
        </p:nvSpPr>
        <p:spPr>
          <a:xfrm>
            <a:off x="731520" y="5989320"/>
            <a:ext cx="10789920" cy="228600"/>
          </a:xfrm>
          <a:prstGeom prst="rect">
            <a:avLst/>
          </a:prstGeom>
          <a:noFill/>
        </p:spPr>
        <p:txBody>
          <a:bodyPr wrap="square" lIns="45720" rIns="45720" anchor="t">
            <a:spAutoFit/>
          </a:bodyPr>
          <a:lstStyle/>
          <a:p>
            <a:pPr algn="l">
              <a:spcAft>
                <a:spcPts val="0"/>
              </a:spcAft>
            </a:pPr>
            <a:r>
              <a:rPr sz="1100" b="1" i="0">
                <a:solidFill>
                  <a:srgbClr val="F4BE53"/>
                </a:solidFill>
                <a:latin typeface="Aptos"/>
              </a:rPr>
              <a:t>Network note: localhost only refers to the device running the browser; phone access requires a reachable LAN or deployed URL.</a:t>
            </a:r>
          </a:p>
        </p:txBody>
      </p:sp>
      <p:sp>
        <p:nvSpPr>
          <p:cNvPr id="20" name="Rounded Rectangle 19"/>
          <p:cNvSpPr/>
          <p:nvPr/>
        </p:nvSpPr>
        <p:spPr>
          <a:xfrm>
            <a:off x="594360" y="1371600"/>
            <a:ext cx="6766560" cy="4526280"/>
          </a:xfrm>
          <a:prstGeom prst="roundRect">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creenshot 2026-10-12 at 11.28.06 PM.png"/>
          <p:cNvPicPr>
            <a:picLocks noChangeAspect="1"/>
          </p:cNvPicPr>
          <p:nvPr/>
        </p:nvPicPr>
        <p:blipFill>
          <a:blip r:embed="rId2"/>
          <a:stretch>
            <a:fillRect/>
          </a:stretch>
        </p:blipFill>
        <p:spPr>
          <a:xfrm>
            <a:off x="594360" y="1434864"/>
            <a:ext cx="6766560" cy="439975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MACHINE-LEARNING WORKFLOW</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AI risk prediction pipeline</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16</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731520" y="1481328"/>
            <a:ext cx="2240280" cy="603504"/>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 y="1645920"/>
            <a:ext cx="1938528" cy="246888"/>
          </a:xfrm>
          <a:prstGeom prst="rect">
            <a:avLst/>
          </a:prstGeom>
          <a:noFill/>
        </p:spPr>
        <p:txBody>
          <a:bodyPr wrap="square" lIns="45720" rIns="45720" anchor="t">
            <a:spAutoFit/>
          </a:bodyPr>
          <a:lstStyle/>
          <a:p>
            <a:pPr algn="ctr">
              <a:spcAft>
                <a:spcPts val="0"/>
              </a:spcAft>
            </a:pPr>
            <a:r>
              <a:rPr sz="1400" b="1" i="0">
                <a:solidFill>
                  <a:srgbClr val="F6F8F4"/>
                </a:solidFill>
                <a:latin typeface="Aptos"/>
              </a:rPr>
              <a:t>Input data</a:t>
            </a:r>
          </a:p>
        </p:txBody>
      </p:sp>
      <p:sp>
        <p:nvSpPr>
          <p:cNvPr id="9" name="TextBox 8"/>
          <p:cNvSpPr txBox="1"/>
          <p:nvPr/>
        </p:nvSpPr>
        <p:spPr>
          <a:xfrm>
            <a:off x="3337560" y="1591056"/>
            <a:ext cx="7726679" cy="36576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Crop, stage, storage, transit, humidity, inspection history</a:t>
            </a:r>
          </a:p>
        </p:txBody>
      </p:sp>
      <p:cxnSp>
        <p:nvCxnSpPr>
          <p:cNvPr id="10" name="Connector 9"/>
          <p:cNvCxnSpPr/>
          <p:nvPr/>
        </p:nvCxnSpPr>
        <p:spPr>
          <a:xfrm>
            <a:off x="1856231" y="2084832"/>
            <a:ext cx="0" cy="201168"/>
          </a:xfrm>
          <a:prstGeom prst="line">
            <a:avLst/>
          </a:prstGeom>
          <a:ln w="19050">
            <a:solidFill>
              <a:srgbClr val="5BB86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1520" y="2304288"/>
            <a:ext cx="2240280" cy="603504"/>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 y="2468880"/>
            <a:ext cx="1938528" cy="246888"/>
          </a:xfrm>
          <a:prstGeom prst="rect">
            <a:avLst/>
          </a:prstGeom>
          <a:noFill/>
        </p:spPr>
        <p:txBody>
          <a:bodyPr wrap="square" lIns="45720" rIns="45720" anchor="t">
            <a:spAutoFit/>
          </a:bodyPr>
          <a:lstStyle/>
          <a:p>
            <a:pPr algn="ctr">
              <a:spcAft>
                <a:spcPts val="0"/>
              </a:spcAft>
            </a:pPr>
            <a:r>
              <a:rPr sz="1400" b="1" i="0">
                <a:solidFill>
                  <a:srgbClr val="F6F8F4"/>
                </a:solidFill>
                <a:latin typeface="Aptos"/>
              </a:rPr>
              <a:t>Feature preparation</a:t>
            </a:r>
          </a:p>
        </p:txBody>
      </p:sp>
      <p:sp>
        <p:nvSpPr>
          <p:cNvPr id="13" name="TextBox 12"/>
          <p:cNvSpPr txBox="1"/>
          <p:nvPr/>
        </p:nvSpPr>
        <p:spPr>
          <a:xfrm>
            <a:off x="3337560" y="2414016"/>
            <a:ext cx="7726679" cy="36576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Convert recorded conditions into model-ready fields</a:t>
            </a:r>
          </a:p>
        </p:txBody>
      </p:sp>
      <p:cxnSp>
        <p:nvCxnSpPr>
          <p:cNvPr id="14" name="Connector 13"/>
          <p:cNvCxnSpPr/>
          <p:nvPr/>
        </p:nvCxnSpPr>
        <p:spPr>
          <a:xfrm>
            <a:off x="1856231" y="2907792"/>
            <a:ext cx="0" cy="201168"/>
          </a:xfrm>
          <a:prstGeom prst="line">
            <a:avLst/>
          </a:prstGeom>
          <a:ln w="19050">
            <a:solidFill>
              <a:srgbClr val="5BB86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1520" y="3127248"/>
            <a:ext cx="2240280" cy="603504"/>
          </a:xfrm>
          <a:prstGeom prst="roundRect">
            <a:avLst>
              <a:gd name="adj" fmla="val 12000"/>
            </a:avLst>
          </a:prstGeom>
          <a:solidFill>
            <a:srgbClr val="255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3291840"/>
            <a:ext cx="1938528" cy="246888"/>
          </a:xfrm>
          <a:prstGeom prst="rect">
            <a:avLst/>
          </a:prstGeom>
          <a:noFill/>
        </p:spPr>
        <p:txBody>
          <a:bodyPr wrap="square" lIns="45720" rIns="45720" anchor="t">
            <a:spAutoFit/>
          </a:bodyPr>
          <a:lstStyle/>
          <a:p>
            <a:pPr algn="ctr">
              <a:spcAft>
                <a:spcPts val="0"/>
              </a:spcAft>
            </a:pPr>
            <a:r>
              <a:rPr sz="1400" b="1" i="0">
                <a:solidFill>
                  <a:srgbClr val="BAE079"/>
                </a:solidFill>
                <a:latin typeface="Aptos"/>
              </a:rPr>
              <a:t>Random Forest</a:t>
            </a:r>
          </a:p>
        </p:txBody>
      </p:sp>
      <p:sp>
        <p:nvSpPr>
          <p:cNvPr id="17" name="TextBox 16"/>
          <p:cNvSpPr txBox="1"/>
          <p:nvPr/>
        </p:nvSpPr>
        <p:spPr>
          <a:xfrm>
            <a:off x="3337560" y="3236976"/>
            <a:ext cx="7726679" cy="36576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Trained classifier loaded from food_risk_model.joblib</a:t>
            </a:r>
          </a:p>
        </p:txBody>
      </p:sp>
      <p:cxnSp>
        <p:nvCxnSpPr>
          <p:cNvPr id="18" name="Connector 17"/>
          <p:cNvCxnSpPr/>
          <p:nvPr/>
        </p:nvCxnSpPr>
        <p:spPr>
          <a:xfrm>
            <a:off x="1856231" y="3730752"/>
            <a:ext cx="0" cy="201168"/>
          </a:xfrm>
          <a:prstGeom prst="line">
            <a:avLst/>
          </a:prstGeom>
          <a:ln w="19050">
            <a:solidFill>
              <a:srgbClr val="5BB86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1520" y="3950208"/>
            <a:ext cx="2240280" cy="603504"/>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 y="4114800"/>
            <a:ext cx="1938528" cy="246888"/>
          </a:xfrm>
          <a:prstGeom prst="rect">
            <a:avLst/>
          </a:prstGeom>
          <a:noFill/>
        </p:spPr>
        <p:txBody>
          <a:bodyPr wrap="square" lIns="45720" rIns="45720" anchor="t">
            <a:spAutoFit/>
          </a:bodyPr>
          <a:lstStyle/>
          <a:p>
            <a:pPr algn="ctr">
              <a:spcAft>
                <a:spcPts val="0"/>
              </a:spcAft>
            </a:pPr>
            <a:r>
              <a:rPr sz="1400" b="1" i="0">
                <a:solidFill>
                  <a:srgbClr val="F6F8F4"/>
                </a:solidFill>
                <a:latin typeface="Aptos"/>
              </a:rPr>
              <a:t>Probability</a:t>
            </a:r>
          </a:p>
        </p:txBody>
      </p:sp>
      <p:sp>
        <p:nvSpPr>
          <p:cNvPr id="21" name="TextBox 20"/>
          <p:cNvSpPr txBox="1"/>
          <p:nvPr/>
        </p:nvSpPr>
        <p:spPr>
          <a:xfrm>
            <a:off x="3337560" y="4059936"/>
            <a:ext cx="7726679" cy="36576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Estimated class-1 probability (0–1)</a:t>
            </a:r>
          </a:p>
        </p:txBody>
      </p:sp>
      <p:cxnSp>
        <p:nvCxnSpPr>
          <p:cNvPr id="22" name="Connector 21"/>
          <p:cNvCxnSpPr/>
          <p:nvPr/>
        </p:nvCxnSpPr>
        <p:spPr>
          <a:xfrm>
            <a:off x="1856231" y="4553712"/>
            <a:ext cx="0" cy="201168"/>
          </a:xfrm>
          <a:prstGeom prst="line">
            <a:avLst/>
          </a:prstGeom>
          <a:ln w="19050">
            <a:solidFill>
              <a:srgbClr val="5BB869"/>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1520" y="4773168"/>
            <a:ext cx="2240280" cy="603504"/>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 y="4937760"/>
            <a:ext cx="1938528" cy="246888"/>
          </a:xfrm>
          <a:prstGeom prst="rect">
            <a:avLst/>
          </a:prstGeom>
          <a:noFill/>
        </p:spPr>
        <p:txBody>
          <a:bodyPr wrap="square" lIns="45720" rIns="45720" anchor="t">
            <a:spAutoFit/>
          </a:bodyPr>
          <a:lstStyle/>
          <a:p>
            <a:pPr algn="ctr">
              <a:spcAft>
                <a:spcPts val="0"/>
              </a:spcAft>
            </a:pPr>
            <a:r>
              <a:rPr sz="1400" b="1" i="0">
                <a:solidFill>
                  <a:srgbClr val="F6F8F4"/>
                </a:solidFill>
                <a:latin typeface="Aptos"/>
              </a:rPr>
              <a:t>Display / save</a:t>
            </a:r>
          </a:p>
        </p:txBody>
      </p:sp>
      <p:sp>
        <p:nvSpPr>
          <p:cNvPr id="25" name="TextBox 24"/>
          <p:cNvSpPr txBox="1"/>
          <p:nvPr/>
        </p:nvSpPr>
        <p:spPr>
          <a:xfrm>
            <a:off x="3337560" y="4882896"/>
            <a:ext cx="7726679" cy="365760"/>
          </a:xfrm>
          <a:prstGeom prst="rect">
            <a:avLst/>
          </a:prstGeom>
          <a:noFill/>
        </p:spPr>
        <p:txBody>
          <a:bodyPr wrap="square" lIns="45720" rIns="45720" anchor="t">
            <a:spAutoFit/>
          </a:bodyPr>
          <a:lstStyle/>
          <a:p>
            <a:pPr algn="l">
              <a:spcAft>
                <a:spcPts val="0"/>
              </a:spcAft>
            </a:pPr>
            <a:r>
              <a:rPr sz="1400" b="0" i="0">
                <a:solidFill>
                  <a:srgbClr val="F6F8F4"/>
                </a:solidFill>
                <a:latin typeface="Aptos"/>
              </a:rPr>
              <a:t>Show result; save existing-batch score to Risk_Score</a:t>
            </a:r>
          </a:p>
        </p:txBody>
      </p:sp>
      <p:sp>
        <p:nvSpPr>
          <p:cNvPr id="26" name="Rounded Rectangle 25"/>
          <p:cNvSpPr/>
          <p:nvPr/>
        </p:nvSpPr>
        <p:spPr>
          <a:xfrm>
            <a:off x="731520" y="5715000"/>
            <a:ext cx="10607040" cy="438912"/>
          </a:xfrm>
          <a:prstGeom prst="roundRect">
            <a:avLst>
              <a:gd name="adj" fmla="val 12000"/>
            </a:avLst>
          </a:prstGeom>
          <a:solidFill>
            <a:srgbClr val="4036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815584"/>
            <a:ext cx="10241280" cy="201168"/>
          </a:xfrm>
          <a:prstGeom prst="rect">
            <a:avLst/>
          </a:prstGeom>
          <a:noFill/>
        </p:spPr>
        <p:txBody>
          <a:bodyPr wrap="square" lIns="45720" rIns="45720" anchor="t">
            <a:spAutoFit/>
          </a:bodyPr>
          <a:lstStyle/>
          <a:p>
            <a:pPr algn="l">
              <a:spcAft>
                <a:spcPts val="0"/>
              </a:spcAft>
            </a:pPr>
            <a:r>
              <a:rPr sz="1200" b="1" i="0">
                <a:solidFill>
                  <a:srgbClr val="F4BE53"/>
                </a:solidFill>
                <a:latin typeface="Aptos"/>
              </a:rPr>
              <a:t>Important: estimated probability is model output, not a measured contamination level or safety certification.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AI FEATURE ENGINEERING</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Model inputs and how they are assembled</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17</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685800" y="1481328"/>
            <a:ext cx="5074920" cy="987552"/>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481328"/>
            <a:ext cx="64008" cy="98755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636776"/>
            <a:ext cx="472744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Product / stage</a:t>
            </a:r>
          </a:p>
        </p:txBody>
      </p:sp>
      <p:sp>
        <p:nvSpPr>
          <p:cNvPr id="10" name="TextBox 9"/>
          <p:cNvSpPr txBox="1"/>
          <p:nvPr/>
        </p:nvSpPr>
        <p:spPr>
          <a:xfrm>
            <a:off x="886968" y="2048256"/>
            <a:ext cx="4690872" cy="329184"/>
          </a:xfrm>
          <a:prstGeom prst="rect">
            <a:avLst/>
          </a:prstGeom>
          <a:noFill/>
        </p:spPr>
        <p:txBody>
          <a:bodyPr wrap="square" lIns="45720" rIns="45720" anchor="t">
            <a:spAutoFit/>
          </a:bodyPr>
          <a:lstStyle/>
          <a:p>
            <a:pPr algn="l">
              <a:spcAft>
                <a:spcPts val="0"/>
              </a:spcAft>
            </a:pPr>
            <a:r>
              <a:rPr sz="1100" b="0" i="0">
                <a:solidFill>
                  <a:srgbClr val="B7C6C1"/>
                </a:solidFill>
                <a:latin typeface="Aptos"/>
              </a:rPr>
              <a:t>Crop type and recorded supply-chain stage</a:t>
            </a:r>
          </a:p>
        </p:txBody>
      </p:sp>
      <p:sp>
        <p:nvSpPr>
          <p:cNvPr id="11" name="Rounded Rectangle 10"/>
          <p:cNvSpPr/>
          <p:nvPr/>
        </p:nvSpPr>
        <p:spPr>
          <a:xfrm>
            <a:off x="6172200" y="1481328"/>
            <a:ext cx="5074920" cy="987552"/>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481328"/>
            <a:ext cx="64008" cy="987552"/>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636776"/>
            <a:ext cx="472744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Cold-chain conditions</a:t>
            </a:r>
          </a:p>
        </p:txBody>
      </p:sp>
      <p:sp>
        <p:nvSpPr>
          <p:cNvPr id="14" name="TextBox 13"/>
          <p:cNvSpPr txBox="1"/>
          <p:nvPr/>
        </p:nvSpPr>
        <p:spPr>
          <a:xfrm>
            <a:off x="6373368" y="2048256"/>
            <a:ext cx="4690872" cy="329184"/>
          </a:xfrm>
          <a:prstGeom prst="rect">
            <a:avLst/>
          </a:prstGeom>
          <a:noFill/>
        </p:spPr>
        <p:txBody>
          <a:bodyPr wrap="square" lIns="45720" rIns="45720" anchor="t">
            <a:spAutoFit/>
          </a:bodyPr>
          <a:lstStyle/>
          <a:p>
            <a:pPr algn="l">
              <a:spcAft>
                <a:spcPts val="0"/>
              </a:spcAft>
            </a:pPr>
            <a:r>
              <a:rPr sz="1100" b="0" i="0">
                <a:solidFill>
                  <a:srgbClr val="B7C6C1"/>
                </a:solidFill>
                <a:latin typeface="Aptos"/>
              </a:rPr>
              <a:t>Storage temperature, storage duration, humidity</a:t>
            </a:r>
          </a:p>
        </p:txBody>
      </p:sp>
      <p:sp>
        <p:nvSpPr>
          <p:cNvPr id="15" name="Rounded Rectangle 14"/>
          <p:cNvSpPr/>
          <p:nvPr/>
        </p:nvSpPr>
        <p:spPr>
          <a:xfrm>
            <a:off x="685800" y="2715768"/>
            <a:ext cx="5074920" cy="987552"/>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2715768"/>
            <a:ext cx="64008" cy="987552"/>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2871216"/>
            <a:ext cx="472744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Transport conditions</a:t>
            </a:r>
          </a:p>
        </p:txBody>
      </p:sp>
      <p:sp>
        <p:nvSpPr>
          <p:cNvPr id="18" name="TextBox 17"/>
          <p:cNvSpPr txBox="1"/>
          <p:nvPr/>
        </p:nvSpPr>
        <p:spPr>
          <a:xfrm>
            <a:off x="886968" y="3282696"/>
            <a:ext cx="4690872" cy="329184"/>
          </a:xfrm>
          <a:prstGeom prst="rect">
            <a:avLst/>
          </a:prstGeom>
          <a:noFill/>
        </p:spPr>
        <p:txBody>
          <a:bodyPr wrap="square" lIns="45720" rIns="45720" anchor="t">
            <a:spAutoFit/>
          </a:bodyPr>
          <a:lstStyle/>
          <a:p>
            <a:pPr algn="l">
              <a:spcAft>
                <a:spcPts val="0"/>
              </a:spcAft>
            </a:pPr>
            <a:r>
              <a:rPr sz="1100" b="0" i="0">
                <a:solidFill>
                  <a:srgbClr val="B7C6C1"/>
                </a:solidFill>
                <a:latin typeface="Aptos"/>
              </a:rPr>
              <a:t>Transit time and transit temperature</a:t>
            </a:r>
          </a:p>
        </p:txBody>
      </p:sp>
      <p:sp>
        <p:nvSpPr>
          <p:cNvPr id="19" name="Rounded Rectangle 18"/>
          <p:cNvSpPr/>
          <p:nvPr/>
        </p:nvSpPr>
        <p:spPr>
          <a:xfrm>
            <a:off x="6172200" y="2715768"/>
            <a:ext cx="5074920" cy="987552"/>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2715768"/>
            <a:ext cx="64008" cy="987552"/>
          </a:xfrm>
          <a:prstGeom prst="rect">
            <a:avLst/>
          </a:prstGeom>
          <a:solidFill>
            <a:srgbClr val="E66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73368" y="2871216"/>
            <a:ext cx="472744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Quality history</a:t>
            </a:r>
          </a:p>
        </p:txBody>
      </p:sp>
      <p:sp>
        <p:nvSpPr>
          <p:cNvPr id="22" name="TextBox 21"/>
          <p:cNvSpPr txBox="1"/>
          <p:nvPr/>
        </p:nvSpPr>
        <p:spPr>
          <a:xfrm>
            <a:off x="6373368" y="3282696"/>
            <a:ext cx="4690872" cy="329184"/>
          </a:xfrm>
          <a:prstGeom prst="rect">
            <a:avLst/>
          </a:prstGeom>
          <a:noFill/>
        </p:spPr>
        <p:txBody>
          <a:bodyPr wrap="square" lIns="45720" rIns="45720" anchor="t">
            <a:spAutoFit/>
          </a:bodyPr>
          <a:lstStyle/>
          <a:p>
            <a:pPr algn="l">
              <a:spcAft>
                <a:spcPts val="0"/>
              </a:spcAft>
            </a:pPr>
            <a:r>
              <a:rPr sz="1100" b="0" i="0">
                <a:solidFill>
                  <a:srgbClr val="B7C6C1"/>
                </a:solidFill>
                <a:latin typeface="Aptos"/>
              </a:rPr>
              <a:t>Count of previous failed/rejected inspections</a:t>
            </a:r>
          </a:p>
        </p:txBody>
      </p:sp>
      <p:sp>
        <p:nvSpPr>
          <p:cNvPr id="23" name="Rounded Rectangle 22"/>
          <p:cNvSpPr/>
          <p:nvPr/>
        </p:nvSpPr>
        <p:spPr>
          <a:xfrm>
            <a:off x="3429000" y="3950208"/>
            <a:ext cx="5074920" cy="987552"/>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429000" y="3950208"/>
            <a:ext cx="64008" cy="987552"/>
          </a:xfrm>
          <a:prstGeom prst="rect">
            <a:avLst/>
          </a:prstGeom>
          <a:solidFill>
            <a:srgbClr val="BAE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30168" y="4105656"/>
            <a:ext cx="472744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Time since harvest</a:t>
            </a:r>
          </a:p>
        </p:txBody>
      </p:sp>
      <p:sp>
        <p:nvSpPr>
          <p:cNvPr id="26" name="TextBox 25"/>
          <p:cNvSpPr txBox="1"/>
          <p:nvPr/>
        </p:nvSpPr>
        <p:spPr>
          <a:xfrm>
            <a:off x="3630168" y="4517136"/>
            <a:ext cx="4690872" cy="329184"/>
          </a:xfrm>
          <a:prstGeom prst="rect">
            <a:avLst/>
          </a:prstGeom>
          <a:noFill/>
        </p:spPr>
        <p:txBody>
          <a:bodyPr wrap="square" lIns="45720" rIns="45720" anchor="t">
            <a:spAutoFit/>
          </a:bodyPr>
          <a:lstStyle/>
          <a:p>
            <a:pPr algn="l">
              <a:spcAft>
                <a:spcPts val="0"/>
              </a:spcAft>
            </a:pPr>
            <a:r>
              <a:rPr sz="1100" b="0" i="0">
                <a:solidFill>
                  <a:srgbClr val="B7C6C1"/>
                </a:solidFill>
                <a:latin typeface="Aptos"/>
              </a:rPr>
              <a:t>Harvest date compared with latest recorded event</a:t>
            </a:r>
          </a:p>
        </p:txBody>
      </p:sp>
      <p:sp>
        <p:nvSpPr>
          <p:cNvPr id="27" name="TextBox 26"/>
          <p:cNvSpPr txBox="1"/>
          <p:nvPr/>
        </p:nvSpPr>
        <p:spPr>
          <a:xfrm>
            <a:off x="822960" y="5394960"/>
            <a:ext cx="10607040" cy="594360"/>
          </a:xfrm>
          <a:prstGeom prst="rect">
            <a:avLst/>
          </a:prstGeom>
          <a:noFill/>
        </p:spPr>
        <p:txBody>
          <a:bodyPr wrap="square" lIns="45720" rIns="45720" anchor="t">
            <a:spAutoFit/>
          </a:bodyPr>
          <a:lstStyle/>
          <a:p>
            <a:pPr algn="l">
              <a:spcAft>
                <a:spcPts val="0"/>
              </a:spcAft>
            </a:pPr>
            <a:r>
              <a:rPr sz="1400" b="0" i="0">
                <a:solidFill>
                  <a:srgbClr val="B7C6C1"/>
                </a:solidFill>
                <a:latin typeface="Aptos"/>
              </a:rPr>
              <a:t>For the existing-batch mode, values are assembled from stored records where possible; fallback values may be used when records are missing. New-condition scenarios are not automatically saved as batches.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OBSERVED APPLICATION OUTPUTS</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AI demo: existing batch vs new conditions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18</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17320"/>
            <a:ext cx="5486400" cy="3566160"/>
          </a:xfrm>
          <a:prstGeom prst="roundRect">
            <a:avLst>
              <a:gd name="adj" fmla="val 12000"/>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63640" y="1417320"/>
            <a:ext cx="5303520" cy="3566160"/>
          </a:xfrm>
          <a:prstGeom prst="roundRect">
            <a:avLst>
              <a:gd name="adj" fmla="val 12000"/>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5230368"/>
            <a:ext cx="5120640" cy="621792"/>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394960"/>
            <a:ext cx="4754880" cy="228600"/>
          </a:xfrm>
          <a:prstGeom prst="rect">
            <a:avLst/>
          </a:prstGeom>
          <a:noFill/>
        </p:spPr>
        <p:txBody>
          <a:bodyPr wrap="square" lIns="45720" rIns="45720" anchor="t">
            <a:spAutoFit/>
          </a:bodyPr>
          <a:lstStyle/>
          <a:p>
            <a:pPr algn="ctr">
              <a:spcAft>
                <a:spcPts val="0"/>
              </a:spcAft>
            </a:pPr>
            <a:r>
              <a:rPr sz="1200" b="1" i="0">
                <a:solidFill>
                  <a:srgbClr val="BAE079"/>
                </a:solidFill>
                <a:latin typeface="Aptos"/>
              </a:rPr>
              <a:t>Existing batch: saved result shown as 0.0% (class 0)</a:t>
            </a:r>
          </a:p>
        </p:txBody>
      </p:sp>
      <p:sp>
        <p:nvSpPr>
          <p:cNvPr id="13" name="Rounded Rectangle 12"/>
          <p:cNvSpPr/>
          <p:nvPr/>
        </p:nvSpPr>
        <p:spPr>
          <a:xfrm>
            <a:off x="6355080" y="5230368"/>
            <a:ext cx="5120640" cy="621792"/>
          </a:xfrm>
          <a:prstGeom prst="roundRect">
            <a:avLst>
              <a:gd name="adj" fmla="val 12000"/>
            </a:avLst>
          </a:prstGeom>
          <a:solidFill>
            <a:srgbClr val="44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5394960"/>
            <a:ext cx="4754880" cy="228600"/>
          </a:xfrm>
          <a:prstGeom prst="rect">
            <a:avLst/>
          </a:prstGeom>
          <a:noFill/>
        </p:spPr>
        <p:txBody>
          <a:bodyPr wrap="square" lIns="45720" rIns="45720" anchor="t">
            <a:spAutoFit/>
          </a:bodyPr>
          <a:lstStyle/>
          <a:p>
            <a:pPr algn="ctr">
              <a:spcAft>
                <a:spcPts val="0"/>
              </a:spcAft>
            </a:pPr>
            <a:r>
              <a:rPr sz="1200" b="1" i="0">
                <a:solidFill>
                  <a:srgbClr val="E6685E"/>
                </a:solidFill>
                <a:latin typeface="Aptos"/>
              </a:rPr>
              <a:t>New conditions: 79.0% in the displayed scenario (class 1)</a:t>
            </a:r>
          </a:p>
        </p:txBody>
      </p:sp>
      <p:sp>
        <p:nvSpPr>
          <p:cNvPr id="15" name="TextBox 14"/>
          <p:cNvSpPr txBox="1"/>
          <p:nvPr/>
        </p:nvSpPr>
        <p:spPr>
          <a:xfrm>
            <a:off x="731520" y="5961888"/>
            <a:ext cx="10789920" cy="256032"/>
          </a:xfrm>
          <a:prstGeom prst="rect">
            <a:avLst/>
          </a:prstGeom>
          <a:noFill/>
        </p:spPr>
        <p:txBody>
          <a:bodyPr wrap="square" lIns="45720" rIns="45720" anchor="t">
            <a:spAutoFit/>
          </a:bodyPr>
          <a:lstStyle/>
          <a:p>
            <a:pPr algn="l">
              <a:spcAft>
                <a:spcPts val="0"/>
              </a:spcAft>
            </a:pPr>
            <a:r>
              <a:rPr sz="1100" b="1" i="0">
                <a:solidFill>
                  <a:srgbClr val="F4BE53"/>
                </a:solidFill>
                <a:latin typeface="Aptos"/>
              </a:rPr>
              <a:t>These outputs are specific to the displayed inputs and model; neither result should be interpreted as proof of real-world food safety.</a:t>
            </a:r>
          </a:p>
        </p:txBody>
      </p:sp>
      <p:sp>
        <p:nvSpPr>
          <p:cNvPr id="16" name="Rounded Rectangle 15"/>
          <p:cNvSpPr/>
          <p:nvPr/>
        </p:nvSpPr>
        <p:spPr>
          <a:xfrm>
            <a:off x="594360" y="1417320"/>
            <a:ext cx="5486400" cy="3566160"/>
          </a:xfrm>
          <a:prstGeom prst="roundRect">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creenshot 2026-10-12 at 11.03.12 PM.png"/>
          <p:cNvPicPr>
            <a:picLocks noChangeAspect="1"/>
          </p:cNvPicPr>
          <p:nvPr/>
        </p:nvPicPr>
        <p:blipFill>
          <a:blip r:embed="rId2"/>
          <a:stretch>
            <a:fillRect/>
          </a:stretch>
        </p:blipFill>
        <p:spPr>
          <a:xfrm>
            <a:off x="595287" y="1417320"/>
            <a:ext cx="5484545" cy="3566160"/>
          </a:xfrm>
          <a:prstGeom prst="rect">
            <a:avLst/>
          </a:prstGeom>
        </p:spPr>
      </p:pic>
      <p:sp>
        <p:nvSpPr>
          <p:cNvPr id="18" name="Rounded Rectangle 17"/>
          <p:cNvSpPr/>
          <p:nvPr/>
        </p:nvSpPr>
        <p:spPr>
          <a:xfrm>
            <a:off x="6263640" y="1417320"/>
            <a:ext cx="5303520" cy="3566160"/>
          </a:xfrm>
          <a:prstGeom prst="roundRect">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Screenshot 2026-10-12 at 11.58.52 PM.png"/>
          <p:cNvPicPr>
            <a:picLocks noChangeAspect="1"/>
          </p:cNvPicPr>
          <p:nvPr/>
        </p:nvPicPr>
        <p:blipFill>
          <a:blip r:embed="rId3"/>
          <a:stretch>
            <a:fillRect/>
          </a:stretch>
        </p:blipFill>
        <p:spPr>
          <a:xfrm>
            <a:off x="6263640" y="1476173"/>
            <a:ext cx="5303520" cy="344845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RESULTS</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Model evaluation on held-out synthetic data</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19</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572768"/>
            <a:ext cx="2103120" cy="15544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 y="1792224"/>
            <a:ext cx="1810512" cy="274320"/>
          </a:xfrm>
          <a:prstGeom prst="rect">
            <a:avLst/>
          </a:prstGeom>
          <a:noFill/>
        </p:spPr>
        <p:txBody>
          <a:bodyPr wrap="square" lIns="45720" rIns="45720" anchor="t">
            <a:spAutoFit/>
          </a:bodyPr>
          <a:lstStyle/>
          <a:p>
            <a:pPr algn="ctr">
              <a:spcAft>
                <a:spcPts val="0"/>
              </a:spcAft>
            </a:pPr>
            <a:r>
              <a:rPr sz="1400" b="1" i="0">
                <a:solidFill>
                  <a:srgbClr val="B7C6C1"/>
                </a:solidFill>
                <a:latin typeface="Aptos"/>
              </a:rPr>
              <a:t>Accuracy</a:t>
            </a:r>
          </a:p>
        </p:txBody>
      </p:sp>
      <p:sp>
        <p:nvSpPr>
          <p:cNvPr id="9" name="TextBox 8"/>
          <p:cNvSpPr txBox="1"/>
          <p:nvPr/>
        </p:nvSpPr>
        <p:spPr>
          <a:xfrm>
            <a:off x="685800" y="2176272"/>
            <a:ext cx="1920240" cy="438912"/>
          </a:xfrm>
          <a:prstGeom prst="rect">
            <a:avLst/>
          </a:prstGeom>
          <a:noFill/>
        </p:spPr>
        <p:txBody>
          <a:bodyPr wrap="square" lIns="45720" rIns="45720" anchor="t">
            <a:spAutoFit/>
          </a:bodyPr>
          <a:lstStyle/>
          <a:p>
            <a:pPr algn="ctr">
              <a:spcAft>
                <a:spcPts val="0"/>
              </a:spcAft>
            </a:pPr>
            <a:r>
              <a:rPr sz="2500" b="1" i="0">
                <a:solidFill>
                  <a:srgbClr val="BAE079"/>
                </a:solidFill>
                <a:latin typeface="Aptos"/>
              </a:rPr>
              <a:t>90.6%</a:t>
            </a:r>
          </a:p>
        </p:txBody>
      </p:sp>
      <p:sp>
        <p:nvSpPr>
          <p:cNvPr id="10" name="TextBox 9"/>
          <p:cNvSpPr txBox="1"/>
          <p:nvPr/>
        </p:nvSpPr>
        <p:spPr>
          <a:xfrm>
            <a:off x="740664" y="2670048"/>
            <a:ext cx="1810512" cy="310896"/>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Correct predictions overall</a:t>
            </a:r>
          </a:p>
        </p:txBody>
      </p:sp>
      <p:sp>
        <p:nvSpPr>
          <p:cNvPr id="11" name="Rounded Rectangle 10"/>
          <p:cNvSpPr/>
          <p:nvPr/>
        </p:nvSpPr>
        <p:spPr>
          <a:xfrm>
            <a:off x="2926079" y="1572768"/>
            <a:ext cx="2103120" cy="15544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1792224"/>
            <a:ext cx="1810512" cy="274320"/>
          </a:xfrm>
          <a:prstGeom prst="rect">
            <a:avLst/>
          </a:prstGeom>
          <a:noFill/>
        </p:spPr>
        <p:txBody>
          <a:bodyPr wrap="square" lIns="45720" rIns="45720" anchor="t">
            <a:spAutoFit/>
          </a:bodyPr>
          <a:lstStyle/>
          <a:p>
            <a:pPr algn="ctr">
              <a:spcAft>
                <a:spcPts val="0"/>
              </a:spcAft>
            </a:pPr>
            <a:r>
              <a:rPr sz="1400" b="1" i="0">
                <a:solidFill>
                  <a:srgbClr val="B7C6C1"/>
                </a:solidFill>
                <a:latin typeface="Aptos"/>
              </a:rPr>
              <a:t>Precision</a:t>
            </a:r>
          </a:p>
        </p:txBody>
      </p:sp>
      <p:sp>
        <p:nvSpPr>
          <p:cNvPr id="13" name="TextBox 12"/>
          <p:cNvSpPr txBox="1"/>
          <p:nvPr/>
        </p:nvSpPr>
        <p:spPr>
          <a:xfrm>
            <a:off x="3017520" y="2176272"/>
            <a:ext cx="1920240" cy="438912"/>
          </a:xfrm>
          <a:prstGeom prst="rect">
            <a:avLst/>
          </a:prstGeom>
          <a:noFill/>
        </p:spPr>
        <p:txBody>
          <a:bodyPr wrap="square" lIns="45720" rIns="45720" anchor="t">
            <a:spAutoFit/>
          </a:bodyPr>
          <a:lstStyle/>
          <a:p>
            <a:pPr algn="ctr">
              <a:spcAft>
                <a:spcPts val="0"/>
              </a:spcAft>
            </a:pPr>
            <a:r>
              <a:rPr sz="2500" b="1" i="0">
                <a:solidFill>
                  <a:srgbClr val="F6F8F4"/>
                </a:solidFill>
                <a:latin typeface="Aptos"/>
              </a:rPr>
              <a:t>57.8%</a:t>
            </a:r>
          </a:p>
        </p:txBody>
      </p:sp>
      <p:sp>
        <p:nvSpPr>
          <p:cNvPr id="14" name="TextBox 13"/>
          <p:cNvSpPr txBox="1"/>
          <p:nvPr/>
        </p:nvSpPr>
        <p:spPr>
          <a:xfrm>
            <a:off x="3072384" y="2670048"/>
            <a:ext cx="1810512" cy="310896"/>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Predicted positives that were correct</a:t>
            </a:r>
          </a:p>
        </p:txBody>
      </p:sp>
      <p:sp>
        <p:nvSpPr>
          <p:cNvPr id="15" name="Rounded Rectangle 14"/>
          <p:cNvSpPr/>
          <p:nvPr/>
        </p:nvSpPr>
        <p:spPr>
          <a:xfrm>
            <a:off x="5257800" y="1572768"/>
            <a:ext cx="2103120" cy="15544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04104" y="1792224"/>
            <a:ext cx="1810512" cy="274320"/>
          </a:xfrm>
          <a:prstGeom prst="rect">
            <a:avLst/>
          </a:prstGeom>
          <a:noFill/>
        </p:spPr>
        <p:txBody>
          <a:bodyPr wrap="square" lIns="45720" rIns="45720" anchor="t">
            <a:spAutoFit/>
          </a:bodyPr>
          <a:lstStyle/>
          <a:p>
            <a:pPr algn="ctr">
              <a:spcAft>
                <a:spcPts val="0"/>
              </a:spcAft>
            </a:pPr>
            <a:r>
              <a:rPr sz="1400" b="1" i="0">
                <a:solidFill>
                  <a:srgbClr val="B7C6C1"/>
                </a:solidFill>
                <a:latin typeface="Aptos"/>
              </a:rPr>
              <a:t>Recall</a:t>
            </a:r>
          </a:p>
        </p:txBody>
      </p:sp>
      <p:sp>
        <p:nvSpPr>
          <p:cNvPr id="17" name="TextBox 16"/>
          <p:cNvSpPr txBox="1"/>
          <p:nvPr/>
        </p:nvSpPr>
        <p:spPr>
          <a:xfrm>
            <a:off x="5349240" y="2176272"/>
            <a:ext cx="1920240" cy="438912"/>
          </a:xfrm>
          <a:prstGeom prst="rect">
            <a:avLst/>
          </a:prstGeom>
          <a:noFill/>
        </p:spPr>
        <p:txBody>
          <a:bodyPr wrap="square" lIns="45720" rIns="45720" anchor="t">
            <a:spAutoFit/>
          </a:bodyPr>
          <a:lstStyle/>
          <a:p>
            <a:pPr algn="ctr">
              <a:spcAft>
                <a:spcPts val="0"/>
              </a:spcAft>
            </a:pPr>
            <a:r>
              <a:rPr sz="2500" b="1" i="0">
                <a:solidFill>
                  <a:srgbClr val="F6F8F4"/>
                </a:solidFill>
                <a:latin typeface="Aptos"/>
              </a:rPr>
              <a:t>61.3%</a:t>
            </a:r>
          </a:p>
        </p:txBody>
      </p:sp>
      <p:sp>
        <p:nvSpPr>
          <p:cNvPr id="18" name="TextBox 17"/>
          <p:cNvSpPr txBox="1"/>
          <p:nvPr/>
        </p:nvSpPr>
        <p:spPr>
          <a:xfrm>
            <a:off x="5404104" y="2670048"/>
            <a:ext cx="1810512" cy="310896"/>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Actual positives detected</a:t>
            </a:r>
          </a:p>
        </p:txBody>
      </p:sp>
      <p:sp>
        <p:nvSpPr>
          <p:cNvPr id="19" name="Rounded Rectangle 18"/>
          <p:cNvSpPr/>
          <p:nvPr/>
        </p:nvSpPr>
        <p:spPr>
          <a:xfrm>
            <a:off x="7589519" y="1572768"/>
            <a:ext cx="2103120" cy="15544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35823" y="1792224"/>
            <a:ext cx="1810512" cy="274320"/>
          </a:xfrm>
          <a:prstGeom prst="rect">
            <a:avLst/>
          </a:prstGeom>
          <a:noFill/>
        </p:spPr>
        <p:txBody>
          <a:bodyPr wrap="square" lIns="45720" rIns="45720" anchor="t">
            <a:spAutoFit/>
          </a:bodyPr>
          <a:lstStyle/>
          <a:p>
            <a:pPr algn="ctr">
              <a:spcAft>
                <a:spcPts val="0"/>
              </a:spcAft>
            </a:pPr>
            <a:r>
              <a:rPr sz="1400" b="1" i="0">
                <a:solidFill>
                  <a:srgbClr val="B7C6C1"/>
                </a:solidFill>
                <a:latin typeface="Aptos"/>
              </a:rPr>
              <a:t>F1-score</a:t>
            </a:r>
          </a:p>
        </p:txBody>
      </p:sp>
      <p:sp>
        <p:nvSpPr>
          <p:cNvPr id="21" name="TextBox 20"/>
          <p:cNvSpPr txBox="1"/>
          <p:nvPr/>
        </p:nvSpPr>
        <p:spPr>
          <a:xfrm>
            <a:off x="7680959" y="2176272"/>
            <a:ext cx="1920240" cy="438912"/>
          </a:xfrm>
          <a:prstGeom prst="rect">
            <a:avLst/>
          </a:prstGeom>
          <a:noFill/>
        </p:spPr>
        <p:txBody>
          <a:bodyPr wrap="square" lIns="45720" rIns="45720" anchor="t">
            <a:spAutoFit/>
          </a:bodyPr>
          <a:lstStyle/>
          <a:p>
            <a:pPr algn="ctr">
              <a:spcAft>
                <a:spcPts val="0"/>
              </a:spcAft>
            </a:pPr>
            <a:r>
              <a:rPr sz="2500" b="1" i="0">
                <a:solidFill>
                  <a:srgbClr val="F6F8F4"/>
                </a:solidFill>
                <a:latin typeface="Aptos"/>
              </a:rPr>
              <a:t>59.5%</a:t>
            </a:r>
          </a:p>
        </p:txBody>
      </p:sp>
      <p:sp>
        <p:nvSpPr>
          <p:cNvPr id="22" name="TextBox 21"/>
          <p:cNvSpPr txBox="1"/>
          <p:nvPr/>
        </p:nvSpPr>
        <p:spPr>
          <a:xfrm>
            <a:off x="7735823" y="2670048"/>
            <a:ext cx="1810512" cy="310896"/>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Balance of precision and recall</a:t>
            </a:r>
          </a:p>
        </p:txBody>
      </p:sp>
      <p:sp>
        <p:nvSpPr>
          <p:cNvPr id="23" name="Rounded Rectangle 22"/>
          <p:cNvSpPr/>
          <p:nvPr/>
        </p:nvSpPr>
        <p:spPr>
          <a:xfrm>
            <a:off x="9921240" y="1572768"/>
            <a:ext cx="2103120" cy="15544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67544" y="1792224"/>
            <a:ext cx="1810512" cy="274320"/>
          </a:xfrm>
          <a:prstGeom prst="rect">
            <a:avLst/>
          </a:prstGeom>
          <a:noFill/>
        </p:spPr>
        <p:txBody>
          <a:bodyPr wrap="square" lIns="45720" rIns="45720" anchor="t">
            <a:spAutoFit/>
          </a:bodyPr>
          <a:lstStyle/>
          <a:p>
            <a:pPr algn="ctr">
              <a:spcAft>
                <a:spcPts val="0"/>
              </a:spcAft>
            </a:pPr>
            <a:r>
              <a:rPr sz="1400" b="1" i="0">
                <a:solidFill>
                  <a:srgbClr val="B7C6C1"/>
                </a:solidFill>
                <a:latin typeface="Aptos"/>
              </a:rPr>
              <a:t>ROC-AUC</a:t>
            </a:r>
          </a:p>
        </p:txBody>
      </p:sp>
      <p:sp>
        <p:nvSpPr>
          <p:cNvPr id="25" name="TextBox 24"/>
          <p:cNvSpPr txBox="1"/>
          <p:nvPr/>
        </p:nvSpPr>
        <p:spPr>
          <a:xfrm>
            <a:off x="10012680" y="2176272"/>
            <a:ext cx="1920240" cy="438912"/>
          </a:xfrm>
          <a:prstGeom prst="rect">
            <a:avLst/>
          </a:prstGeom>
          <a:noFill/>
        </p:spPr>
        <p:txBody>
          <a:bodyPr wrap="square" lIns="45720" rIns="45720" anchor="t">
            <a:spAutoFit/>
          </a:bodyPr>
          <a:lstStyle/>
          <a:p>
            <a:pPr algn="ctr">
              <a:spcAft>
                <a:spcPts val="0"/>
              </a:spcAft>
            </a:pPr>
            <a:r>
              <a:rPr sz="2500" b="1" i="0">
                <a:solidFill>
                  <a:srgbClr val="BAE079"/>
                </a:solidFill>
                <a:latin typeface="Aptos"/>
              </a:rPr>
              <a:t>0.922</a:t>
            </a:r>
          </a:p>
        </p:txBody>
      </p:sp>
      <p:sp>
        <p:nvSpPr>
          <p:cNvPr id="26" name="TextBox 25"/>
          <p:cNvSpPr txBox="1"/>
          <p:nvPr/>
        </p:nvSpPr>
        <p:spPr>
          <a:xfrm>
            <a:off x="10067544" y="2670048"/>
            <a:ext cx="1810512" cy="310896"/>
          </a:xfrm>
          <a:prstGeom prst="rect">
            <a:avLst/>
          </a:prstGeom>
          <a:noFill/>
        </p:spPr>
        <p:txBody>
          <a:bodyPr wrap="square" lIns="45720" rIns="45720" anchor="t">
            <a:spAutoFit/>
          </a:bodyPr>
          <a:lstStyle/>
          <a:p>
            <a:pPr algn="ctr">
              <a:spcAft>
                <a:spcPts val="0"/>
              </a:spcAft>
            </a:pPr>
            <a:r>
              <a:rPr sz="950" b="0" i="0">
                <a:solidFill>
                  <a:srgbClr val="B7C6C1"/>
                </a:solidFill>
                <a:latin typeface="Aptos"/>
              </a:rPr>
              <a:t>Ranking / separation measure</a:t>
            </a:r>
          </a:p>
        </p:txBody>
      </p:sp>
      <p:sp>
        <p:nvSpPr>
          <p:cNvPr id="27" name="Rounded Rectangle 26"/>
          <p:cNvSpPr/>
          <p:nvPr/>
        </p:nvSpPr>
        <p:spPr>
          <a:xfrm>
            <a:off x="731520" y="3611880"/>
            <a:ext cx="10744200" cy="9144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 y="3822191"/>
            <a:ext cx="10241280" cy="411480"/>
          </a:xfrm>
          <a:prstGeom prst="rect">
            <a:avLst/>
          </a:prstGeom>
          <a:noFill/>
        </p:spPr>
        <p:txBody>
          <a:bodyPr wrap="square" lIns="45720" rIns="45720" anchor="t">
            <a:spAutoFit/>
          </a:bodyPr>
          <a:lstStyle/>
          <a:p>
            <a:pPr algn="ctr">
              <a:spcAft>
                <a:spcPts val="0"/>
              </a:spcAft>
            </a:pPr>
            <a:r>
              <a:rPr sz="1700" b="1" i="0">
                <a:solidFill>
                  <a:srgbClr val="F6F8F4"/>
                </a:solidFill>
                <a:latin typeface="Aptos"/>
              </a:rPr>
              <a:t>8,000 synthetic rows  •  6,400 training rows  •  1,600 held-out test rows</a:t>
            </a:r>
          </a:p>
        </p:txBody>
      </p:sp>
      <p:sp>
        <p:nvSpPr>
          <p:cNvPr id="29" name="TextBox 28"/>
          <p:cNvSpPr txBox="1"/>
          <p:nvPr/>
        </p:nvSpPr>
        <p:spPr>
          <a:xfrm>
            <a:off x="868680" y="4892040"/>
            <a:ext cx="10515600" cy="685800"/>
          </a:xfrm>
          <a:prstGeom prst="rect">
            <a:avLst/>
          </a:prstGeom>
          <a:noFill/>
        </p:spPr>
        <p:txBody>
          <a:bodyPr wrap="square" lIns="45720" rIns="45720" anchor="t">
            <a:spAutoFit/>
          </a:bodyPr>
          <a:lstStyle/>
          <a:p>
            <a:pPr algn="l">
              <a:spcAft>
                <a:spcPts val="0"/>
              </a:spcAft>
            </a:pPr>
            <a:r>
              <a:rPr sz="1500" b="1" i="0">
                <a:solidFill>
                  <a:srgbClr val="F4BE53"/>
                </a:solidFill>
                <a:latin typeface="Aptos"/>
              </a:rPr>
              <a:t>Interpretation: accuracy is high on this generated dataset, but precision and recall are more moderate. In the test set, some actual positive cases were missed. These results do not establish performance on real food-safety data.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MODEL EVALUATION</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Confusion matrix and error interpretation</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20</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TextBox 6"/>
          <p:cNvSpPr txBox="1"/>
          <p:nvPr/>
        </p:nvSpPr>
        <p:spPr>
          <a:xfrm>
            <a:off x="777240" y="1417320"/>
            <a:ext cx="10424160" cy="320040"/>
          </a:xfrm>
          <a:prstGeom prst="rect">
            <a:avLst/>
          </a:prstGeom>
          <a:noFill/>
        </p:spPr>
        <p:txBody>
          <a:bodyPr wrap="square" lIns="45720" rIns="45720" anchor="t">
            <a:spAutoFit/>
          </a:bodyPr>
          <a:lstStyle/>
          <a:p>
            <a:pPr algn="l">
              <a:spcAft>
                <a:spcPts val="0"/>
              </a:spcAft>
            </a:pPr>
            <a:r>
              <a:rPr sz="1400" b="0" i="0">
                <a:solidFill>
                  <a:srgbClr val="B7C6C1"/>
                </a:solidFill>
                <a:latin typeface="Aptos"/>
              </a:rPr>
              <a:t>Rows = actual class  •  Columns = predicted class</a:t>
            </a:r>
          </a:p>
        </p:txBody>
      </p:sp>
      <p:sp>
        <p:nvSpPr>
          <p:cNvPr id="8" name="Rounded Rectangle 7"/>
          <p:cNvSpPr/>
          <p:nvPr/>
        </p:nvSpPr>
        <p:spPr>
          <a:xfrm>
            <a:off x="1965960" y="1920240"/>
            <a:ext cx="1965960" cy="5943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2075688"/>
            <a:ext cx="1783080" cy="256032"/>
          </a:xfrm>
          <a:prstGeom prst="rect">
            <a:avLst/>
          </a:prstGeom>
          <a:noFill/>
        </p:spPr>
        <p:txBody>
          <a:bodyPr wrap="square" lIns="45720" rIns="45720" anchor="t">
            <a:spAutoFit/>
          </a:bodyPr>
          <a:lstStyle/>
          <a:p>
            <a:pPr algn="ctr">
              <a:spcAft>
                <a:spcPts val="0"/>
              </a:spcAft>
            </a:pPr>
            <a:endParaRPr/>
          </a:p>
        </p:txBody>
      </p:sp>
      <p:sp>
        <p:nvSpPr>
          <p:cNvPr id="10" name="Rounded Rectangle 9"/>
          <p:cNvSpPr/>
          <p:nvPr/>
        </p:nvSpPr>
        <p:spPr>
          <a:xfrm>
            <a:off x="4041648" y="1920240"/>
            <a:ext cx="2743200" cy="5943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33087" y="2075688"/>
            <a:ext cx="256032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Predicted 0</a:t>
            </a:r>
          </a:p>
        </p:txBody>
      </p:sp>
      <p:sp>
        <p:nvSpPr>
          <p:cNvPr id="12" name="Rounded Rectangle 11"/>
          <p:cNvSpPr/>
          <p:nvPr/>
        </p:nvSpPr>
        <p:spPr>
          <a:xfrm>
            <a:off x="6894576" y="1920240"/>
            <a:ext cx="2743200" cy="5943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86016" y="2075688"/>
            <a:ext cx="256032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Predicted 1</a:t>
            </a:r>
          </a:p>
        </p:txBody>
      </p:sp>
      <p:sp>
        <p:nvSpPr>
          <p:cNvPr id="14" name="Rounded Rectangle 13"/>
          <p:cNvSpPr/>
          <p:nvPr/>
        </p:nvSpPr>
        <p:spPr>
          <a:xfrm>
            <a:off x="1965960" y="2514600"/>
            <a:ext cx="1965960" cy="8229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57400" y="2670048"/>
            <a:ext cx="178308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Actual 0</a:t>
            </a:r>
          </a:p>
        </p:txBody>
      </p:sp>
      <p:sp>
        <p:nvSpPr>
          <p:cNvPr id="16" name="Rounded Rectangle 15"/>
          <p:cNvSpPr/>
          <p:nvPr/>
        </p:nvSpPr>
        <p:spPr>
          <a:xfrm>
            <a:off x="4041648" y="2514600"/>
            <a:ext cx="2743200" cy="822960"/>
          </a:xfrm>
          <a:prstGeom prst="roundRect">
            <a:avLst>
              <a:gd name="adj" fmla="val 12000"/>
            </a:avLst>
          </a:prstGeom>
          <a:solidFill>
            <a:srgbClr val="255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33087" y="2670048"/>
            <a:ext cx="256032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1,338</a:t>
            </a:r>
          </a:p>
        </p:txBody>
      </p:sp>
      <p:sp>
        <p:nvSpPr>
          <p:cNvPr id="18" name="Rounded Rectangle 17"/>
          <p:cNvSpPr/>
          <p:nvPr/>
        </p:nvSpPr>
        <p:spPr>
          <a:xfrm>
            <a:off x="6894576" y="2514600"/>
            <a:ext cx="2743200" cy="8229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86016" y="2670048"/>
            <a:ext cx="256032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81</a:t>
            </a:r>
          </a:p>
        </p:txBody>
      </p:sp>
      <p:sp>
        <p:nvSpPr>
          <p:cNvPr id="20" name="Rounded Rectangle 19"/>
          <p:cNvSpPr/>
          <p:nvPr/>
        </p:nvSpPr>
        <p:spPr>
          <a:xfrm>
            <a:off x="1965960" y="3337560"/>
            <a:ext cx="1965960" cy="82296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57400" y="3493008"/>
            <a:ext cx="178308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Actual 1</a:t>
            </a:r>
          </a:p>
        </p:txBody>
      </p:sp>
      <p:sp>
        <p:nvSpPr>
          <p:cNvPr id="22" name="Rounded Rectangle 21"/>
          <p:cNvSpPr/>
          <p:nvPr/>
        </p:nvSpPr>
        <p:spPr>
          <a:xfrm>
            <a:off x="4041648" y="3337560"/>
            <a:ext cx="2743200" cy="822960"/>
          </a:xfrm>
          <a:prstGeom prst="roundRect">
            <a:avLst>
              <a:gd name="adj" fmla="val 12000"/>
            </a:avLst>
          </a:prstGeom>
          <a:solidFill>
            <a:srgbClr val="4F2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33087" y="3493008"/>
            <a:ext cx="256032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70</a:t>
            </a:r>
          </a:p>
        </p:txBody>
      </p:sp>
      <p:sp>
        <p:nvSpPr>
          <p:cNvPr id="24" name="Rounded Rectangle 23"/>
          <p:cNvSpPr/>
          <p:nvPr/>
        </p:nvSpPr>
        <p:spPr>
          <a:xfrm>
            <a:off x="6894576" y="3337560"/>
            <a:ext cx="2743200" cy="822960"/>
          </a:xfrm>
          <a:prstGeom prst="roundRect">
            <a:avLst>
              <a:gd name="adj" fmla="val 12000"/>
            </a:avLst>
          </a:prstGeom>
          <a:solidFill>
            <a:srgbClr val="255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86016" y="3493008"/>
            <a:ext cx="2560320" cy="256032"/>
          </a:xfrm>
          <a:prstGeom prst="rect">
            <a:avLst/>
          </a:prstGeom>
          <a:noFill/>
        </p:spPr>
        <p:txBody>
          <a:bodyPr wrap="square" lIns="45720" rIns="45720" anchor="t">
            <a:spAutoFit/>
          </a:bodyPr>
          <a:lstStyle/>
          <a:p>
            <a:pPr algn="ctr">
              <a:spcAft>
                <a:spcPts val="0"/>
              </a:spcAft>
            </a:pPr>
            <a:r>
              <a:rPr sz="1500" b="1" i="0">
                <a:solidFill>
                  <a:srgbClr val="F6F8F4"/>
                </a:solidFill>
                <a:latin typeface="Aptos"/>
              </a:rPr>
              <a:t>111</a:t>
            </a:r>
          </a:p>
        </p:txBody>
      </p:sp>
      <p:sp>
        <p:nvSpPr>
          <p:cNvPr id="26" name="Rounded Rectangle 25"/>
          <p:cNvSpPr/>
          <p:nvPr/>
        </p:nvSpPr>
        <p:spPr>
          <a:xfrm>
            <a:off x="777240" y="4617720"/>
            <a:ext cx="4983480" cy="10972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7240" y="4617720"/>
            <a:ext cx="64008" cy="1097280"/>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8408" y="4773168"/>
            <a:ext cx="463600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True positives: 111</a:t>
            </a:r>
          </a:p>
        </p:txBody>
      </p:sp>
      <p:sp>
        <p:nvSpPr>
          <p:cNvPr id="29" name="TextBox 28"/>
          <p:cNvSpPr txBox="1"/>
          <p:nvPr/>
        </p:nvSpPr>
        <p:spPr>
          <a:xfrm>
            <a:off x="978408" y="5184648"/>
            <a:ext cx="4599432" cy="438912"/>
          </a:xfrm>
          <a:prstGeom prst="rect">
            <a:avLst/>
          </a:prstGeom>
          <a:noFill/>
        </p:spPr>
        <p:txBody>
          <a:bodyPr wrap="square" lIns="45720" rIns="45720" anchor="t">
            <a:spAutoFit/>
          </a:bodyPr>
          <a:lstStyle/>
          <a:p>
            <a:pPr algn="l">
              <a:spcAft>
                <a:spcPts val="0"/>
              </a:spcAft>
            </a:pPr>
            <a:r>
              <a:rPr sz="1100" b="0" i="0">
                <a:solidFill>
                  <a:srgbClr val="B7C6C1"/>
                </a:solidFill>
                <a:latin typeface="Aptos"/>
              </a:rPr>
              <a:t>Positive examples correctly predicted as positive.</a:t>
            </a:r>
          </a:p>
        </p:txBody>
      </p:sp>
      <p:sp>
        <p:nvSpPr>
          <p:cNvPr id="30" name="Rounded Rectangle 29"/>
          <p:cNvSpPr/>
          <p:nvPr/>
        </p:nvSpPr>
        <p:spPr>
          <a:xfrm>
            <a:off x="6172200" y="4617720"/>
            <a:ext cx="4983480" cy="109728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72200" y="4617720"/>
            <a:ext cx="64008" cy="1097280"/>
          </a:xfrm>
          <a:prstGeom prst="rect">
            <a:avLst/>
          </a:prstGeom>
          <a:solidFill>
            <a:srgbClr val="E66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73368" y="4773168"/>
            <a:ext cx="463600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False negatives: 70</a:t>
            </a:r>
          </a:p>
        </p:txBody>
      </p:sp>
      <p:sp>
        <p:nvSpPr>
          <p:cNvPr id="33" name="TextBox 32"/>
          <p:cNvSpPr txBox="1"/>
          <p:nvPr/>
        </p:nvSpPr>
        <p:spPr>
          <a:xfrm>
            <a:off x="6373368" y="5184648"/>
            <a:ext cx="4599432" cy="438912"/>
          </a:xfrm>
          <a:prstGeom prst="rect">
            <a:avLst/>
          </a:prstGeom>
          <a:noFill/>
        </p:spPr>
        <p:txBody>
          <a:bodyPr wrap="square" lIns="45720" rIns="45720" anchor="t">
            <a:spAutoFit/>
          </a:bodyPr>
          <a:lstStyle/>
          <a:p>
            <a:pPr algn="l">
              <a:spcAft>
                <a:spcPts val="0"/>
              </a:spcAft>
            </a:pPr>
            <a:r>
              <a:rPr sz="1100" b="0" i="0">
                <a:solidFill>
                  <a:srgbClr val="B7C6C1"/>
                </a:solidFill>
                <a:latin typeface="Aptos"/>
              </a:rPr>
              <a:t>Positive examples predicted as negative—important to monitor.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VERIFICATION SUMMARY</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Functional testing and results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21</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658368" y="1417320"/>
            <a:ext cx="233172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1508760"/>
            <a:ext cx="2057400" cy="228600"/>
          </a:xfrm>
          <a:prstGeom prst="rect">
            <a:avLst/>
          </a:prstGeom>
          <a:noFill/>
        </p:spPr>
        <p:txBody>
          <a:bodyPr wrap="square" lIns="45720" rIns="45720" anchor="t">
            <a:spAutoFit/>
          </a:bodyPr>
          <a:lstStyle/>
          <a:p>
            <a:pPr algn="l">
              <a:spcAft>
                <a:spcPts val="0"/>
              </a:spcAft>
            </a:pPr>
            <a:r>
              <a:rPr sz="1200" b="1" i="0">
                <a:solidFill>
                  <a:srgbClr val="F6F8F4"/>
                </a:solidFill>
                <a:latin typeface="Aptos"/>
              </a:rPr>
              <a:t>Traceability</a:t>
            </a:r>
          </a:p>
        </p:txBody>
      </p:sp>
      <p:sp>
        <p:nvSpPr>
          <p:cNvPr id="9" name="TextBox 8"/>
          <p:cNvSpPr txBox="1"/>
          <p:nvPr/>
        </p:nvSpPr>
        <p:spPr>
          <a:xfrm>
            <a:off x="3246120" y="1490472"/>
            <a:ext cx="5669280" cy="274320"/>
          </a:xfrm>
          <a:prstGeom prst="rect">
            <a:avLst/>
          </a:prstGeom>
          <a:noFill/>
        </p:spPr>
        <p:txBody>
          <a:bodyPr wrap="square" lIns="45720" rIns="45720" anchor="t">
            <a:spAutoFit/>
          </a:bodyPr>
          <a:lstStyle/>
          <a:p>
            <a:pPr algn="l">
              <a:spcAft>
                <a:spcPts val="0"/>
              </a:spcAft>
            </a:pPr>
            <a:r>
              <a:rPr sz="1150" b="0" i="0">
                <a:solidFill>
                  <a:srgbClr val="B7C6C1"/>
                </a:solidFill>
                <a:latin typeface="Aptos"/>
              </a:rPr>
              <a:t>Selected batch displays recorded farm-to-retail sections</a:t>
            </a:r>
          </a:p>
        </p:txBody>
      </p:sp>
      <p:sp>
        <p:nvSpPr>
          <p:cNvPr id="10" name="Rounded Rectangle 9"/>
          <p:cNvSpPr/>
          <p:nvPr/>
        </p:nvSpPr>
        <p:spPr>
          <a:xfrm>
            <a:off x="9281160" y="1417320"/>
            <a:ext cx="2148840" cy="457200"/>
          </a:xfrm>
          <a:prstGeom prst="roundRect">
            <a:avLst>
              <a:gd name="adj" fmla="val 12000"/>
            </a:avLst>
          </a:prstGeom>
          <a:solidFill>
            <a:srgbClr val="224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00032" y="1508760"/>
            <a:ext cx="1901952" cy="228600"/>
          </a:xfrm>
          <a:prstGeom prst="rect">
            <a:avLst/>
          </a:prstGeom>
          <a:noFill/>
        </p:spPr>
        <p:txBody>
          <a:bodyPr wrap="square" lIns="45720" rIns="45720" anchor="t">
            <a:spAutoFit/>
          </a:bodyPr>
          <a:lstStyle/>
          <a:p>
            <a:pPr algn="ctr">
              <a:spcAft>
                <a:spcPts val="0"/>
              </a:spcAft>
            </a:pPr>
            <a:r>
              <a:rPr sz="1000" b="1" i="0">
                <a:solidFill>
                  <a:srgbClr val="BAE079"/>
                </a:solidFill>
                <a:latin typeface="Aptos"/>
              </a:rPr>
              <a:t>Demonstrated</a:t>
            </a:r>
          </a:p>
        </p:txBody>
      </p:sp>
      <p:sp>
        <p:nvSpPr>
          <p:cNvPr id="12" name="Rounded Rectangle 11"/>
          <p:cNvSpPr/>
          <p:nvPr/>
        </p:nvSpPr>
        <p:spPr>
          <a:xfrm>
            <a:off x="658368" y="2039112"/>
            <a:ext cx="233172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2130552"/>
            <a:ext cx="2057400" cy="228600"/>
          </a:xfrm>
          <a:prstGeom prst="rect">
            <a:avLst/>
          </a:prstGeom>
          <a:noFill/>
        </p:spPr>
        <p:txBody>
          <a:bodyPr wrap="square" lIns="45720" rIns="45720" anchor="t">
            <a:spAutoFit/>
          </a:bodyPr>
          <a:lstStyle/>
          <a:p>
            <a:pPr algn="l">
              <a:spcAft>
                <a:spcPts val="0"/>
              </a:spcAft>
            </a:pPr>
            <a:r>
              <a:rPr sz="1200" b="1" i="0">
                <a:solidFill>
                  <a:srgbClr val="F6F8F4"/>
                </a:solidFill>
                <a:latin typeface="Aptos"/>
              </a:rPr>
              <a:t>QR generation</a:t>
            </a:r>
          </a:p>
        </p:txBody>
      </p:sp>
      <p:sp>
        <p:nvSpPr>
          <p:cNvPr id="14" name="TextBox 13"/>
          <p:cNvSpPr txBox="1"/>
          <p:nvPr/>
        </p:nvSpPr>
        <p:spPr>
          <a:xfrm>
            <a:off x="3246120" y="2112264"/>
            <a:ext cx="5669280" cy="274320"/>
          </a:xfrm>
          <a:prstGeom prst="rect">
            <a:avLst/>
          </a:prstGeom>
          <a:noFill/>
        </p:spPr>
        <p:txBody>
          <a:bodyPr wrap="square" lIns="45720" rIns="45720" anchor="t">
            <a:spAutoFit/>
          </a:bodyPr>
          <a:lstStyle/>
          <a:p>
            <a:pPr algn="l">
              <a:spcAft>
                <a:spcPts val="0"/>
              </a:spcAft>
            </a:pPr>
            <a:r>
              <a:rPr sz="1150" b="0" i="0">
                <a:solidFill>
                  <a:srgbClr val="B7C6C1"/>
                </a:solidFill>
                <a:latin typeface="Aptos"/>
              </a:rPr>
              <a:t>QR code is rendered and downloadable as PNG</a:t>
            </a:r>
          </a:p>
        </p:txBody>
      </p:sp>
      <p:sp>
        <p:nvSpPr>
          <p:cNvPr id="15" name="Rounded Rectangle 14"/>
          <p:cNvSpPr/>
          <p:nvPr/>
        </p:nvSpPr>
        <p:spPr>
          <a:xfrm>
            <a:off x="9281160" y="2039112"/>
            <a:ext cx="2148840" cy="457200"/>
          </a:xfrm>
          <a:prstGeom prst="roundRect">
            <a:avLst>
              <a:gd name="adj" fmla="val 12000"/>
            </a:avLst>
          </a:prstGeom>
          <a:solidFill>
            <a:srgbClr val="224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00032" y="2130552"/>
            <a:ext cx="1901952" cy="228600"/>
          </a:xfrm>
          <a:prstGeom prst="rect">
            <a:avLst/>
          </a:prstGeom>
          <a:noFill/>
        </p:spPr>
        <p:txBody>
          <a:bodyPr wrap="square" lIns="45720" rIns="45720" anchor="t">
            <a:spAutoFit/>
          </a:bodyPr>
          <a:lstStyle/>
          <a:p>
            <a:pPr algn="ctr">
              <a:spcAft>
                <a:spcPts val="0"/>
              </a:spcAft>
            </a:pPr>
            <a:r>
              <a:rPr sz="1000" b="1" i="0">
                <a:solidFill>
                  <a:srgbClr val="BAE079"/>
                </a:solidFill>
                <a:latin typeface="Aptos"/>
              </a:rPr>
              <a:t>Demonstrated</a:t>
            </a:r>
          </a:p>
        </p:txBody>
      </p:sp>
      <p:sp>
        <p:nvSpPr>
          <p:cNvPr id="17" name="Rounded Rectangle 16"/>
          <p:cNvSpPr/>
          <p:nvPr/>
        </p:nvSpPr>
        <p:spPr>
          <a:xfrm>
            <a:off x="658368" y="2660904"/>
            <a:ext cx="233172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 y="2752344"/>
            <a:ext cx="2057400" cy="228600"/>
          </a:xfrm>
          <a:prstGeom prst="rect">
            <a:avLst/>
          </a:prstGeom>
          <a:noFill/>
        </p:spPr>
        <p:txBody>
          <a:bodyPr wrap="square" lIns="45720" rIns="45720" anchor="t">
            <a:spAutoFit/>
          </a:bodyPr>
          <a:lstStyle/>
          <a:p>
            <a:pPr algn="l">
              <a:spcAft>
                <a:spcPts val="0"/>
              </a:spcAft>
            </a:pPr>
            <a:r>
              <a:rPr sz="1200" b="1" i="0">
                <a:solidFill>
                  <a:srgbClr val="F6F8F4"/>
                </a:solidFill>
                <a:latin typeface="Aptos"/>
              </a:rPr>
              <a:t>QR access</a:t>
            </a:r>
          </a:p>
        </p:txBody>
      </p:sp>
      <p:sp>
        <p:nvSpPr>
          <p:cNvPr id="19" name="TextBox 18"/>
          <p:cNvSpPr txBox="1"/>
          <p:nvPr/>
        </p:nvSpPr>
        <p:spPr>
          <a:xfrm>
            <a:off x="3246120" y="2734056"/>
            <a:ext cx="5669280" cy="274320"/>
          </a:xfrm>
          <a:prstGeom prst="rect">
            <a:avLst/>
          </a:prstGeom>
          <a:noFill/>
        </p:spPr>
        <p:txBody>
          <a:bodyPr wrap="square" lIns="45720" rIns="45720" anchor="t">
            <a:spAutoFit/>
          </a:bodyPr>
          <a:lstStyle/>
          <a:p>
            <a:pPr algn="l">
              <a:spcAft>
                <a:spcPts val="0"/>
              </a:spcAft>
            </a:pPr>
            <a:r>
              <a:rPr sz="1150" b="0" i="0">
                <a:solidFill>
                  <a:srgbClr val="B7C6C1"/>
                </a:solidFill>
                <a:latin typeface="Aptos"/>
              </a:rPr>
              <a:t>Phone scan opened traceability page in the tested setup</a:t>
            </a:r>
          </a:p>
        </p:txBody>
      </p:sp>
      <p:sp>
        <p:nvSpPr>
          <p:cNvPr id="20" name="Rounded Rectangle 19"/>
          <p:cNvSpPr/>
          <p:nvPr/>
        </p:nvSpPr>
        <p:spPr>
          <a:xfrm>
            <a:off x="9281160" y="2660904"/>
            <a:ext cx="2148840" cy="457200"/>
          </a:xfrm>
          <a:prstGeom prst="roundRect">
            <a:avLst>
              <a:gd name="adj" fmla="val 12000"/>
            </a:avLst>
          </a:prstGeom>
          <a:solidFill>
            <a:srgbClr val="224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00032" y="2752344"/>
            <a:ext cx="1901952" cy="228600"/>
          </a:xfrm>
          <a:prstGeom prst="rect">
            <a:avLst/>
          </a:prstGeom>
          <a:noFill/>
        </p:spPr>
        <p:txBody>
          <a:bodyPr wrap="square" lIns="45720" rIns="45720" anchor="t">
            <a:spAutoFit/>
          </a:bodyPr>
          <a:lstStyle/>
          <a:p>
            <a:pPr algn="ctr">
              <a:spcAft>
                <a:spcPts val="0"/>
              </a:spcAft>
            </a:pPr>
            <a:r>
              <a:rPr sz="1000" b="1" i="0">
                <a:solidFill>
                  <a:srgbClr val="BAE079"/>
                </a:solidFill>
                <a:latin typeface="Aptos"/>
              </a:rPr>
              <a:t>Demonstrated in local setup</a:t>
            </a:r>
          </a:p>
        </p:txBody>
      </p:sp>
      <p:sp>
        <p:nvSpPr>
          <p:cNvPr id="22" name="Rounded Rectangle 21"/>
          <p:cNvSpPr/>
          <p:nvPr/>
        </p:nvSpPr>
        <p:spPr>
          <a:xfrm>
            <a:off x="658368" y="3282696"/>
            <a:ext cx="233172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6384" y="3374136"/>
            <a:ext cx="2057400" cy="228600"/>
          </a:xfrm>
          <a:prstGeom prst="rect">
            <a:avLst/>
          </a:prstGeom>
          <a:noFill/>
        </p:spPr>
        <p:txBody>
          <a:bodyPr wrap="square" lIns="45720" rIns="45720" anchor="t">
            <a:spAutoFit/>
          </a:bodyPr>
          <a:lstStyle/>
          <a:p>
            <a:pPr algn="l">
              <a:spcAft>
                <a:spcPts val="0"/>
              </a:spcAft>
            </a:pPr>
            <a:r>
              <a:rPr sz="1200" b="1" i="0">
                <a:solidFill>
                  <a:srgbClr val="F6F8F4"/>
                </a:solidFill>
                <a:latin typeface="Aptos"/>
              </a:rPr>
              <a:t>Existing-batch prediction</a:t>
            </a:r>
          </a:p>
        </p:txBody>
      </p:sp>
      <p:sp>
        <p:nvSpPr>
          <p:cNvPr id="24" name="TextBox 23"/>
          <p:cNvSpPr txBox="1"/>
          <p:nvPr/>
        </p:nvSpPr>
        <p:spPr>
          <a:xfrm>
            <a:off x="3246120" y="3355848"/>
            <a:ext cx="5669280" cy="274320"/>
          </a:xfrm>
          <a:prstGeom prst="rect">
            <a:avLst/>
          </a:prstGeom>
          <a:noFill/>
        </p:spPr>
        <p:txBody>
          <a:bodyPr wrap="square" lIns="45720" rIns="45720" anchor="t">
            <a:spAutoFit/>
          </a:bodyPr>
          <a:lstStyle/>
          <a:p>
            <a:pPr algn="l">
              <a:spcAft>
                <a:spcPts val="0"/>
              </a:spcAft>
            </a:pPr>
            <a:r>
              <a:rPr sz="1150" b="0" i="0">
                <a:solidFill>
                  <a:srgbClr val="B7C6C1"/>
                </a:solidFill>
                <a:latin typeface="Aptos"/>
              </a:rPr>
              <a:t>Model predicts and shows probability/class</a:t>
            </a:r>
          </a:p>
        </p:txBody>
      </p:sp>
      <p:sp>
        <p:nvSpPr>
          <p:cNvPr id="25" name="Rounded Rectangle 24"/>
          <p:cNvSpPr/>
          <p:nvPr/>
        </p:nvSpPr>
        <p:spPr>
          <a:xfrm>
            <a:off x="9281160" y="3282696"/>
            <a:ext cx="2148840" cy="457200"/>
          </a:xfrm>
          <a:prstGeom prst="roundRect">
            <a:avLst>
              <a:gd name="adj" fmla="val 12000"/>
            </a:avLst>
          </a:prstGeom>
          <a:solidFill>
            <a:srgbClr val="224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00032" y="3374136"/>
            <a:ext cx="1901952" cy="228600"/>
          </a:xfrm>
          <a:prstGeom prst="rect">
            <a:avLst/>
          </a:prstGeom>
          <a:noFill/>
        </p:spPr>
        <p:txBody>
          <a:bodyPr wrap="square" lIns="45720" rIns="45720" anchor="t">
            <a:spAutoFit/>
          </a:bodyPr>
          <a:lstStyle/>
          <a:p>
            <a:pPr algn="ctr">
              <a:spcAft>
                <a:spcPts val="0"/>
              </a:spcAft>
            </a:pPr>
            <a:r>
              <a:rPr sz="1000" b="1" i="0">
                <a:solidFill>
                  <a:srgbClr val="BAE079"/>
                </a:solidFill>
                <a:latin typeface="Aptos"/>
              </a:rPr>
              <a:t>Demonstrated</a:t>
            </a:r>
          </a:p>
        </p:txBody>
      </p:sp>
      <p:sp>
        <p:nvSpPr>
          <p:cNvPr id="27" name="Rounded Rectangle 26"/>
          <p:cNvSpPr/>
          <p:nvPr/>
        </p:nvSpPr>
        <p:spPr>
          <a:xfrm>
            <a:off x="658368" y="3904488"/>
            <a:ext cx="233172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6384" y="3995928"/>
            <a:ext cx="2057400" cy="228600"/>
          </a:xfrm>
          <a:prstGeom prst="rect">
            <a:avLst/>
          </a:prstGeom>
          <a:noFill/>
        </p:spPr>
        <p:txBody>
          <a:bodyPr wrap="square" lIns="45720" rIns="45720" anchor="t">
            <a:spAutoFit/>
          </a:bodyPr>
          <a:lstStyle/>
          <a:p>
            <a:pPr algn="l">
              <a:spcAft>
                <a:spcPts val="0"/>
              </a:spcAft>
            </a:pPr>
            <a:r>
              <a:rPr sz="1200" b="1" i="0">
                <a:solidFill>
                  <a:srgbClr val="F6F8F4"/>
                </a:solidFill>
                <a:latin typeface="Aptos"/>
              </a:rPr>
              <a:t>Persistence</a:t>
            </a:r>
          </a:p>
        </p:txBody>
      </p:sp>
      <p:sp>
        <p:nvSpPr>
          <p:cNvPr id="29" name="TextBox 28"/>
          <p:cNvSpPr txBox="1"/>
          <p:nvPr/>
        </p:nvSpPr>
        <p:spPr>
          <a:xfrm>
            <a:off x="3246120" y="3977640"/>
            <a:ext cx="5669280" cy="274320"/>
          </a:xfrm>
          <a:prstGeom prst="rect">
            <a:avLst/>
          </a:prstGeom>
          <a:noFill/>
        </p:spPr>
        <p:txBody>
          <a:bodyPr wrap="square" lIns="45720" rIns="45720" anchor="t">
            <a:spAutoFit/>
          </a:bodyPr>
          <a:lstStyle/>
          <a:p>
            <a:pPr algn="l">
              <a:spcAft>
                <a:spcPts val="0"/>
              </a:spcAft>
            </a:pPr>
            <a:r>
              <a:rPr sz="1150" b="0" i="0">
                <a:solidFill>
                  <a:srgbClr val="B7C6C1"/>
                </a:solidFill>
                <a:latin typeface="Aptos"/>
              </a:rPr>
              <a:t>Prediction saved to Risk_Score with timestamp</a:t>
            </a:r>
          </a:p>
        </p:txBody>
      </p:sp>
      <p:sp>
        <p:nvSpPr>
          <p:cNvPr id="30" name="Rounded Rectangle 29"/>
          <p:cNvSpPr/>
          <p:nvPr/>
        </p:nvSpPr>
        <p:spPr>
          <a:xfrm>
            <a:off x="9281160" y="3904488"/>
            <a:ext cx="2148840" cy="457200"/>
          </a:xfrm>
          <a:prstGeom prst="roundRect">
            <a:avLst>
              <a:gd name="adj" fmla="val 12000"/>
            </a:avLst>
          </a:prstGeom>
          <a:solidFill>
            <a:srgbClr val="224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00032" y="3995928"/>
            <a:ext cx="1901952" cy="228600"/>
          </a:xfrm>
          <a:prstGeom prst="rect">
            <a:avLst/>
          </a:prstGeom>
          <a:noFill/>
        </p:spPr>
        <p:txBody>
          <a:bodyPr wrap="square" lIns="45720" rIns="45720" anchor="t">
            <a:spAutoFit/>
          </a:bodyPr>
          <a:lstStyle/>
          <a:p>
            <a:pPr algn="ctr">
              <a:spcAft>
                <a:spcPts val="0"/>
              </a:spcAft>
            </a:pPr>
            <a:r>
              <a:rPr sz="1000" b="1" i="0">
                <a:solidFill>
                  <a:srgbClr val="BAE079"/>
                </a:solidFill>
                <a:latin typeface="Aptos"/>
              </a:rPr>
              <a:t>Demonstrated</a:t>
            </a:r>
          </a:p>
        </p:txBody>
      </p:sp>
      <p:sp>
        <p:nvSpPr>
          <p:cNvPr id="32" name="Rounded Rectangle 31"/>
          <p:cNvSpPr/>
          <p:nvPr/>
        </p:nvSpPr>
        <p:spPr>
          <a:xfrm>
            <a:off x="658368" y="4526280"/>
            <a:ext cx="233172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6384" y="4617720"/>
            <a:ext cx="2057400" cy="228600"/>
          </a:xfrm>
          <a:prstGeom prst="rect">
            <a:avLst/>
          </a:prstGeom>
          <a:noFill/>
        </p:spPr>
        <p:txBody>
          <a:bodyPr wrap="square" lIns="45720" rIns="45720" anchor="t">
            <a:spAutoFit/>
          </a:bodyPr>
          <a:lstStyle/>
          <a:p>
            <a:pPr algn="l">
              <a:spcAft>
                <a:spcPts val="0"/>
              </a:spcAft>
            </a:pPr>
            <a:r>
              <a:rPr sz="1200" b="1" i="0">
                <a:solidFill>
                  <a:srgbClr val="F6F8F4"/>
                </a:solidFill>
                <a:latin typeface="Aptos"/>
              </a:rPr>
              <a:t>History refresh</a:t>
            </a:r>
          </a:p>
        </p:txBody>
      </p:sp>
      <p:sp>
        <p:nvSpPr>
          <p:cNvPr id="34" name="TextBox 33"/>
          <p:cNvSpPr txBox="1"/>
          <p:nvPr/>
        </p:nvSpPr>
        <p:spPr>
          <a:xfrm>
            <a:off x="3246120" y="4599432"/>
            <a:ext cx="5669280" cy="274320"/>
          </a:xfrm>
          <a:prstGeom prst="rect">
            <a:avLst/>
          </a:prstGeom>
          <a:noFill/>
        </p:spPr>
        <p:txBody>
          <a:bodyPr wrap="square" lIns="45720" rIns="45720" anchor="t">
            <a:spAutoFit/>
          </a:bodyPr>
          <a:lstStyle/>
          <a:p>
            <a:pPr algn="l">
              <a:spcAft>
                <a:spcPts val="0"/>
              </a:spcAft>
            </a:pPr>
            <a:r>
              <a:rPr sz="1150" b="0" i="0">
                <a:solidFill>
                  <a:srgbClr val="B7C6C1"/>
                </a:solidFill>
                <a:latin typeface="Aptos"/>
              </a:rPr>
              <a:t>Traceability history shows saved risk records</a:t>
            </a:r>
          </a:p>
        </p:txBody>
      </p:sp>
      <p:sp>
        <p:nvSpPr>
          <p:cNvPr id="35" name="Rounded Rectangle 34"/>
          <p:cNvSpPr/>
          <p:nvPr/>
        </p:nvSpPr>
        <p:spPr>
          <a:xfrm>
            <a:off x="9281160" y="4526280"/>
            <a:ext cx="2148840" cy="457200"/>
          </a:xfrm>
          <a:prstGeom prst="roundRect">
            <a:avLst>
              <a:gd name="adj" fmla="val 12000"/>
            </a:avLst>
          </a:prstGeom>
          <a:solidFill>
            <a:srgbClr val="224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400032" y="4617720"/>
            <a:ext cx="1901952" cy="228600"/>
          </a:xfrm>
          <a:prstGeom prst="rect">
            <a:avLst/>
          </a:prstGeom>
          <a:noFill/>
        </p:spPr>
        <p:txBody>
          <a:bodyPr wrap="square" lIns="45720" rIns="45720" anchor="t">
            <a:spAutoFit/>
          </a:bodyPr>
          <a:lstStyle/>
          <a:p>
            <a:pPr algn="ctr">
              <a:spcAft>
                <a:spcPts val="0"/>
              </a:spcAft>
            </a:pPr>
            <a:r>
              <a:rPr sz="1000" b="1" i="0">
                <a:solidFill>
                  <a:srgbClr val="BAE079"/>
                </a:solidFill>
                <a:latin typeface="Aptos"/>
              </a:rPr>
              <a:t>Demonstrated</a:t>
            </a:r>
          </a:p>
        </p:txBody>
      </p:sp>
      <p:sp>
        <p:nvSpPr>
          <p:cNvPr id="37" name="Rounded Rectangle 36"/>
          <p:cNvSpPr/>
          <p:nvPr/>
        </p:nvSpPr>
        <p:spPr>
          <a:xfrm>
            <a:off x="658368" y="5148072"/>
            <a:ext cx="2331720" cy="45720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6384" y="5239512"/>
            <a:ext cx="2057400" cy="228600"/>
          </a:xfrm>
          <a:prstGeom prst="rect">
            <a:avLst/>
          </a:prstGeom>
          <a:noFill/>
        </p:spPr>
        <p:txBody>
          <a:bodyPr wrap="square" lIns="45720" rIns="45720" anchor="t">
            <a:spAutoFit/>
          </a:bodyPr>
          <a:lstStyle/>
          <a:p>
            <a:pPr algn="l">
              <a:spcAft>
                <a:spcPts val="0"/>
              </a:spcAft>
            </a:pPr>
            <a:r>
              <a:rPr sz="1200" b="1" i="0">
                <a:solidFill>
                  <a:srgbClr val="F6F8F4"/>
                </a:solidFill>
                <a:latin typeface="Aptos"/>
              </a:rPr>
              <a:t>Model evaluation</a:t>
            </a:r>
          </a:p>
        </p:txBody>
      </p:sp>
      <p:sp>
        <p:nvSpPr>
          <p:cNvPr id="39" name="TextBox 38"/>
          <p:cNvSpPr txBox="1"/>
          <p:nvPr/>
        </p:nvSpPr>
        <p:spPr>
          <a:xfrm>
            <a:off x="3246120" y="5221224"/>
            <a:ext cx="5669280" cy="274320"/>
          </a:xfrm>
          <a:prstGeom prst="rect">
            <a:avLst/>
          </a:prstGeom>
          <a:noFill/>
        </p:spPr>
        <p:txBody>
          <a:bodyPr wrap="square" lIns="45720" rIns="45720" anchor="t">
            <a:spAutoFit/>
          </a:bodyPr>
          <a:lstStyle/>
          <a:p>
            <a:pPr algn="l">
              <a:spcAft>
                <a:spcPts val="0"/>
              </a:spcAft>
            </a:pPr>
            <a:r>
              <a:rPr sz="1150" b="0" i="0">
                <a:solidFill>
                  <a:srgbClr val="B7C6C1"/>
                </a:solidFill>
                <a:latin typeface="Aptos"/>
              </a:rPr>
              <a:t>Metrics and confusion matrix loaded from saved results</a:t>
            </a:r>
          </a:p>
        </p:txBody>
      </p:sp>
      <p:sp>
        <p:nvSpPr>
          <p:cNvPr id="40" name="Rounded Rectangle 39"/>
          <p:cNvSpPr/>
          <p:nvPr/>
        </p:nvSpPr>
        <p:spPr>
          <a:xfrm>
            <a:off x="9281160" y="5148072"/>
            <a:ext cx="2148840" cy="457200"/>
          </a:xfrm>
          <a:prstGeom prst="roundRect">
            <a:avLst>
              <a:gd name="adj" fmla="val 12000"/>
            </a:avLst>
          </a:prstGeom>
          <a:solidFill>
            <a:srgbClr val="224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400032" y="5239512"/>
            <a:ext cx="1901952" cy="228600"/>
          </a:xfrm>
          <a:prstGeom prst="rect">
            <a:avLst/>
          </a:prstGeom>
          <a:noFill/>
        </p:spPr>
        <p:txBody>
          <a:bodyPr wrap="square" lIns="45720" rIns="45720" anchor="t">
            <a:spAutoFit/>
          </a:bodyPr>
          <a:lstStyle/>
          <a:p>
            <a:pPr algn="ctr">
              <a:spcAft>
                <a:spcPts val="0"/>
              </a:spcAft>
            </a:pPr>
            <a:r>
              <a:rPr sz="1000" b="1" i="0">
                <a:solidFill>
                  <a:srgbClr val="BAE079"/>
                </a:solidFill>
                <a:latin typeface="Aptos"/>
              </a:rPr>
              <a:t>Demonstrated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CRITICAL DISCUSSION</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Limitations and responsible interpretation</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22</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594360" y="1481328"/>
            <a:ext cx="3520440" cy="35204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481328"/>
            <a:ext cx="64008" cy="3520440"/>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Synthetic training data</a:t>
            </a:r>
          </a:p>
        </p:txBody>
      </p:sp>
      <p:sp>
        <p:nvSpPr>
          <p:cNvPr id="10" name="TextBox 9"/>
          <p:cNvSpPr txBox="1"/>
          <p:nvPr/>
        </p:nvSpPr>
        <p:spPr>
          <a:xfrm>
            <a:off x="758952" y="2048256"/>
            <a:ext cx="3200400" cy="2862072"/>
          </a:xfrm>
          <a:prstGeom prst="rect">
            <a:avLst/>
          </a:prstGeom>
          <a:noFill/>
        </p:spPr>
        <p:txBody>
          <a:bodyPr wrap="square" lIns="54864" tIns="27432" rIns="54864" bIns="18288">
            <a:spAutoFit/>
          </a:bodyPr>
          <a:lstStyle/>
          <a:p>
            <a:pPr>
              <a:spcAft>
                <a:spcPts val="500"/>
              </a:spcAft>
              <a:defRPr sz="1300">
                <a:solidFill>
                  <a:srgbClr val="B7C6C1"/>
                </a:solidFill>
                <a:latin typeface="Aptos"/>
              </a:defRPr>
            </a:pPr>
            <a:r>
              <a:t>•  The model was trained and tested on generated examples.</a:t>
            </a:r>
          </a:p>
          <a:p>
            <a:pPr>
              <a:spcAft>
                <a:spcPts val="500"/>
              </a:spcAft>
              <a:defRPr sz="1300">
                <a:solidFill>
                  <a:srgbClr val="B7C6C1"/>
                </a:solidFill>
                <a:latin typeface="Aptos"/>
              </a:defRPr>
            </a:pPr>
            <a:r>
              <a:t>•  Patterns may not match real contamination events.</a:t>
            </a:r>
          </a:p>
        </p:txBody>
      </p:sp>
      <p:sp>
        <p:nvSpPr>
          <p:cNvPr id="11" name="Rounded Rectangle 10"/>
          <p:cNvSpPr/>
          <p:nvPr/>
        </p:nvSpPr>
        <p:spPr>
          <a:xfrm>
            <a:off x="4343400" y="1481328"/>
            <a:ext cx="3520440" cy="35204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481328"/>
            <a:ext cx="64008" cy="3520440"/>
          </a:xfrm>
          <a:prstGeom prst="rect">
            <a:avLst/>
          </a:prstGeom>
          <a:solidFill>
            <a:srgbClr val="E66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Model errors</a:t>
            </a:r>
          </a:p>
        </p:txBody>
      </p:sp>
      <p:sp>
        <p:nvSpPr>
          <p:cNvPr id="14" name="TextBox 13"/>
          <p:cNvSpPr txBox="1"/>
          <p:nvPr/>
        </p:nvSpPr>
        <p:spPr>
          <a:xfrm>
            <a:off x="4507992" y="2048256"/>
            <a:ext cx="3200400" cy="2862072"/>
          </a:xfrm>
          <a:prstGeom prst="rect">
            <a:avLst/>
          </a:prstGeom>
          <a:noFill/>
        </p:spPr>
        <p:txBody>
          <a:bodyPr wrap="square" lIns="54864" tIns="27432" rIns="54864" bIns="18288">
            <a:spAutoFit/>
          </a:bodyPr>
          <a:lstStyle/>
          <a:p>
            <a:pPr>
              <a:spcAft>
                <a:spcPts val="500"/>
              </a:spcAft>
              <a:defRPr sz="1300">
                <a:solidFill>
                  <a:srgbClr val="B7C6C1"/>
                </a:solidFill>
                <a:latin typeface="Aptos"/>
              </a:defRPr>
            </a:pPr>
            <a:r>
              <a:t>•  Precision: 57.8%; recall: 61.3%.</a:t>
            </a:r>
          </a:p>
          <a:p>
            <a:pPr>
              <a:spcAft>
                <a:spcPts val="500"/>
              </a:spcAft>
              <a:defRPr sz="1300">
                <a:solidFill>
                  <a:srgbClr val="B7C6C1"/>
                </a:solidFill>
                <a:latin typeface="Aptos"/>
              </a:defRPr>
            </a:pPr>
            <a:r>
              <a:t>•  70 positive cases were missed in the held-out test matrix.</a:t>
            </a:r>
          </a:p>
        </p:txBody>
      </p:sp>
      <p:sp>
        <p:nvSpPr>
          <p:cNvPr id="15" name="Rounded Rectangle 14"/>
          <p:cNvSpPr/>
          <p:nvPr/>
        </p:nvSpPr>
        <p:spPr>
          <a:xfrm>
            <a:off x="8092440" y="1481328"/>
            <a:ext cx="3520440" cy="352044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481328"/>
            <a:ext cx="64008" cy="3520440"/>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636776"/>
            <a:ext cx="317296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Operational limits</a:t>
            </a:r>
          </a:p>
        </p:txBody>
      </p:sp>
      <p:sp>
        <p:nvSpPr>
          <p:cNvPr id="18" name="TextBox 17"/>
          <p:cNvSpPr txBox="1"/>
          <p:nvPr/>
        </p:nvSpPr>
        <p:spPr>
          <a:xfrm>
            <a:off x="8257031" y="2048256"/>
            <a:ext cx="3200400" cy="2862072"/>
          </a:xfrm>
          <a:prstGeom prst="rect">
            <a:avLst/>
          </a:prstGeom>
          <a:noFill/>
        </p:spPr>
        <p:txBody>
          <a:bodyPr wrap="square" lIns="54864" tIns="27432" rIns="54864" bIns="18288">
            <a:spAutoFit/>
          </a:bodyPr>
          <a:lstStyle/>
          <a:p>
            <a:pPr>
              <a:spcAft>
                <a:spcPts val="500"/>
              </a:spcAft>
              <a:defRPr sz="1300">
                <a:solidFill>
                  <a:srgbClr val="B7C6C1"/>
                </a:solidFill>
                <a:latin typeface="Aptos"/>
              </a:defRPr>
            </a:pPr>
            <a:r>
              <a:t>•  Incomplete data can affect feature quality.</a:t>
            </a:r>
          </a:p>
          <a:p>
            <a:pPr>
              <a:spcAft>
                <a:spcPts val="500"/>
              </a:spcAft>
              <a:defRPr sz="1300">
                <a:solidFill>
                  <a:srgbClr val="B7C6C1"/>
                </a:solidFill>
                <a:latin typeface="Aptos"/>
              </a:defRPr>
            </a:pPr>
            <a:r>
              <a:t>•  Local QR access needs network reachability.</a:t>
            </a:r>
          </a:p>
          <a:p>
            <a:pPr>
              <a:spcAft>
                <a:spcPts val="500"/>
              </a:spcAft>
              <a:defRPr sz="1300">
                <a:solidFill>
                  <a:srgbClr val="B7C6C1"/>
                </a:solidFill>
                <a:latin typeface="Aptos"/>
              </a:defRPr>
            </a:pPr>
            <a:r>
              <a:t>•  Security, user authentication and audit controls need strengthening.</a:t>
            </a:r>
          </a:p>
        </p:txBody>
      </p:sp>
      <p:sp>
        <p:nvSpPr>
          <p:cNvPr id="19" name="Rounded Rectangle 18"/>
          <p:cNvSpPr/>
          <p:nvPr/>
        </p:nvSpPr>
        <p:spPr>
          <a:xfrm>
            <a:off x="685800" y="5330952"/>
            <a:ext cx="10789920" cy="548640"/>
          </a:xfrm>
          <a:prstGeom prst="roundRect">
            <a:avLst>
              <a:gd name="adj" fmla="val 12000"/>
            </a:avLst>
          </a:prstGeom>
          <a:solidFill>
            <a:srgbClr val="4036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5477256"/>
            <a:ext cx="10332720" cy="256032"/>
          </a:xfrm>
          <a:prstGeom prst="rect">
            <a:avLst/>
          </a:prstGeom>
          <a:noFill/>
        </p:spPr>
        <p:txBody>
          <a:bodyPr wrap="square" lIns="45720" rIns="45720" anchor="t">
            <a:spAutoFit/>
          </a:bodyPr>
          <a:lstStyle/>
          <a:p>
            <a:pPr algn="ctr">
              <a:spcAft>
                <a:spcPts val="0"/>
              </a:spcAft>
            </a:pPr>
            <a:r>
              <a:rPr sz="1400" b="1" i="0">
                <a:solidFill>
                  <a:srgbClr val="F4BE53"/>
                </a:solidFill>
                <a:latin typeface="Aptos"/>
              </a:rPr>
              <a:t>A low score does not prove a batch is safe; a high score does not confirm contamination.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NEXT DEVELOPMENT STEPS</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Future enhancements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23</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Rounded Rectangle 6"/>
          <p:cNvSpPr/>
          <p:nvPr/>
        </p:nvSpPr>
        <p:spPr>
          <a:xfrm>
            <a:off x="685800" y="1444752"/>
            <a:ext cx="5166360" cy="1115568"/>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444752"/>
            <a:ext cx="64008" cy="1115568"/>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600200"/>
            <a:ext cx="481888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1. Real labelled data</a:t>
            </a:r>
          </a:p>
        </p:txBody>
      </p:sp>
      <p:sp>
        <p:nvSpPr>
          <p:cNvPr id="10" name="TextBox 9"/>
          <p:cNvSpPr txBox="1"/>
          <p:nvPr/>
        </p:nvSpPr>
        <p:spPr>
          <a:xfrm>
            <a:off x="886968" y="2011680"/>
            <a:ext cx="4782312" cy="457200"/>
          </a:xfrm>
          <a:prstGeom prst="rect">
            <a:avLst/>
          </a:prstGeom>
          <a:noFill/>
        </p:spPr>
        <p:txBody>
          <a:bodyPr wrap="square" lIns="45720" rIns="45720" anchor="t">
            <a:spAutoFit/>
          </a:bodyPr>
          <a:lstStyle/>
          <a:p>
            <a:pPr algn="l">
              <a:spcAft>
                <a:spcPts val="0"/>
              </a:spcAft>
            </a:pPr>
            <a:r>
              <a:rPr sz="1100" b="0" i="0">
                <a:solidFill>
                  <a:srgbClr val="B7C6C1"/>
                </a:solidFill>
                <a:latin typeface="Aptos"/>
              </a:rPr>
              <a:t>Train and validate with expert-labelled inspection and contamination records.</a:t>
            </a:r>
          </a:p>
        </p:txBody>
      </p:sp>
      <p:sp>
        <p:nvSpPr>
          <p:cNvPr id="11" name="Rounded Rectangle 10"/>
          <p:cNvSpPr/>
          <p:nvPr/>
        </p:nvSpPr>
        <p:spPr>
          <a:xfrm>
            <a:off x="6217920" y="1444752"/>
            <a:ext cx="5166360" cy="1115568"/>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444752"/>
            <a:ext cx="64008" cy="1115568"/>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8" y="1600200"/>
            <a:ext cx="481888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2. Improve recall</a:t>
            </a:r>
          </a:p>
        </p:txBody>
      </p:sp>
      <p:sp>
        <p:nvSpPr>
          <p:cNvPr id="14" name="TextBox 13"/>
          <p:cNvSpPr txBox="1"/>
          <p:nvPr/>
        </p:nvSpPr>
        <p:spPr>
          <a:xfrm>
            <a:off x="6419088" y="2011680"/>
            <a:ext cx="4782312" cy="457200"/>
          </a:xfrm>
          <a:prstGeom prst="rect">
            <a:avLst/>
          </a:prstGeom>
          <a:noFill/>
        </p:spPr>
        <p:txBody>
          <a:bodyPr wrap="square" lIns="45720" rIns="45720" anchor="t">
            <a:spAutoFit/>
          </a:bodyPr>
          <a:lstStyle/>
          <a:p>
            <a:pPr algn="l">
              <a:spcAft>
                <a:spcPts val="0"/>
              </a:spcAft>
            </a:pPr>
            <a:r>
              <a:rPr sz="1100" b="0" i="0">
                <a:solidFill>
                  <a:srgbClr val="B7C6C1"/>
                </a:solidFill>
                <a:latin typeface="Aptos"/>
              </a:rPr>
              <a:t>Tune thresholds, address class imbalance, calibrate probabilities and inspect false negatives.</a:t>
            </a:r>
          </a:p>
        </p:txBody>
      </p:sp>
      <p:sp>
        <p:nvSpPr>
          <p:cNvPr id="15" name="Rounded Rectangle 14"/>
          <p:cNvSpPr/>
          <p:nvPr/>
        </p:nvSpPr>
        <p:spPr>
          <a:xfrm>
            <a:off x="685800" y="2834640"/>
            <a:ext cx="5166360" cy="1115568"/>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2834640"/>
            <a:ext cx="64008" cy="1115568"/>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2990088"/>
            <a:ext cx="481888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3. Data quality</a:t>
            </a:r>
          </a:p>
        </p:txBody>
      </p:sp>
      <p:sp>
        <p:nvSpPr>
          <p:cNvPr id="18" name="TextBox 17"/>
          <p:cNvSpPr txBox="1"/>
          <p:nvPr/>
        </p:nvSpPr>
        <p:spPr>
          <a:xfrm>
            <a:off x="886968" y="3401568"/>
            <a:ext cx="4782312" cy="457200"/>
          </a:xfrm>
          <a:prstGeom prst="rect">
            <a:avLst/>
          </a:prstGeom>
          <a:noFill/>
        </p:spPr>
        <p:txBody>
          <a:bodyPr wrap="square" lIns="45720" rIns="45720" anchor="t">
            <a:spAutoFit/>
          </a:bodyPr>
          <a:lstStyle/>
          <a:p>
            <a:pPr algn="l">
              <a:spcAft>
                <a:spcPts val="0"/>
              </a:spcAft>
            </a:pPr>
            <a:r>
              <a:rPr sz="1100" b="0" i="0">
                <a:solidFill>
                  <a:srgbClr val="B7C6C1"/>
                </a:solidFill>
                <a:latin typeface="Aptos"/>
              </a:rPr>
              <a:t>Add input validation, completeness indicators and controlled data-entry workflows.</a:t>
            </a:r>
          </a:p>
        </p:txBody>
      </p:sp>
      <p:sp>
        <p:nvSpPr>
          <p:cNvPr id="19" name="Rounded Rectangle 18"/>
          <p:cNvSpPr/>
          <p:nvPr/>
        </p:nvSpPr>
        <p:spPr>
          <a:xfrm>
            <a:off x="6217920" y="2834640"/>
            <a:ext cx="5166360" cy="1115568"/>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2834640"/>
            <a:ext cx="64008" cy="1115568"/>
          </a:xfrm>
          <a:prstGeom prst="rect">
            <a:avLst/>
          </a:prstGeom>
          <a:solidFill>
            <a:srgbClr val="E66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9088" y="2990088"/>
            <a:ext cx="481888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4. Security</a:t>
            </a:r>
          </a:p>
        </p:txBody>
      </p:sp>
      <p:sp>
        <p:nvSpPr>
          <p:cNvPr id="22" name="TextBox 21"/>
          <p:cNvSpPr txBox="1"/>
          <p:nvPr/>
        </p:nvSpPr>
        <p:spPr>
          <a:xfrm>
            <a:off x="6419088" y="3401568"/>
            <a:ext cx="4782312" cy="457200"/>
          </a:xfrm>
          <a:prstGeom prst="rect">
            <a:avLst/>
          </a:prstGeom>
          <a:noFill/>
        </p:spPr>
        <p:txBody>
          <a:bodyPr wrap="square" lIns="45720" rIns="45720" anchor="t">
            <a:spAutoFit/>
          </a:bodyPr>
          <a:lstStyle/>
          <a:p>
            <a:pPr algn="l">
              <a:spcAft>
                <a:spcPts val="0"/>
              </a:spcAft>
            </a:pPr>
            <a:r>
              <a:rPr sz="1100" b="0" i="0">
                <a:solidFill>
                  <a:srgbClr val="B7C6C1"/>
                </a:solidFill>
                <a:latin typeface="Aptos"/>
              </a:rPr>
              <a:t>Add authentication, role-based access, audit trails and secure deployment.</a:t>
            </a:r>
          </a:p>
        </p:txBody>
      </p:sp>
      <p:sp>
        <p:nvSpPr>
          <p:cNvPr id="23" name="Rounded Rectangle 22"/>
          <p:cNvSpPr/>
          <p:nvPr/>
        </p:nvSpPr>
        <p:spPr>
          <a:xfrm>
            <a:off x="685800" y="4224528"/>
            <a:ext cx="5166360" cy="1115568"/>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85800" y="4224528"/>
            <a:ext cx="64008" cy="1115568"/>
          </a:xfrm>
          <a:prstGeom prst="rect">
            <a:avLst/>
          </a:prstGeom>
          <a:solidFill>
            <a:srgbClr val="BAE0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4379976"/>
            <a:ext cx="481888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5. Live sensing</a:t>
            </a:r>
          </a:p>
        </p:txBody>
      </p:sp>
      <p:sp>
        <p:nvSpPr>
          <p:cNvPr id="26" name="TextBox 25"/>
          <p:cNvSpPr txBox="1"/>
          <p:nvPr/>
        </p:nvSpPr>
        <p:spPr>
          <a:xfrm>
            <a:off x="886968" y="4791456"/>
            <a:ext cx="4782312" cy="457200"/>
          </a:xfrm>
          <a:prstGeom prst="rect">
            <a:avLst/>
          </a:prstGeom>
          <a:noFill/>
        </p:spPr>
        <p:txBody>
          <a:bodyPr wrap="square" lIns="45720" rIns="45720" anchor="t">
            <a:spAutoFit/>
          </a:bodyPr>
          <a:lstStyle/>
          <a:p>
            <a:pPr algn="l">
              <a:spcAft>
                <a:spcPts val="0"/>
              </a:spcAft>
            </a:pPr>
            <a:r>
              <a:rPr sz="1100" b="0" i="0">
                <a:solidFill>
                  <a:srgbClr val="B7C6C1"/>
                </a:solidFill>
                <a:latin typeface="Aptos"/>
              </a:rPr>
              <a:t>Explore IoT temperature/humidity capture and alerts for excursions.</a:t>
            </a:r>
          </a:p>
        </p:txBody>
      </p:sp>
      <p:sp>
        <p:nvSpPr>
          <p:cNvPr id="27" name="Rounded Rectangle 26"/>
          <p:cNvSpPr/>
          <p:nvPr/>
        </p:nvSpPr>
        <p:spPr>
          <a:xfrm>
            <a:off x="6217920" y="4224528"/>
            <a:ext cx="5166360" cy="1115568"/>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17920" y="4224528"/>
            <a:ext cx="64008" cy="1115568"/>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4379976"/>
            <a:ext cx="4818888" cy="320040"/>
          </a:xfrm>
          <a:prstGeom prst="rect">
            <a:avLst/>
          </a:prstGeom>
          <a:noFill/>
        </p:spPr>
        <p:txBody>
          <a:bodyPr wrap="square" lIns="45720" rIns="45720" anchor="t">
            <a:spAutoFit/>
          </a:bodyPr>
          <a:lstStyle/>
          <a:p>
            <a:pPr algn="l">
              <a:spcAft>
                <a:spcPts val="0"/>
              </a:spcAft>
            </a:pPr>
            <a:r>
              <a:rPr sz="1400" b="1" i="0">
                <a:solidFill>
                  <a:srgbClr val="F6F8F4"/>
                </a:solidFill>
                <a:latin typeface="Aptos"/>
              </a:rPr>
              <a:t>6. Evaluation</a:t>
            </a:r>
          </a:p>
        </p:txBody>
      </p:sp>
      <p:sp>
        <p:nvSpPr>
          <p:cNvPr id="30" name="TextBox 29"/>
          <p:cNvSpPr txBox="1"/>
          <p:nvPr/>
        </p:nvSpPr>
        <p:spPr>
          <a:xfrm>
            <a:off x="6419088" y="4791456"/>
            <a:ext cx="4782312" cy="457200"/>
          </a:xfrm>
          <a:prstGeom prst="rect">
            <a:avLst/>
          </a:prstGeom>
          <a:noFill/>
        </p:spPr>
        <p:txBody>
          <a:bodyPr wrap="square" lIns="45720" rIns="45720" anchor="t">
            <a:spAutoFit/>
          </a:bodyPr>
          <a:lstStyle/>
          <a:p>
            <a:pPr algn="l">
              <a:spcAft>
                <a:spcPts val="0"/>
              </a:spcAft>
            </a:pPr>
            <a:r>
              <a:rPr sz="1100" b="0" i="0">
                <a:solidFill>
                  <a:srgbClr val="B7C6C1"/>
                </a:solidFill>
                <a:latin typeface="Aptos"/>
              </a:rPr>
              <a:t>Use cross-validation, temporal or external test sets, and document model versions.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PROJECT OUTCOME</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Conclusion</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24</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TextBox 6"/>
          <p:cNvSpPr txBox="1"/>
          <p:nvPr/>
        </p:nvSpPr>
        <p:spPr>
          <a:xfrm>
            <a:off x="822960" y="1554480"/>
            <a:ext cx="10607040" cy="685800"/>
          </a:xfrm>
          <a:prstGeom prst="rect">
            <a:avLst/>
          </a:prstGeom>
          <a:noFill/>
        </p:spPr>
        <p:txBody>
          <a:bodyPr wrap="square" lIns="45720" rIns="45720" anchor="t">
            <a:spAutoFit/>
          </a:bodyPr>
          <a:lstStyle/>
          <a:p>
            <a:pPr algn="ctr">
              <a:spcAft>
                <a:spcPts val="0"/>
              </a:spcAft>
            </a:pPr>
            <a:r>
              <a:rPr sz="2500" b="1" i="0">
                <a:solidFill>
                  <a:srgbClr val="F6F8F4"/>
                </a:solidFill>
                <a:latin typeface="Aptos"/>
              </a:rPr>
              <a:t>A single batch ID connects traceability records, QR access and a saved AI risk estimate.</a:t>
            </a:r>
          </a:p>
        </p:txBody>
      </p:sp>
      <p:sp>
        <p:nvSpPr>
          <p:cNvPr id="8" name="Rounded Rectangle 7"/>
          <p:cNvSpPr/>
          <p:nvPr/>
        </p:nvSpPr>
        <p:spPr>
          <a:xfrm>
            <a:off x="685800" y="2743200"/>
            <a:ext cx="3429000" cy="16002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2743200"/>
            <a:ext cx="64008" cy="1600200"/>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2898648"/>
            <a:ext cx="308152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Traceability</a:t>
            </a:r>
          </a:p>
        </p:txBody>
      </p:sp>
      <p:sp>
        <p:nvSpPr>
          <p:cNvPr id="11" name="TextBox 10"/>
          <p:cNvSpPr txBox="1"/>
          <p:nvPr/>
        </p:nvSpPr>
        <p:spPr>
          <a:xfrm>
            <a:off x="886968" y="3310128"/>
            <a:ext cx="3044952" cy="941832"/>
          </a:xfrm>
          <a:prstGeom prst="rect">
            <a:avLst/>
          </a:prstGeom>
          <a:noFill/>
        </p:spPr>
        <p:txBody>
          <a:bodyPr wrap="square" lIns="45720" rIns="45720" anchor="t">
            <a:spAutoFit/>
          </a:bodyPr>
          <a:lstStyle/>
          <a:p>
            <a:pPr algn="l">
              <a:spcAft>
                <a:spcPts val="0"/>
              </a:spcAft>
            </a:pPr>
            <a:r>
              <a:rPr sz="1300" b="0" i="0">
                <a:solidFill>
                  <a:srgbClr val="B7C6C1"/>
                </a:solidFill>
                <a:latin typeface="Aptos"/>
              </a:rPr>
              <a:t>One view assembles recorded supply-chain stages.</a:t>
            </a:r>
          </a:p>
        </p:txBody>
      </p:sp>
      <p:sp>
        <p:nvSpPr>
          <p:cNvPr id="12" name="Rounded Rectangle 11"/>
          <p:cNvSpPr/>
          <p:nvPr/>
        </p:nvSpPr>
        <p:spPr>
          <a:xfrm>
            <a:off x="4434840" y="2743200"/>
            <a:ext cx="3429000" cy="16002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34840" y="2743200"/>
            <a:ext cx="64008" cy="1600200"/>
          </a:xfrm>
          <a:prstGeom prst="rect">
            <a:avLst/>
          </a:prstGeom>
          <a:solidFill>
            <a:srgbClr val="60AE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36007" y="2898648"/>
            <a:ext cx="308152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QR access</a:t>
            </a:r>
          </a:p>
        </p:txBody>
      </p:sp>
      <p:sp>
        <p:nvSpPr>
          <p:cNvPr id="15" name="TextBox 14"/>
          <p:cNvSpPr txBox="1"/>
          <p:nvPr/>
        </p:nvSpPr>
        <p:spPr>
          <a:xfrm>
            <a:off x="4636007" y="3310128"/>
            <a:ext cx="3044952" cy="941832"/>
          </a:xfrm>
          <a:prstGeom prst="rect">
            <a:avLst/>
          </a:prstGeom>
          <a:noFill/>
        </p:spPr>
        <p:txBody>
          <a:bodyPr wrap="square" lIns="45720" rIns="45720" anchor="t">
            <a:spAutoFit/>
          </a:bodyPr>
          <a:lstStyle/>
          <a:p>
            <a:pPr algn="l">
              <a:spcAft>
                <a:spcPts val="0"/>
              </a:spcAft>
            </a:pPr>
            <a:r>
              <a:rPr sz="1300" b="0" i="0">
                <a:solidFill>
                  <a:srgbClr val="B7C6C1"/>
                </a:solidFill>
                <a:latin typeface="Aptos"/>
              </a:rPr>
              <a:t>A quick route to the selected batch page.</a:t>
            </a:r>
          </a:p>
        </p:txBody>
      </p:sp>
      <p:sp>
        <p:nvSpPr>
          <p:cNvPr id="16" name="Rounded Rectangle 15"/>
          <p:cNvSpPr/>
          <p:nvPr/>
        </p:nvSpPr>
        <p:spPr>
          <a:xfrm>
            <a:off x="8183879" y="2743200"/>
            <a:ext cx="3429000" cy="1600200"/>
          </a:xfrm>
          <a:prstGeom prst="roundRect">
            <a:avLst>
              <a:gd name="adj" fmla="val 12000"/>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2743200"/>
            <a:ext cx="64008" cy="1600200"/>
          </a:xfrm>
          <a:prstGeom prst="rect">
            <a:avLst/>
          </a:prstGeom>
          <a:solidFill>
            <a:srgbClr val="F4B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85048" y="2898648"/>
            <a:ext cx="3081528" cy="320040"/>
          </a:xfrm>
          <a:prstGeom prst="rect">
            <a:avLst/>
          </a:prstGeom>
          <a:noFill/>
        </p:spPr>
        <p:txBody>
          <a:bodyPr wrap="square" lIns="45720" rIns="45720" anchor="t">
            <a:spAutoFit/>
          </a:bodyPr>
          <a:lstStyle/>
          <a:p>
            <a:pPr algn="l">
              <a:spcAft>
                <a:spcPts val="0"/>
              </a:spcAft>
            </a:pPr>
            <a:r>
              <a:rPr sz="1700" b="1" i="0">
                <a:solidFill>
                  <a:srgbClr val="F6F8F4"/>
                </a:solidFill>
                <a:latin typeface="Aptos"/>
              </a:rPr>
              <a:t>AI demonstration</a:t>
            </a:r>
          </a:p>
        </p:txBody>
      </p:sp>
      <p:sp>
        <p:nvSpPr>
          <p:cNvPr id="19" name="TextBox 18"/>
          <p:cNvSpPr txBox="1"/>
          <p:nvPr/>
        </p:nvSpPr>
        <p:spPr>
          <a:xfrm>
            <a:off x="8385048" y="3310128"/>
            <a:ext cx="3044952" cy="941832"/>
          </a:xfrm>
          <a:prstGeom prst="rect">
            <a:avLst/>
          </a:prstGeom>
          <a:noFill/>
        </p:spPr>
        <p:txBody>
          <a:bodyPr wrap="square" lIns="45720" rIns="45720" anchor="t">
            <a:spAutoFit/>
          </a:bodyPr>
          <a:lstStyle/>
          <a:p>
            <a:pPr algn="l">
              <a:spcAft>
                <a:spcPts val="0"/>
              </a:spcAft>
            </a:pPr>
            <a:r>
              <a:rPr sz="1300" b="0" i="0">
                <a:solidFill>
                  <a:srgbClr val="B7C6C1"/>
                </a:solidFill>
                <a:latin typeface="Aptos"/>
              </a:rPr>
              <a:t>A trained Random Forest produces a probability estimate.</a:t>
            </a:r>
          </a:p>
        </p:txBody>
      </p:sp>
      <p:sp>
        <p:nvSpPr>
          <p:cNvPr id="20" name="Rounded Rectangle 19"/>
          <p:cNvSpPr/>
          <p:nvPr/>
        </p:nvSpPr>
        <p:spPr>
          <a:xfrm>
            <a:off x="960120" y="5074920"/>
            <a:ext cx="10241280" cy="731520"/>
          </a:xfrm>
          <a:prstGeom prst="roundRect">
            <a:avLst>
              <a:gd name="adj" fmla="val 12000"/>
            </a:avLst>
          </a:prstGeom>
          <a:solidFill>
            <a:srgbClr val="1F3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88720" y="5266944"/>
            <a:ext cx="9784080" cy="310896"/>
          </a:xfrm>
          <a:prstGeom prst="rect">
            <a:avLst/>
          </a:prstGeom>
          <a:noFill/>
        </p:spPr>
        <p:txBody>
          <a:bodyPr wrap="square" lIns="45720" rIns="45720" anchor="t">
            <a:spAutoFit/>
          </a:bodyPr>
          <a:lstStyle/>
          <a:p>
            <a:pPr algn="ctr">
              <a:spcAft>
                <a:spcPts val="0"/>
              </a:spcAft>
            </a:pPr>
            <a:r>
              <a:rPr sz="1600" b="1" i="0">
                <a:solidFill>
                  <a:srgbClr val="BAE079"/>
                </a:solidFill>
                <a:latin typeface="Aptos"/>
              </a:rPr>
              <a:t>Outcome: a functioning academic prototype with transparent limitations and a clear path toward real-data validation.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rIns="45720" anchor="t">
            <a:spAutoFit/>
          </a:bodyPr>
          <a:lstStyle/>
          <a:p>
            <a:pPr algn="l">
              <a:spcAft>
                <a:spcPts val="0"/>
              </a:spcAft>
            </a:pPr>
            <a:r>
              <a:rPr sz="1000" b="1" i="0">
                <a:solidFill>
                  <a:srgbClr val="BAE079"/>
                </a:solidFill>
                <a:latin typeface="Aptos"/>
              </a:rPr>
              <a:t>SELECTED REFERENCES</a:t>
            </a:r>
          </a:p>
        </p:txBody>
      </p:sp>
      <p:sp>
        <p:nvSpPr>
          <p:cNvPr id="3" name="TextBox 2"/>
          <p:cNvSpPr txBox="1"/>
          <p:nvPr/>
        </p:nvSpPr>
        <p:spPr>
          <a:xfrm>
            <a:off x="566928" y="530352"/>
            <a:ext cx="11064240" cy="530352"/>
          </a:xfrm>
          <a:prstGeom prst="rect">
            <a:avLst/>
          </a:prstGeom>
          <a:noFill/>
        </p:spPr>
        <p:txBody>
          <a:bodyPr wrap="square" lIns="45720" rIns="45720" anchor="t">
            <a:spAutoFit/>
          </a:bodyPr>
          <a:lstStyle/>
          <a:p>
            <a:pPr algn="l">
              <a:spcAft>
                <a:spcPts val="0"/>
              </a:spcAft>
            </a:pPr>
            <a:r>
              <a:rPr sz="2700" b="1" i="0">
                <a:solidFill>
                  <a:srgbClr val="F6F8F4"/>
                </a:solidFill>
                <a:latin typeface="Aptos"/>
              </a:rPr>
              <a:t>References and supporting literature</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01400" y="6473952"/>
            <a:ext cx="411480" cy="182880"/>
          </a:xfrm>
          <a:prstGeom prst="rect">
            <a:avLst/>
          </a:prstGeom>
          <a:noFill/>
        </p:spPr>
        <p:txBody>
          <a:bodyPr wrap="square" lIns="45720" rIns="45720" anchor="t">
            <a:spAutoFit/>
          </a:bodyPr>
          <a:lstStyle/>
          <a:p>
            <a:pPr algn="r">
              <a:spcAft>
                <a:spcPts val="0"/>
              </a:spcAft>
            </a:pPr>
            <a:r>
              <a:rPr sz="1000" b="1" i="0">
                <a:solidFill>
                  <a:srgbClr val="B7C6C1"/>
                </a:solidFill>
                <a:latin typeface="Aptos"/>
              </a:rPr>
              <a:t>25</a:t>
            </a:r>
          </a:p>
        </p:txBody>
      </p:sp>
      <p:sp>
        <p:nvSpPr>
          <p:cNvPr id="6" name="TextBox 5"/>
          <p:cNvSpPr txBox="1"/>
          <p:nvPr/>
        </p:nvSpPr>
        <p:spPr>
          <a:xfrm>
            <a:off x="566928" y="6473952"/>
            <a:ext cx="9875520" cy="182880"/>
          </a:xfrm>
          <a:prstGeom prst="rect">
            <a:avLst/>
          </a:prstGeom>
          <a:noFill/>
        </p:spPr>
        <p:txBody>
          <a:bodyPr wrap="square" lIns="45720" rIns="45720" anchor="t">
            <a:spAutoFit/>
          </a:bodyPr>
          <a:lstStyle/>
          <a:p>
            <a:pPr algn="l">
              <a:spcAft>
                <a:spcPts val="0"/>
              </a:spcAft>
            </a:pPr>
            <a:r>
              <a:rPr sz="800" b="0" i="0">
                <a:solidFill>
                  <a:srgbClr val="B7C6C1"/>
                </a:solidFill>
                <a:latin typeface="Aptos"/>
              </a:rPr>
              <a:t>AI-ENHANCED FOOD SUPPLY CHAIN TRACEABILITY  •  FINAL REVIEW</a:t>
            </a:r>
          </a:p>
        </p:txBody>
      </p:sp>
      <p:sp>
        <p:nvSpPr>
          <p:cNvPr id="7" name="TextBox 6"/>
          <p:cNvSpPr txBox="1"/>
          <p:nvPr/>
        </p:nvSpPr>
        <p:spPr>
          <a:xfrm>
            <a:off x="777240" y="1463040"/>
            <a:ext cx="10698480" cy="4297680"/>
          </a:xfrm>
          <a:prstGeom prst="rect">
            <a:avLst/>
          </a:prstGeom>
          <a:noFill/>
        </p:spPr>
        <p:txBody>
          <a:bodyPr wrap="square" lIns="54864" tIns="27432" rIns="54864" bIns="18288">
            <a:spAutoFit/>
          </a:bodyPr>
          <a:lstStyle/>
          <a:p>
            <a:pPr>
              <a:spcAft>
                <a:spcPts val="1300"/>
              </a:spcAft>
              <a:defRPr sz="1300">
                <a:solidFill>
                  <a:srgbClr val="F6F8F4"/>
                </a:solidFill>
                <a:latin typeface="Aptos"/>
              </a:defRPr>
            </a:pPr>
            <a:r>
              <a:t>•  [1] Zhong, R., Xu, X., &amp; Wang, L. (2017). Food supply chain management: systems, implementations, and future research. Industrial Management &amp; Data Systems, 117(9), 2085–2114.</a:t>
            </a:r>
          </a:p>
          <a:p>
            <a:pPr>
              <a:spcAft>
                <a:spcPts val="1300"/>
              </a:spcAft>
              <a:defRPr sz="1300">
                <a:solidFill>
                  <a:srgbClr val="F6F8F4"/>
                </a:solidFill>
                <a:latin typeface="Aptos"/>
              </a:defRPr>
            </a:pPr>
            <a:r>
              <a:t>•  [2] Thakur, M. (2010). A framework for implementing traceability system in the bulk grain supply chain. Journal of Food Engineering.</a:t>
            </a:r>
          </a:p>
          <a:p>
            <a:pPr>
              <a:spcAft>
                <a:spcPts val="1300"/>
              </a:spcAft>
              <a:defRPr sz="1300">
                <a:solidFill>
                  <a:srgbClr val="F6F8F4"/>
                </a:solidFill>
                <a:latin typeface="Aptos"/>
              </a:defRPr>
            </a:pPr>
            <a:r>
              <a:t>•  [3] Tang, J. (2023). Food supply chain traceability system based on blockchain technology. Applied and Computational Engineering, 8, 311–317. https://ace.ewapub.com/article/view/2519</a:t>
            </a:r>
          </a:p>
          <a:p>
            <a:pPr>
              <a:spcAft>
                <a:spcPts val="1300"/>
              </a:spcAft>
              <a:defRPr sz="1300">
                <a:solidFill>
                  <a:srgbClr val="F6F8F4"/>
                </a:solidFill>
                <a:latin typeface="Aptos"/>
              </a:defRPr>
            </a:pPr>
            <a:r>
              <a:t>•  [4] Zhou &amp; Xu (2022). Systematic review of food traceability research (review of studies published 1994–2019).</a:t>
            </a:r>
          </a:p>
          <a:p>
            <a:pPr>
              <a:spcAft>
                <a:spcPts val="1300"/>
              </a:spcAft>
              <a:defRPr sz="1300">
                <a:solidFill>
                  <a:srgbClr val="F6F8F4"/>
                </a:solidFill>
                <a:latin typeface="Aptos"/>
              </a:defRPr>
            </a:pPr>
            <a:r>
              <a:t>•  [5] Deshmukh et al. (2025). Review of machine-learning and deep-learning methods for aflatoxin detection in food matrices.</a:t>
            </a:r>
          </a:p>
          <a:p>
            <a:pPr>
              <a:spcAft>
                <a:spcPts val="1300"/>
              </a:spcAft>
              <a:defRPr sz="1300">
                <a:solidFill>
                  <a:srgbClr val="F6F8F4"/>
                </a:solidFill>
                <a:latin typeface="Aptos"/>
              </a:defRPr>
            </a:pPr>
            <a:r>
              <a:t>•  [6] Project implementation artifacts: app.py, train_model.py, synthetic_batched.csv, food_risk_model.joblib, trained_model_metrics.json, food_traceability.db.</a:t>
            </a:r>
          </a:p>
        </p:txBody>
      </p:sp>
      <p:sp>
        <p:nvSpPr>
          <p:cNvPr id="8" name="TextBox 7"/>
          <p:cNvSpPr txBox="1"/>
          <p:nvPr/>
        </p:nvSpPr>
        <p:spPr>
          <a:xfrm>
            <a:off x="777240" y="5852160"/>
            <a:ext cx="10607040" cy="274320"/>
          </a:xfrm>
          <a:prstGeom prst="rect">
            <a:avLst/>
          </a:prstGeom>
          <a:noFill/>
        </p:spPr>
        <p:txBody>
          <a:bodyPr wrap="square" lIns="45720" rIns="45720" anchor="t">
            <a:spAutoFit/>
          </a:bodyPr>
          <a:lstStyle/>
          <a:p>
            <a:pPr algn="l">
              <a:spcAft>
                <a:spcPts val="0"/>
              </a:spcAft>
            </a:pPr>
            <a:r>
              <a:rPr sz="1100" b="1" i="0">
                <a:solidFill>
                  <a:srgbClr val="F4BE53"/>
                </a:solidFill>
                <a:latin typeface="Aptos"/>
              </a:rPr>
              <a:t>Before submission, verify complete bibliographic details and format these entries to your department’s required citation style.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81D"/>
        </a:solidFill>
        <a:effectLst/>
      </p:bgPr>
    </p:bg>
    <p:spTree>
      <p:nvGrpSpPr>
        <p:cNvPr id="1" name=""/>
        <p:cNvGrpSpPr/>
        <p:nvPr/>
      </p:nvGrpSpPr>
      <p:grpSpPr>
        <a:xfrm>
          <a:off x="0" y="0"/>
          <a:ext cx="0" cy="0"/>
          <a:chOff x="0" y="0"/>
          <a:chExt cx="0" cy="0"/>
        </a:xfrm>
      </p:grpSpPr>
      <p:sp>
        <p:nvSpPr>
          <p:cNvPr id="2" name="TextBox 1"/>
          <p:cNvSpPr txBox="1"/>
          <p:nvPr/>
        </p:nvSpPr>
        <p:spPr>
          <a:xfrm>
            <a:off x="566928" y="256032"/>
            <a:ext cx="10881360" cy="237744"/>
          </a:xfrm>
          <a:prstGeom prst="rect">
            <a:avLst/>
          </a:prstGeom>
          <a:noFill/>
        </p:spPr>
        <p:txBody>
          <a:bodyPr wrap="square" lIns="45720" tIns="36576" rIns="45720" bIns="18288">
            <a:spAutoFit/>
          </a:bodyPr>
          <a:lstStyle/>
          <a:p>
            <a:r>
              <a:rPr sz="1000" b="1">
                <a:solidFill>
                  <a:srgbClr val="BAE079"/>
                </a:solidFill>
                <a:latin typeface="Aptos"/>
              </a:rPr>
              <a:t>IMPLEMENTATION EVIDENCE</a:t>
            </a:r>
          </a:p>
        </p:txBody>
      </p:sp>
      <p:sp>
        <p:nvSpPr>
          <p:cNvPr id="3" name="TextBox 2"/>
          <p:cNvSpPr txBox="1"/>
          <p:nvPr/>
        </p:nvSpPr>
        <p:spPr>
          <a:xfrm>
            <a:off x="566928" y="530352"/>
            <a:ext cx="11064240" cy="530352"/>
          </a:xfrm>
          <a:prstGeom prst="rect">
            <a:avLst/>
          </a:prstGeom>
          <a:noFill/>
        </p:spPr>
        <p:txBody>
          <a:bodyPr wrap="square" lIns="45720" tIns="36576" rIns="45720" bIns="18288">
            <a:spAutoFit/>
          </a:bodyPr>
          <a:lstStyle/>
          <a:p>
            <a:r>
              <a:rPr sz="2700" b="1">
                <a:solidFill>
                  <a:srgbClr val="F6F8F4"/>
                </a:solidFill>
                <a:latin typeface="Aptos"/>
              </a:rPr>
              <a:t>Model training run and saved artifacts</a:t>
            </a:r>
          </a:p>
        </p:txBody>
      </p:sp>
      <p:sp>
        <p:nvSpPr>
          <p:cNvPr id="4" name="Rectangle 3"/>
          <p:cNvSpPr/>
          <p:nvPr/>
        </p:nvSpPr>
        <p:spPr>
          <a:xfrm>
            <a:off x="566928" y="1115568"/>
            <a:ext cx="1051560" cy="50292"/>
          </a:xfrm>
          <a:prstGeom prst="rect">
            <a:avLst/>
          </a:prstGeom>
          <a:solidFill>
            <a:srgbClr val="5BB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417320"/>
            <a:ext cx="7543800" cy="4526280"/>
          </a:xfrm>
          <a:prstGeom prst="roundRect">
            <a:avLst/>
          </a:prstGeom>
          <a:solidFill>
            <a:srgbClr val="070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creenshot 2026-10-12 at 11.59.27 PM.png"/>
          <p:cNvPicPr>
            <a:picLocks noChangeAspect="1"/>
          </p:cNvPicPr>
          <p:nvPr/>
        </p:nvPicPr>
        <p:blipFill>
          <a:blip r:embed="rId2"/>
          <a:stretch>
            <a:fillRect/>
          </a:stretch>
        </p:blipFill>
        <p:spPr>
          <a:xfrm>
            <a:off x="931403" y="1417320"/>
            <a:ext cx="6961153" cy="4526280"/>
          </a:xfrm>
          <a:prstGeom prst="rect">
            <a:avLst/>
          </a:prstGeom>
        </p:spPr>
      </p:pic>
      <p:sp>
        <p:nvSpPr>
          <p:cNvPr id="7" name="Rounded Rectangle 6"/>
          <p:cNvSpPr/>
          <p:nvPr/>
        </p:nvSpPr>
        <p:spPr>
          <a:xfrm>
            <a:off x="8412480" y="1572768"/>
            <a:ext cx="3063240" cy="1143000"/>
          </a:xfrm>
          <a:prstGeom prst="round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59" y="1737360"/>
            <a:ext cx="2697480" cy="320040"/>
          </a:xfrm>
          <a:prstGeom prst="rect">
            <a:avLst/>
          </a:prstGeom>
          <a:noFill/>
        </p:spPr>
        <p:txBody>
          <a:bodyPr wrap="square" lIns="45720" tIns="36576" rIns="45720" bIns="18288">
            <a:spAutoFit/>
          </a:bodyPr>
          <a:lstStyle/>
          <a:p>
            <a:r>
              <a:rPr sz="1500" b="1">
                <a:solidFill>
                  <a:srgbClr val="BAE079"/>
                </a:solidFill>
                <a:latin typeface="Aptos"/>
              </a:rPr>
              <a:t>Rows used</a:t>
            </a:r>
          </a:p>
        </p:txBody>
      </p:sp>
      <p:sp>
        <p:nvSpPr>
          <p:cNvPr id="9" name="TextBox 8"/>
          <p:cNvSpPr txBox="1"/>
          <p:nvPr/>
        </p:nvSpPr>
        <p:spPr>
          <a:xfrm>
            <a:off x="8595359" y="2148840"/>
            <a:ext cx="2697480" cy="484632"/>
          </a:xfrm>
          <a:prstGeom prst="rect">
            <a:avLst/>
          </a:prstGeom>
          <a:noFill/>
        </p:spPr>
        <p:txBody>
          <a:bodyPr wrap="square" lIns="45720" tIns="36576" rIns="45720" bIns="18288">
            <a:spAutoFit/>
          </a:bodyPr>
          <a:lstStyle/>
          <a:p>
            <a:r>
              <a:rPr sz="1200" b="0">
                <a:solidFill>
                  <a:srgbClr val="B7C6C1"/>
                </a:solidFill>
                <a:latin typeface="Aptos"/>
              </a:rPr>
              <a:t>8,000 synthetic rows</a:t>
            </a:r>
          </a:p>
        </p:txBody>
      </p:sp>
      <p:sp>
        <p:nvSpPr>
          <p:cNvPr id="10" name="Rounded Rectangle 9"/>
          <p:cNvSpPr/>
          <p:nvPr/>
        </p:nvSpPr>
        <p:spPr>
          <a:xfrm>
            <a:off x="8412480" y="2880360"/>
            <a:ext cx="3063240" cy="1143000"/>
          </a:xfrm>
          <a:prstGeom prst="round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59" y="3044952"/>
            <a:ext cx="2697480" cy="320040"/>
          </a:xfrm>
          <a:prstGeom prst="rect">
            <a:avLst/>
          </a:prstGeom>
          <a:noFill/>
        </p:spPr>
        <p:txBody>
          <a:bodyPr wrap="square" lIns="45720" tIns="36576" rIns="45720" bIns="18288">
            <a:spAutoFit/>
          </a:bodyPr>
          <a:lstStyle/>
          <a:p>
            <a:r>
              <a:rPr sz="1500" b="1">
                <a:solidFill>
                  <a:srgbClr val="BAE079"/>
                </a:solidFill>
                <a:latin typeface="Aptos"/>
              </a:rPr>
              <a:t>Split</a:t>
            </a:r>
          </a:p>
        </p:txBody>
      </p:sp>
      <p:sp>
        <p:nvSpPr>
          <p:cNvPr id="12" name="TextBox 11"/>
          <p:cNvSpPr txBox="1"/>
          <p:nvPr/>
        </p:nvSpPr>
        <p:spPr>
          <a:xfrm>
            <a:off x="8595359" y="3456432"/>
            <a:ext cx="2697480" cy="484632"/>
          </a:xfrm>
          <a:prstGeom prst="rect">
            <a:avLst/>
          </a:prstGeom>
          <a:noFill/>
        </p:spPr>
        <p:txBody>
          <a:bodyPr wrap="square" lIns="45720" tIns="36576" rIns="45720" bIns="18288">
            <a:spAutoFit/>
          </a:bodyPr>
          <a:lstStyle/>
          <a:p>
            <a:r>
              <a:rPr sz="1200" b="0">
                <a:solidFill>
                  <a:srgbClr val="B7C6C1"/>
                </a:solidFill>
                <a:latin typeface="Aptos"/>
              </a:rPr>
              <a:t>6,400 train • 1,600 test</a:t>
            </a:r>
          </a:p>
        </p:txBody>
      </p:sp>
      <p:sp>
        <p:nvSpPr>
          <p:cNvPr id="13" name="Rounded Rectangle 12"/>
          <p:cNvSpPr/>
          <p:nvPr/>
        </p:nvSpPr>
        <p:spPr>
          <a:xfrm>
            <a:off x="8412480" y="4187952"/>
            <a:ext cx="3063240" cy="1417320"/>
          </a:xfrm>
          <a:prstGeom prst="roundRect">
            <a:avLst/>
          </a:prstGeom>
          <a:solidFill>
            <a:srgbClr val="18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59" y="4352544"/>
            <a:ext cx="2697480" cy="320040"/>
          </a:xfrm>
          <a:prstGeom prst="rect">
            <a:avLst/>
          </a:prstGeom>
          <a:noFill/>
        </p:spPr>
        <p:txBody>
          <a:bodyPr wrap="square" lIns="45720" tIns="36576" rIns="45720" bIns="18288">
            <a:spAutoFit/>
          </a:bodyPr>
          <a:lstStyle/>
          <a:p>
            <a:r>
              <a:rPr sz="1500" b="1">
                <a:solidFill>
                  <a:srgbClr val="BAE079"/>
                </a:solidFill>
                <a:latin typeface="Aptos"/>
              </a:rPr>
              <a:t>Artifacts</a:t>
            </a:r>
          </a:p>
        </p:txBody>
      </p:sp>
      <p:sp>
        <p:nvSpPr>
          <p:cNvPr id="15" name="TextBox 14"/>
          <p:cNvSpPr txBox="1"/>
          <p:nvPr/>
        </p:nvSpPr>
        <p:spPr>
          <a:xfrm>
            <a:off x="8595359" y="4764024"/>
            <a:ext cx="2697480" cy="758952"/>
          </a:xfrm>
          <a:prstGeom prst="rect">
            <a:avLst/>
          </a:prstGeom>
          <a:noFill/>
        </p:spPr>
        <p:txBody>
          <a:bodyPr wrap="square" lIns="45720" tIns="36576" rIns="45720" bIns="18288">
            <a:spAutoFit/>
          </a:bodyPr>
          <a:lstStyle/>
          <a:p>
            <a:r>
              <a:rPr sz="1200" b="0">
                <a:solidFill>
                  <a:srgbClr val="B7C6C1"/>
                </a:solidFill>
                <a:latin typeface="Aptos"/>
              </a:rPr>
              <a:t>food_risk_model.joblib
trained_model_metrics.json</a:t>
            </a:r>
          </a:p>
        </p:txBody>
      </p:sp>
      <p:sp>
        <p:nvSpPr>
          <p:cNvPr id="16" name="TextBox 15"/>
          <p:cNvSpPr txBox="1"/>
          <p:nvPr/>
        </p:nvSpPr>
        <p:spPr>
          <a:xfrm>
            <a:off x="566928" y="6473952"/>
            <a:ext cx="9875520" cy="182880"/>
          </a:xfrm>
          <a:prstGeom prst="rect">
            <a:avLst/>
          </a:prstGeom>
          <a:noFill/>
        </p:spPr>
        <p:txBody>
          <a:bodyPr wrap="square" lIns="45720" tIns="36576" rIns="45720" bIns="18288">
            <a:spAutoFit/>
          </a:bodyPr>
          <a:lstStyle/>
          <a:p>
            <a:r>
              <a:rPr sz="800" b="0">
                <a:solidFill>
                  <a:srgbClr val="B7C6C1"/>
                </a:solidFill>
                <a:latin typeface="Aptos"/>
              </a:rPr>
              <a:t>AI-ENHANCED FOOD SUPPLY CHAIN TRACEABILITY  •  FINAL REVIEW</a:t>
            </a:r>
          </a:p>
        </p:txBody>
      </p:sp>
      <p:sp>
        <p:nvSpPr>
          <p:cNvPr id="17" name="TextBox 16"/>
          <p:cNvSpPr txBox="1"/>
          <p:nvPr/>
        </p:nvSpPr>
        <p:spPr>
          <a:xfrm>
            <a:off x="11201400" y="6473952"/>
            <a:ext cx="411480" cy="182880"/>
          </a:xfrm>
          <a:prstGeom prst="rect">
            <a:avLst/>
          </a:prstGeom>
          <a:noFill/>
        </p:spPr>
        <p:txBody>
          <a:bodyPr wrap="square" lIns="45720" tIns="36576" rIns="45720" bIns="18288">
            <a:spAutoFit/>
          </a:bodyPr>
          <a:lstStyle/>
          <a:p>
            <a:r>
              <a:rPr sz="1000" b="1">
                <a:solidFill>
                  <a:srgbClr val="B7C6C1"/>
                </a:solidFill>
                <a:latin typeface="Aptos"/>
              </a:rPr>
              <a:t>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2709</Words>
  <Application>Microsoft Macintosh PowerPoint</Application>
  <PresentationFormat>Widescreen</PresentationFormat>
  <Paragraphs>433</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SHORYA SHEKHAR</cp:lastModifiedBy>
  <cp:revision>2</cp:revision>
  <dcterms:created xsi:type="dcterms:W3CDTF">2013-01-27T09:14:16Z</dcterms:created>
  <dcterms:modified xsi:type="dcterms:W3CDTF">2026-10-12T18:53:15Z</dcterms:modified>
  <cp:category/>
</cp:coreProperties>
</file>
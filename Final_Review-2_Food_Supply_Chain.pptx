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486400" cy="5486400"/>
          </a:xfrm>
          <a:prstGeom prst="ellipse">
            <a:avLst/>
          </a:prstGeom>
          <a:solidFill>
            <a:srgbClr val="1F7A6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"/>
            <a:ext cx="3657600" cy="3657600"/>
          </a:xfrm>
          <a:prstGeom prst="ellipse">
            <a:avLst/>
          </a:prstGeom>
          <a:solidFill>
            <a:srgbClr val="C9862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206240"/>
            <a:ext cx="4572000" cy="4572000"/>
          </a:xfrm>
          <a:prstGeom prst="ellipse">
            <a:avLst/>
          </a:prstGeom>
          <a:solidFill>
            <a:srgbClr val="CFEAE2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DATABASE SYSTEMS LABORATORY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Food Supply Chain Traceability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Contamination Risk Prediction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461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Relational Database Management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2011680" cy="0"/>
          </a:xfrm>
          <a:prstGeom prst="line">
            <a:avLst/>
          </a:prstGeom>
          <a:noFill/>
          <a:ln w="25400">
            <a:solidFill>
              <a:srgbClr val="C986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ER Model &amp; 50% Implementation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2026–2027   |   Faculty: Dr. K. Sudhakar   |   Slot: A1+TA1, A2+TA2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food supply chain spans farmers, processing plants, warehouses, transporters, and retailers, each generating records in isolation. This fragmentation makes it slow and difficult to trace a contaminated food batch back to its exact point of origin.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an AI-enhanced relational database system that assigns every batch a unique identifier and links its data across all supply chain stages — harvesting, processing, storage, transportation, and retail — inside a single normalized RDBMS.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this traceability backbone, a machine learning module analyzes historical quality, storage, and logistics data to flag batches at elevated risk of contamination before they reach the consumer, enabling faster, narrower, and more targeted recalls.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delivers the finalized ER model, the normalized schema, and a working 50% implementation: core traceability tables populated and queryable, with the AI risk-scoring approach defined and prototyped.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and What's Built So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4114800"/>
          </a:xfrm>
          <a:prstGeom prst="roundRect">
            <a:avLst>
              <a:gd name="adj" fmla="val 2036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0449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outbreaks cost lives and money mainly because it takes days to find the affected batch — most recalls pull entire product lines instead of the few at-risk units.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554480"/>
            <a:ext cx="3593592" cy="4114800"/>
          </a:xfrm>
          <a:prstGeom prst="roundRect">
            <a:avLst>
              <a:gd name="adj" fmla="val 2036"/>
            </a:avLst>
          </a:prstGeom>
          <a:solidFill>
            <a:srgbClr val="F4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1828800"/>
            <a:ext cx="548640" cy="54864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26080"/>
            <a:ext cx="30449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normalized RDBMS spans six actor types (farmer → retail) and keys every record to one Batch ID, paired with an ML module that scores contamination risk per batch.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74736" y="1554480"/>
            <a:ext cx="3593592" cy="4114800"/>
          </a:xfrm>
          <a:prstGeom prst="roundRect">
            <a:avLst>
              <a:gd name="adj" fmla="val 2036"/>
            </a:avLst>
          </a:prstGeom>
          <a:solidFill>
            <a:srgbClr val="F4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9056" y="1828800"/>
            <a:ext cx="548640" cy="54864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90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focus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926080"/>
            <a:ext cx="30449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ER diagram and schema, a populated database with working traceability queries, and the risk-scoring algorithm selected and prototyped end-to-end.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relational backbone is complete; the AI Risk Engine is defined and partially prototyped, on track for full training and validation by Review 3.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Work Covers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0876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508760"/>
            <a:ext cx="155448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0432" y="15087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621792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24912" y="1508760"/>
            <a:ext cx="6144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0" y="1508760"/>
            <a:ext cx="182880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42832" y="15087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54864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1920240"/>
            <a:ext cx="155448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920240"/>
            <a:ext cx="621792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1920240"/>
            <a:ext cx="182880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192024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1920240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Tang, J.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24912" y="1920240"/>
            <a:ext cx="6071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relational database with blockchain for food-chain traceability, keeping records tamper-evident while querying cross-organization.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19202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/ DB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548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154680"/>
            <a:ext cx="1554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3154680"/>
            <a:ext cx="6217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3154680"/>
            <a:ext cx="1828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315468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3154680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Zhong et al.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24912" y="3154680"/>
            <a:ext cx="6071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192 data-driven food supply chain management systems (1993–2017) and organizes them into a hierarchical framework by function.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42832" y="315468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/ DB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54864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389120"/>
            <a:ext cx="155448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4389120"/>
            <a:ext cx="621792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4389120"/>
            <a:ext cx="182880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438912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70432" y="4389120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&amp; Xu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724912" y="4389120"/>
            <a:ext cx="6071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278 food-traceability studies (1994–2019); finds focus shifting to post-adoption evaluation, not predictive risk.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942832" y="438912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/ DB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Work Covers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0876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508760"/>
            <a:ext cx="155448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0432" y="15087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621792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24912" y="1508760"/>
            <a:ext cx="6144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0" y="1508760"/>
            <a:ext cx="1828800" cy="41148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42832" y="15087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54864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1920240"/>
            <a:ext cx="155448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920240"/>
            <a:ext cx="621792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1920240"/>
            <a:ext cx="182880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192024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1920240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Thakur, M.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24912" y="1920240"/>
            <a:ext cx="6071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relational schema for internal batch traceability at a grain elevator — a node-level model this project extends chain-wide.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19202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/ DB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548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154680"/>
            <a:ext cx="1554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3154680"/>
            <a:ext cx="6217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3154680"/>
            <a:ext cx="1828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315468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3154680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&amp; Wang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24912" y="3154680"/>
            <a:ext cx="6071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 XGBoost model on 180,000+ agricultural inspection records for safety risk prediction, reaching ~75.4% recall, ~71.9% precision.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42832" y="315468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Contamination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54864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389120"/>
            <a:ext cx="155448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4389120"/>
            <a:ext cx="621792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4389120"/>
            <a:ext cx="1828800" cy="1234440"/>
          </a:xfrm>
          <a:prstGeom prst="rect">
            <a:avLst/>
          </a:prstGeom>
          <a:solidFill>
            <a:srgbClr val="F4F6F5"/>
          </a:solidFill>
          <a:ln w="9525">
            <a:solidFill>
              <a:srgbClr val="DCE2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4389120"/>
            <a:ext cx="402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70432" y="4389120"/>
            <a:ext cx="1408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Deshmukh et al.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724912" y="4389120"/>
            <a:ext cx="6071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ML/DL methods (regression, classifiers, CNNs) for aflatoxin detection, applied at the lab/sample level, not the supply-chain level.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942832" y="438912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Contamination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Traceability and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200400"/>
          </a:xfrm>
          <a:prstGeom prst="roundRect">
            <a:avLst>
              <a:gd name="adj" fmla="val 2000"/>
            </a:avLst>
          </a:prstGeom>
          <a:solidFill>
            <a:srgbClr val="F4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Traceability-focused work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recording and linking batch data (relational or blockchain-based).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answering “where did this batch go” after the fact.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forward-looking risk analysis — purely reactive.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3200400"/>
          </a:xfrm>
          <a:prstGeom prst="roundRect">
            <a:avLst>
              <a:gd name="adj" fmla="val 2000"/>
            </a:avLst>
          </a:prstGeom>
          <a:solidFill>
            <a:srgbClr val="F4F6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ML-focused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860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predicting contamination risk from sample/sensor-level data.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718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evaluated on a single lab dataset, not live chain-wide records.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6576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wired into a batch-traceability system administrators can act 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458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unifies full chain-wide relational traceability with an integrated, batch-level contamination risk score — Review 2 delivers the schema and a working 50% build toward exactly that intersection.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4450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 Layer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002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processor, warehouse, transporter &amp; retailer entry 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10800000">
            <a:off x="5806440" y="2514600"/>
            <a:ext cx="274320" cy="164592"/>
          </a:xfrm>
          <a:prstGeom prst="triangle">
            <a:avLst/>
          </a:prstGeom>
          <a:solidFill>
            <a:srgbClr val="9AA5A1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679192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45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6791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(RDBMS)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67919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— Batch, Stage, Inspection, Transport, Inventory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5806440" y="3593592"/>
            <a:ext cx="274320" cy="164592"/>
          </a:xfrm>
          <a:prstGeom prst="triangle">
            <a:avLst/>
          </a:prstGeom>
          <a:solidFill>
            <a:srgbClr val="9AA5A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758184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75818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Engine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758184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each batch using historical quality &amp; logistics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806440" y="4672584"/>
            <a:ext cx="274320" cy="164592"/>
          </a:xfrm>
          <a:prstGeom prst="triangle">
            <a:avLst/>
          </a:prstGeom>
          <a:solidFill>
            <a:srgbClr val="9AA5A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837176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9C6A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8371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Admin Dashboard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83717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lookup, risk alerts, analytical reports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keys off a single unique Batch ID, so a query at the dashboard layer can trace back through the AI score, the DB records, and the original capture event.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91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Batch Registration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249631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2496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691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Storage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249631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496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178308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1691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95560" y="249631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95560" y="2496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Tracking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88920" y="40050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8892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51960" y="306324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0560" y="329184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805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Inventory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40050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224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55280" y="306324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35" name="Shape 33"/>
          <p:cNvSpPr/>
          <p:nvPr/>
        </p:nvSpPr>
        <p:spPr>
          <a:xfrm>
            <a:off x="8183880" y="329184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838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Inspection Records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195560" y="40050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19556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57200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Traceability Query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88920" y="5513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2788920" y="5513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51960" y="457200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80060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4805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507492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Contamination Risk Prediction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92240" y="5513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862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92240" y="5513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955280" y="457200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4F6F5"/>
          </a:solidFill>
          <a:ln/>
        </p:spPr>
      </p:sp>
      <p:sp>
        <p:nvSpPr>
          <p:cNvPr id="53" name="Shape 51"/>
          <p:cNvSpPr/>
          <p:nvPr/>
        </p:nvSpPr>
        <p:spPr>
          <a:xfrm>
            <a:off x="8183880" y="4800600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1838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778240" y="4709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Reports &amp; Dashboard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195560" y="5513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9862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195560" y="5513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4846320"/>
          </a:xfrm>
          <a:prstGeom prst="roundRect">
            <a:avLst>
              <a:gd name="adj" fmla="val 943"/>
            </a:avLst>
          </a:prstGeom>
          <a:solidFill>
            <a:srgbClr val="F4F6F5"/>
          </a:solidFill>
          <a:ln/>
        </p:spPr>
      </p:sp>
      <p:pic>
        <p:nvPicPr>
          <p:cNvPr id="5" name="Image 0" descr="er_diagram_u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1078992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Structures — Core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65960" cy="36576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08760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508760"/>
            <a:ext cx="1737360" cy="36576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87752" y="150876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7360920" cy="365760"/>
          </a:xfrm>
          <a:prstGeom prst="rect">
            <a:avLst/>
          </a:prstGeom>
          <a:solidFill>
            <a:srgbClr val="145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25112" y="1508760"/>
            <a:ext cx="7214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9659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874520"/>
            <a:ext cx="17373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874520"/>
            <a:ext cx="736092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1874520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87752" y="1874520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(PK)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325112" y="1874520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(FK), crop_type, harvest_date, quantity_kg, status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340864"/>
            <a:ext cx="1965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340864"/>
            <a:ext cx="17373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340864"/>
            <a:ext cx="73609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340864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87752" y="2340864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(PK)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325112" y="2340864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contact_no, farm_location, registered_on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807208"/>
            <a:ext cx="19659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2807208"/>
            <a:ext cx="17373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807208"/>
            <a:ext cx="736092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2807208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Collection_Record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587752" y="2807208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 (PK)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325112" y="2807208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(FK), center_id (FK), received_date, grade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273552"/>
            <a:ext cx="1965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273552"/>
            <a:ext cx="17373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3273552"/>
            <a:ext cx="73609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3273552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Processing_Record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587752" y="3273552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 (PK)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325112" y="3273552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(FK), plant_id (FK), process_date, process_type, output_qty_kg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739896"/>
            <a:ext cx="19659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3739896"/>
            <a:ext cx="17373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3739896"/>
            <a:ext cx="736092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3739896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Storage_Record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587752" y="3739896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storage_id (PK)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325112" y="3739896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(FK), warehouse_id (FK), in_date, out_date, temperature_c, humidity_pct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206240"/>
            <a:ext cx="1965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14600" y="4206240"/>
            <a:ext cx="17373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4206240"/>
            <a:ext cx="73609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4206240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Transport_Log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587752" y="4206240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transport_id (PK)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325112" y="4206240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(FK), transporter_id (FK), origin, destination, dispatch_time, arrival_time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672584"/>
            <a:ext cx="19659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14600" y="4672584"/>
            <a:ext cx="17373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51960" y="4672584"/>
            <a:ext cx="736092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1792" y="4672584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Retail_Inventory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2587752" y="4672584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inventory_id (PK)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325112" y="4672584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(FK), store_id (FK), received_date, quantity_kg, unit_price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138928"/>
            <a:ext cx="19659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14600" y="5138928"/>
            <a:ext cx="173736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51960" y="5138928"/>
            <a:ext cx="736092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21792" y="5138928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2587752" y="5138928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inspection_id (PK)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4325112" y="5138928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(FK), stage, inspector_name, result, contamination_type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8640" y="5605272"/>
            <a:ext cx="19659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5605272"/>
            <a:ext cx="173736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51960" y="5605272"/>
            <a:ext cx="7360920" cy="466344"/>
          </a:xfrm>
          <a:prstGeom prst="rect">
            <a:avLst/>
          </a:prstGeom>
          <a:solidFill>
            <a:srgbClr val="F4F6F5"/>
          </a:solidFill>
          <a:ln w="6350">
            <a:solidFill>
              <a:srgbClr val="DCE2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605272"/>
            <a:ext cx="18196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2587752" y="5605272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score_id (PK)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4325112" y="5605272"/>
            <a:ext cx="7214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 (FK), model_version, predicted_risk, risk_level, top_features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— Core Traceability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Batch Registration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21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1150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PK generation (batch_id) at INSERT time.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unique Batch ID at harvest and writes the root Batch row; every downstream table references it by foreign key.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7190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Transport Tracking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21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1150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foreign-key chaining across Storage_Record / Transport_Log.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storage conditions and transit checkpoints per batch, linked via foreign keys to build a continuous movement history.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507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Inspection Records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531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1150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fact table keyed by (batch_id, stage).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937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inspection outcomes at each stage; this table is the historical training data for the AI module.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0507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Traceability Query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4531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1150" i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LEFT JOIN on batch_id (6-way join).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9377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 and joins reconstruct a batch's complete journey — farm to retail — in a single lookup (see Slide 13).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— AI Contamination Risk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572000"/>
          </a:xfrm>
          <a:prstGeom prst="roundRect">
            <a:avLst>
              <a:gd name="adj" fmla="val 1200"/>
            </a:avLst>
          </a:prstGeom>
          <a:solidFill>
            <a:srgbClr val="F4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Approach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Model: </a:t>
            </a:r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(baseline), benchmarked against XGBoost — matches the approach validated in Wu &amp; Wang (2026).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8152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Features: </a:t>
            </a:r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storage_temperature, storage_duration, transit_time, transit_temperature, inspection_history, supply-chain stage, product category.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7705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source: </a:t>
            </a:r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table (labeled Pass/Fail/Flagged outcomes) joined with Storage_Record and Transport_Log via batch_id.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7258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Output: </a:t>
            </a:r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predicted_risk (0–1 probability) and risk_level (Low/Medium/High), written to Risk_Score, keyed to batch_id.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6811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Status: </a:t>
            </a:r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and schema wired end-to-end; a scored example is live in Risk_Score (see Slide 13). Full training/tuning targeted for Review 3.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4343400" cy="4572000"/>
          </a:xfrm>
          <a:prstGeom prst="roundRect">
            <a:avLst>
              <a:gd name="adj" fmla="val 1263"/>
            </a:avLst>
          </a:prstGeom>
          <a:solidFill>
            <a:srgbClr val="1458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4380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Wired to the DB, Not Standalone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4231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Wu &amp; Wang (2026) and Deshmukh et al. (2025), which score risk on static, offline datasets, this module reads features live from Storage_Record and Transport_Log and writes its output back into Risk_Score — the same table the Batch Traceability Query joins against.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4663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a risk score is never orphaned from a batch's supplier, storage, or transport history — closing the exact gap identified in Review 1.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Implementation — Output Screenshots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created (14 tables) — SQLite prototype</a:t>
            </a:r>
            <a:endParaRPr lang="en-US" sz="1300" dirty="0"/>
          </a:p>
        </p:txBody>
      </p:sp>
      <p:pic>
        <p:nvPicPr>
          <p:cNvPr id="5" name="Image 0" descr="screenshot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394960" cy="3465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72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batch traceability query — live join across 6 tables</a:t>
            </a:r>
            <a:endParaRPr lang="en-US" sz="1300" dirty="0"/>
          </a:p>
        </p:txBody>
      </p:sp>
      <p:pic>
        <p:nvPicPr>
          <p:cNvPr id="7" name="Image 1" descr="screenshot_qu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486400" cy="35295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queries run against a populated instance of the schema on Slide 10, with one full batch (farmer → retail) inserted end-to-end.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Next Steps (Review 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145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0078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Migration &amp; API Integration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local SQLite prototype to Supabase (Cloud PostgreSQL) so the schema exposes live REST APIs for the dashboard and QR endpoints.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75564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0078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Risk Model Training &amp; Optimization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4231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Random Forest / XGBoost risk model on 10,000+ synthetic batch records, with hyperparameter tuning and validation metrics.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9C6A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3250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 Development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/ Streamlit dashboard for farmers, warehouse managers, and inspectors — live risk alerts and batch movement tracking.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4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087368"/>
            <a:ext cx="457200" cy="457200"/>
          </a:xfrm>
          <a:prstGeom prst="ellipse">
            <a:avLst/>
          </a:prstGeom>
          <a:solidFill>
            <a:srgbClr val="4450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03250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Traceability for Consumers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QR code per batch so retailers/buyers can scan and see the full farm-to-fork history and risk status instantly; a blockchain layer remains a stretch goal beyond Review 3, consistent with the scope decision from Review 1.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Tang, J. (2023). Food Supply Chain Traceability System Based on Blockchain Technology. Applied and Computational Engineering, 8, 311–317.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134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Zhong, R., Xu, X., &amp; Wang, L. (2017). Food Supply Chain Management: Systems, Implementations, and Future Research. Industrial Management &amp; Data Systems, 117(9), 2085–2114.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2666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Zhou, X., &amp; Xu, Z. (2022). Traceability in Food Supply Chains: A Systematic Literature Review and Future Research Directions. Int'l Food and Agribusiness Mgmt Review, 25(2).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39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Thakur, M. (2010). Operational Techniques for Implementing Traceability in Bulk Product Supply Chains. PhD Dissertation, Iowa State University.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53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Wu, D., &amp; Wang, Y. (2026). Food Safety Risk Prediction and Regulatory Strategies Based on Machine Learning. Frontiers in Sustainable Food Systems, 10:1838879.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66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Deshmukh, M. T., et al. (2025). Towards Intelligent Food Safety: Machine Learning Approaches for Aflatoxin Detection and Risk Prediction. Trends in Food Science &amp; Technology, 161, 105055.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| AI-Enhanced Food Supply Chain Traceability &amp; Contamination Risk Prediction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2026-09-13T19:59:36Z</dcterms:created>
  <dcterms:modified xsi:type="dcterms:W3CDTF">2026-09-13T19:59:36Z</dcterms:modified>
</cp:coreProperties>
</file>